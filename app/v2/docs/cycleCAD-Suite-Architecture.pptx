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5" r:id="rId36"/>
    <p:sldId id="257" r:id="rId3"/>
    <p:sldId id="284" r:id="rId35"/>
    <p:sldId id="286" r:id="rId37"/>
    <p:sldId id="287" r:id="rId38"/>
    <p:sldId id="258" r:id="rId4"/>
    <p:sldId id="259" r:id="rId5"/>
    <p:sldId id="260" r:id="rId6"/>
    <p:sldId id="261" r:id="rId7"/>
    <p:sldId id="262" r:id="rId8"/>
    <p:sldId id="263" r:id="rId9"/>
    <p:sldId id="288" r:id="rId3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30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4.xml"/><Relationship Id="rId36" Type="http://schemas.openxmlformats.org/officeDocument/2006/relationships/slide" Target="slides/slide2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22860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286000"/>
            <a:ext cx="164592" cy="2286000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4069080"/>
            <a:ext cx="164592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097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apps · One shared widget layer · One token economy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023360"/>
            <a:ext cx="3291840" cy="1280160"/>
          </a:xfrm>
          <a:prstGeom prst="rect">
            <a:avLst/>
          </a:prstGeom>
          <a:solidFill>
            <a:srgbClr val="2A343C"/>
          </a:solidFill>
          <a:ln w="15240">
            <a:solidFill>
              <a:srgbClr val="D4A843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4023360"/>
            <a:ext cx="329184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4206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cycleCAD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4663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CAD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956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4023360"/>
            <a:ext cx="3291840" cy="1280160"/>
          </a:xfrm>
          <a:prstGeom prst="rect">
            <a:avLst/>
          </a:prstGeom>
          <a:solidFill>
            <a:srgbClr val="2A343C"/>
          </a:solidFill>
          <a:ln w="1524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80560" y="4023360"/>
            <a:ext cx="3291840" cy="73152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09160" y="4206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AF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ExplodeView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4663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viewer + 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4956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/ SALES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38160" y="4023360"/>
            <a:ext cx="3291840" cy="1280160"/>
          </a:xfrm>
          <a:prstGeom prst="rect">
            <a:avLst/>
          </a:prstGeom>
          <a:solidFill>
            <a:srgbClr val="2A343C"/>
          </a:solidFill>
          <a:ln w="1524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138160" y="4023360"/>
            <a:ext cx="32918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66760" y="4206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Pentacad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66760" y="4663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+ 5-axis sim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4956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2960" y="5532120"/>
            <a:ext cx="1051560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05840" y="55504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$CYCLE token economy — pay-per-widget, pay-per-workflow, pay-per-render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60807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 Kumar  ·  cyclecad.com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/ LEGO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like Lego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is the studs. Widgets are the blocks. Apps are the baseplates. Workflows are pre-built kits. Snap in only the blocks each app needs — leave the rest in the box.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 LIBRARY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widget is one Lego block, ESM single file, lazy-loaded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" y="2276856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240280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93776" y="2286000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54380" y="2167128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81812" y="2185416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531620" y="2167128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559052" y="2185416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3776" y="2286000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cam-nav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12848" y="2276856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176272" y="2240280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212848" y="2286000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473452" y="216712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500884" y="2185416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250692" y="216712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278124" y="2185416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212848" y="2286000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31920" y="2276856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895344" y="2240280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931920" y="2286000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192524" y="2167128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219956" y="2185416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969764" y="2167128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997196" y="2185416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931920" y="2286000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ai-render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50992" y="2276856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614416" y="2240280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5650992" y="2286000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911596" y="2167128"/>
            <a:ext cx="182880" cy="18288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939028" y="2185416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688836" y="2167128"/>
            <a:ext cx="182880" cy="18288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716268" y="2185416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650992" y="2286000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gcode-editor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70064" y="2276856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7333488" y="2240280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7370064" y="2286000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630668" y="2167128"/>
            <a:ext cx="182880" cy="182880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658100" y="2185416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407908" y="2167128"/>
            <a:ext cx="182880" cy="182880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8435340" y="2185416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370064" y="2286000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explode-slider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089136" y="2276856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9052560" y="2240280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9089136" y="2286000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349740" y="2167128"/>
            <a:ext cx="182880" cy="18288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9377172" y="2185416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10126980" y="2167128"/>
            <a:ext cx="182880" cy="18288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10154412" y="2185416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9089136" y="2286000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817352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+ 19 more — bom-export · annotations · ai-copilot · 18 admin-* widgets · …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30175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BASEPLATES — each app snaps in only the blocks it needs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2920" y="4882896"/>
            <a:ext cx="2606040" cy="41148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457200" y="4846320"/>
            <a:ext cx="2606040" cy="411480"/>
          </a:xfrm>
          <a:prstGeom prst="roundRect">
            <a:avLst>
              <a:gd name="adj" fmla="val 11111"/>
            </a:avLst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601218" y="4791456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62407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1035558" y="4791456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05841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1469898" y="4791456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149275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1904238" y="4791456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192709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2338578" y="4791456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236143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2772918" y="4791456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279577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548640" y="4846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cycleCAD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457200" y="5349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CAD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019556" y="4416552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982980" y="4379976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1019556" y="4425696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1280160" y="4306824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1307592" y="4325112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2057400" y="4306824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83" name="Shape 81"/>
          <p:cNvSpPr/>
          <p:nvPr/>
        </p:nvSpPr>
        <p:spPr>
          <a:xfrm>
            <a:off x="2084832" y="4325112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1019556" y="4425696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cam-nav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019556" y="4087368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86" name="Shape 84"/>
          <p:cNvSpPr/>
          <p:nvPr/>
        </p:nvSpPr>
        <p:spPr>
          <a:xfrm>
            <a:off x="982980" y="4050792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87" name="Shape 85"/>
          <p:cNvSpPr/>
          <p:nvPr/>
        </p:nvSpPr>
        <p:spPr>
          <a:xfrm>
            <a:off x="1019556" y="4096512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1280160" y="3977640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1307592" y="3995928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90" name="Shape 88"/>
          <p:cNvSpPr/>
          <p:nvPr/>
        </p:nvSpPr>
        <p:spPr>
          <a:xfrm>
            <a:off x="2057400" y="3977640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2084832" y="3995928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1019556" y="4096512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019556" y="3758184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982980" y="3721608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1019556" y="3767328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96" name="Shape 94"/>
          <p:cNvSpPr/>
          <p:nvPr/>
        </p:nvSpPr>
        <p:spPr>
          <a:xfrm>
            <a:off x="1280160" y="3648456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97" name="Shape 95"/>
          <p:cNvSpPr/>
          <p:nvPr/>
        </p:nvSpPr>
        <p:spPr>
          <a:xfrm>
            <a:off x="1307592" y="3666744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98" name="Shape 96"/>
          <p:cNvSpPr/>
          <p:nvPr/>
        </p:nvSpPr>
        <p:spPr>
          <a:xfrm>
            <a:off x="2057400" y="3648456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99" name="Shape 97"/>
          <p:cNvSpPr/>
          <p:nvPr/>
        </p:nvSpPr>
        <p:spPr>
          <a:xfrm>
            <a:off x="2084832" y="3666744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1019556" y="3767328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feature-tree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1019556" y="3429000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102" name="Shape 100"/>
          <p:cNvSpPr/>
          <p:nvPr/>
        </p:nvSpPr>
        <p:spPr>
          <a:xfrm>
            <a:off x="982980" y="3392424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03" name="Shape 101"/>
          <p:cNvSpPr/>
          <p:nvPr/>
        </p:nvSpPr>
        <p:spPr>
          <a:xfrm>
            <a:off x="1019556" y="3438144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04" name="Shape 102"/>
          <p:cNvSpPr/>
          <p:nvPr/>
        </p:nvSpPr>
        <p:spPr>
          <a:xfrm>
            <a:off x="1280160" y="3319272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05" name="Shape 103"/>
          <p:cNvSpPr/>
          <p:nvPr/>
        </p:nvSpPr>
        <p:spPr>
          <a:xfrm>
            <a:off x="1307592" y="3337560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06" name="Shape 104"/>
          <p:cNvSpPr/>
          <p:nvPr/>
        </p:nvSpPr>
        <p:spPr>
          <a:xfrm>
            <a:off x="2057400" y="3319272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07" name="Shape 105"/>
          <p:cNvSpPr/>
          <p:nvPr/>
        </p:nvSpPr>
        <p:spPr>
          <a:xfrm>
            <a:off x="2084832" y="3337560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1019556" y="3438144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ai-copilot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3383280" y="4882896"/>
            <a:ext cx="2606040" cy="41148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110" name="Shape 108"/>
          <p:cNvSpPr/>
          <p:nvPr/>
        </p:nvSpPr>
        <p:spPr>
          <a:xfrm>
            <a:off x="3337560" y="4846320"/>
            <a:ext cx="2606040" cy="411480"/>
          </a:xfrm>
          <a:prstGeom prst="roundRect">
            <a:avLst>
              <a:gd name="adj" fmla="val 11111"/>
            </a:avLst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111" name="Shape 109"/>
          <p:cNvSpPr/>
          <p:nvPr/>
        </p:nvSpPr>
        <p:spPr>
          <a:xfrm>
            <a:off x="3481578" y="4791456"/>
            <a:ext cx="146304" cy="146304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112" name="Shape 110"/>
          <p:cNvSpPr/>
          <p:nvPr/>
        </p:nvSpPr>
        <p:spPr>
          <a:xfrm>
            <a:off x="350443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13" name="Shape 111"/>
          <p:cNvSpPr/>
          <p:nvPr/>
        </p:nvSpPr>
        <p:spPr>
          <a:xfrm>
            <a:off x="3915918" y="4791456"/>
            <a:ext cx="146304" cy="146304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114" name="Shape 112"/>
          <p:cNvSpPr/>
          <p:nvPr/>
        </p:nvSpPr>
        <p:spPr>
          <a:xfrm>
            <a:off x="393877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15" name="Shape 113"/>
          <p:cNvSpPr/>
          <p:nvPr/>
        </p:nvSpPr>
        <p:spPr>
          <a:xfrm>
            <a:off x="4350258" y="4791456"/>
            <a:ext cx="146304" cy="146304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116" name="Shape 114"/>
          <p:cNvSpPr/>
          <p:nvPr/>
        </p:nvSpPr>
        <p:spPr>
          <a:xfrm>
            <a:off x="437311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17" name="Shape 115"/>
          <p:cNvSpPr/>
          <p:nvPr/>
        </p:nvSpPr>
        <p:spPr>
          <a:xfrm>
            <a:off x="4784598" y="4791456"/>
            <a:ext cx="146304" cy="146304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118" name="Shape 116"/>
          <p:cNvSpPr/>
          <p:nvPr/>
        </p:nvSpPr>
        <p:spPr>
          <a:xfrm>
            <a:off x="480745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19" name="Shape 117"/>
          <p:cNvSpPr/>
          <p:nvPr/>
        </p:nvSpPr>
        <p:spPr>
          <a:xfrm>
            <a:off x="5218938" y="4791456"/>
            <a:ext cx="146304" cy="146304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120" name="Shape 118"/>
          <p:cNvSpPr/>
          <p:nvPr/>
        </p:nvSpPr>
        <p:spPr>
          <a:xfrm>
            <a:off x="524179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21" name="Shape 119"/>
          <p:cNvSpPr/>
          <p:nvPr/>
        </p:nvSpPr>
        <p:spPr>
          <a:xfrm>
            <a:off x="5653278" y="4791456"/>
            <a:ext cx="146304" cy="146304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122" name="Shape 120"/>
          <p:cNvSpPr/>
          <p:nvPr/>
        </p:nvSpPr>
        <p:spPr>
          <a:xfrm>
            <a:off x="567613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23" name="Text 121"/>
          <p:cNvSpPr/>
          <p:nvPr/>
        </p:nvSpPr>
        <p:spPr>
          <a:xfrm>
            <a:off x="3429000" y="4846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ExplodeView</a:t>
            </a:r>
            <a:endParaRPr lang="en-US" sz="1400" dirty="0"/>
          </a:p>
        </p:txBody>
      </p:sp>
      <p:sp>
        <p:nvSpPr>
          <p:cNvPr id="124" name="Text 122"/>
          <p:cNvSpPr/>
          <p:nvPr/>
        </p:nvSpPr>
        <p:spPr>
          <a:xfrm>
            <a:off x="3337560" y="5349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viewer + AR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3899916" y="4416552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126" name="Shape 124"/>
          <p:cNvSpPr/>
          <p:nvPr/>
        </p:nvSpPr>
        <p:spPr>
          <a:xfrm>
            <a:off x="3863340" y="4379976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127" name="Shape 125"/>
          <p:cNvSpPr/>
          <p:nvPr/>
        </p:nvSpPr>
        <p:spPr>
          <a:xfrm>
            <a:off x="3899916" y="4425696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28" name="Shape 126"/>
          <p:cNvSpPr/>
          <p:nvPr/>
        </p:nvSpPr>
        <p:spPr>
          <a:xfrm>
            <a:off x="4160520" y="4306824"/>
            <a:ext cx="182880" cy="182880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129" name="Shape 127"/>
          <p:cNvSpPr/>
          <p:nvPr/>
        </p:nvSpPr>
        <p:spPr>
          <a:xfrm>
            <a:off x="4187952" y="4325112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30" name="Shape 128"/>
          <p:cNvSpPr/>
          <p:nvPr/>
        </p:nvSpPr>
        <p:spPr>
          <a:xfrm>
            <a:off x="4937760" y="4306824"/>
            <a:ext cx="182880" cy="182880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131" name="Shape 129"/>
          <p:cNvSpPr/>
          <p:nvPr/>
        </p:nvSpPr>
        <p:spPr>
          <a:xfrm>
            <a:off x="4965192" y="4325112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3899916" y="4425696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explode-slider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3899916" y="4087368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134" name="Shape 132"/>
          <p:cNvSpPr/>
          <p:nvPr/>
        </p:nvSpPr>
        <p:spPr>
          <a:xfrm>
            <a:off x="3863340" y="4050792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5" name="Shape 133"/>
          <p:cNvSpPr/>
          <p:nvPr/>
        </p:nvSpPr>
        <p:spPr>
          <a:xfrm>
            <a:off x="3899916" y="4096512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36" name="Shape 134"/>
          <p:cNvSpPr/>
          <p:nvPr/>
        </p:nvSpPr>
        <p:spPr>
          <a:xfrm>
            <a:off x="4160520" y="397764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7" name="Shape 135"/>
          <p:cNvSpPr/>
          <p:nvPr/>
        </p:nvSpPr>
        <p:spPr>
          <a:xfrm>
            <a:off x="4187952" y="3995928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38" name="Shape 136"/>
          <p:cNvSpPr/>
          <p:nvPr/>
        </p:nvSpPr>
        <p:spPr>
          <a:xfrm>
            <a:off x="4937760" y="397764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9" name="Shape 137"/>
          <p:cNvSpPr/>
          <p:nvPr/>
        </p:nvSpPr>
        <p:spPr>
          <a:xfrm>
            <a:off x="4965192" y="3995928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40" name="Text 138"/>
          <p:cNvSpPr/>
          <p:nvPr/>
        </p:nvSpPr>
        <p:spPr>
          <a:xfrm>
            <a:off x="3899916" y="4096512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ai-render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3899916" y="3758184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142" name="Shape 140"/>
          <p:cNvSpPr/>
          <p:nvPr/>
        </p:nvSpPr>
        <p:spPr>
          <a:xfrm>
            <a:off x="3863340" y="3721608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3" name="Shape 141"/>
          <p:cNvSpPr/>
          <p:nvPr/>
        </p:nvSpPr>
        <p:spPr>
          <a:xfrm>
            <a:off x="3899916" y="3767328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44" name="Shape 142"/>
          <p:cNvSpPr/>
          <p:nvPr/>
        </p:nvSpPr>
        <p:spPr>
          <a:xfrm>
            <a:off x="4160520" y="364845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5" name="Shape 143"/>
          <p:cNvSpPr/>
          <p:nvPr/>
        </p:nvSpPr>
        <p:spPr>
          <a:xfrm>
            <a:off x="4187952" y="3666744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46" name="Shape 144"/>
          <p:cNvSpPr/>
          <p:nvPr/>
        </p:nvSpPr>
        <p:spPr>
          <a:xfrm>
            <a:off x="4937760" y="364845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7" name="Shape 145"/>
          <p:cNvSpPr/>
          <p:nvPr/>
        </p:nvSpPr>
        <p:spPr>
          <a:xfrm>
            <a:off x="4965192" y="3666744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48" name="Text 146"/>
          <p:cNvSpPr/>
          <p:nvPr/>
        </p:nvSpPr>
        <p:spPr>
          <a:xfrm>
            <a:off x="3899916" y="3767328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bom-export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3899916" y="3429000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150" name="Shape 148"/>
          <p:cNvSpPr/>
          <p:nvPr/>
        </p:nvSpPr>
        <p:spPr>
          <a:xfrm>
            <a:off x="3863340" y="3392424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51" name="Shape 149"/>
          <p:cNvSpPr/>
          <p:nvPr/>
        </p:nvSpPr>
        <p:spPr>
          <a:xfrm>
            <a:off x="3899916" y="3438144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52" name="Shape 150"/>
          <p:cNvSpPr/>
          <p:nvPr/>
        </p:nvSpPr>
        <p:spPr>
          <a:xfrm>
            <a:off x="4160520" y="3319272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53" name="Shape 151"/>
          <p:cNvSpPr/>
          <p:nvPr/>
        </p:nvSpPr>
        <p:spPr>
          <a:xfrm>
            <a:off x="4187952" y="3337560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54" name="Shape 152"/>
          <p:cNvSpPr/>
          <p:nvPr/>
        </p:nvSpPr>
        <p:spPr>
          <a:xfrm>
            <a:off x="4937760" y="3319272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55" name="Shape 153"/>
          <p:cNvSpPr/>
          <p:nvPr/>
        </p:nvSpPr>
        <p:spPr>
          <a:xfrm>
            <a:off x="4965192" y="3337560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56" name="Text 154"/>
          <p:cNvSpPr/>
          <p:nvPr/>
        </p:nvSpPr>
        <p:spPr>
          <a:xfrm>
            <a:off x="3899916" y="3438144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mode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6263640" y="4882896"/>
            <a:ext cx="2606040" cy="41148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158" name="Shape 156"/>
          <p:cNvSpPr/>
          <p:nvPr/>
        </p:nvSpPr>
        <p:spPr>
          <a:xfrm>
            <a:off x="6217920" y="4846320"/>
            <a:ext cx="2606040" cy="41148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59" name="Shape 157"/>
          <p:cNvSpPr/>
          <p:nvPr/>
        </p:nvSpPr>
        <p:spPr>
          <a:xfrm>
            <a:off x="6361938" y="479145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60" name="Shape 158"/>
          <p:cNvSpPr/>
          <p:nvPr/>
        </p:nvSpPr>
        <p:spPr>
          <a:xfrm>
            <a:off x="638479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61" name="Shape 159"/>
          <p:cNvSpPr/>
          <p:nvPr/>
        </p:nvSpPr>
        <p:spPr>
          <a:xfrm>
            <a:off x="6796278" y="479145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62" name="Shape 160"/>
          <p:cNvSpPr/>
          <p:nvPr/>
        </p:nvSpPr>
        <p:spPr>
          <a:xfrm>
            <a:off x="681913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63" name="Shape 161"/>
          <p:cNvSpPr/>
          <p:nvPr/>
        </p:nvSpPr>
        <p:spPr>
          <a:xfrm>
            <a:off x="7230618" y="479145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64" name="Shape 162"/>
          <p:cNvSpPr/>
          <p:nvPr/>
        </p:nvSpPr>
        <p:spPr>
          <a:xfrm>
            <a:off x="725347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65" name="Shape 163"/>
          <p:cNvSpPr/>
          <p:nvPr/>
        </p:nvSpPr>
        <p:spPr>
          <a:xfrm>
            <a:off x="7664958" y="479145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66" name="Shape 164"/>
          <p:cNvSpPr/>
          <p:nvPr/>
        </p:nvSpPr>
        <p:spPr>
          <a:xfrm>
            <a:off x="768781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67" name="Shape 165"/>
          <p:cNvSpPr/>
          <p:nvPr/>
        </p:nvSpPr>
        <p:spPr>
          <a:xfrm>
            <a:off x="8099298" y="479145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68" name="Shape 166"/>
          <p:cNvSpPr/>
          <p:nvPr/>
        </p:nvSpPr>
        <p:spPr>
          <a:xfrm>
            <a:off x="812215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69" name="Shape 167"/>
          <p:cNvSpPr/>
          <p:nvPr/>
        </p:nvSpPr>
        <p:spPr>
          <a:xfrm>
            <a:off x="8533638" y="479145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0" name="Shape 168"/>
          <p:cNvSpPr/>
          <p:nvPr/>
        </p:nvSpPr>
        <p:spPr>
          <a:xfrm>
            <a:off x="855649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71" name="Text 169"/>
          <p:cNvSpPr/>
          <p:nvPr/>
        </p:nvSpPr>
        <p:spPr>
          <a:xfrm>
            <a:off x="6309360" y="4846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Pentacad</a:t>
            </a:r>
            <a:endParaRPr lang="en-US" sz="1400" dirty="0"/>
          </a:p>
        </p:txBody>
      </p:sp>
      <p:sp>
        <p:nvSpPr>
          <p:cNvPr id="172" name="Text 170"/>
          <p:cNvSpPr/>
          <p:nvPr/>
        </p:nvSpPr>
        <p:spPr>
          <a:xfrm>
            <a:off x="6217920" y="5349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+ 5-axis sim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6780276" y="4416552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174" name="Shape 172"/>
          <p:cNvSpPr/>
          <p:nvPr/>
        </p:nvSpPr>
        <p:spPr>
          <a:xfrm>
            <a:off x="6743700" y="4379976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5" name="Shape 173"/>
          <p:cNvSpPr/>
          <p:nvPr/>
        </p:nvSpPr>
        <p:spPr>
          <a:xfrm>
            <a:off x="6780276" y="4425696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76" name="Shape 174"/>
          <p:cNvSpPr/>
          <p:nvPr/>
        </p:nvSpPr>
        <p:spPr>
          <a:xfrm>
            <a:off x="7040880" y="4306824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7" name="Shape 175"/>
          <p:cNvSpPr/>
          <p:nvPr/>
        </p:nvSpPr>
        <p:spPr>
          <a:xfrm>
            <a:off x="7068312" y="4325112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78" name="Shape 176"/>
          <p:cNvSpPr/>
          <p:nvPr/>
        </p:nvSpPr>
        <p:spPr>
          <a:xfrm>
            <a:off x="7818120" y="4306824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9" name="Shape 177"/>
          <p:cNvSpPr/>
          <p:nvPr/>
        </p:nvSpPr>
        <p:spPr>
          <a:xfrm>
            <a:off x="7845552" y="4325112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80" name="Text 178"/>
          <p:cNvSpPr/>
          <p:nvPr/>
        </p:nvSpPr>
        <p:spPr>
          <a:xfrm>
            <a:off x="6780276" y="4425696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cam-nav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6780276" y="4087368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182" name="Shape 180"/>
          <p:cNvSpPr/>
          <p:nvPr/>
        </p:nvSpPr>
        <p:spPr>
          <a:xfrm>
            <a:off x="6743700" y="4050792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83" name="Shape 181"/>
          <p:cNvSpPr/>
          <p:nvPr/>
        </p:nvSpPr>
        <p:spPr>
          <a:xfrm>
            <a:off x="6780276" y="4096512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84" name="Shape 182"/>
          <p:cNvSpPr/>
          <p:nvPr/>
        </p:nvSpPr>
        <p:spPr>
          <a:xfrm>
            <a:off x="7040880" y="39776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85" name="Shape 183"/>
          <p:cNvSpPr/>
          <p:nvPr/>
        </p:nvSpPr>
        <p:spPr>
          <a:xfrm>
            <a:off x="7068312" y="3995928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86" name="Shape 184"/>
          <p:cNvSpPr/>
          <p:nvPr/>
        </p:nvSpPr>
        <p:spPr>
          <a:xfrm>
            <a:off x="7818120" y="39776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87" name="Shape 185"/>
          <p:cNvSpPr/>
          <p:nvPr/>
        </p:nvSpPr>
        <p:spPr>
          <a:xfrm>
            <a:off x="7845552" y="3995928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88" name="Text 186"/>
          <p:cNvSpPr/>
          <p:nvPr/>
        </p:nvSpPr>
        <p:spPr>
          <a:xfrm>
            <a:off x="6780276" y="4096512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6780276" y="3758184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190" name="Shape 188"/>
          <p:cNvSpPr/>
          <p:nvPr/>
        </p:nvSpPr>
        <p:spPr>
          <a:xfrm>
            <a:off x="6743700" y="3721608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191" name="Shape 189"/>
          <p:cNvSpPr/>
          <p:nvPr/>
        </p:nvSpPr>
        <p:spPr>
          <a:xfrm>
            <a:off x="6780276" y="3767328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92" name="Shape 190"/>
          <p:cNvSpPr/>
          <p:nvPr/>
        </p:nvSpPr>
        <p:spPr>
          <a:xfrm>
            <a:off x="7040880" y="3648456"/>
            <a:ext cx="182880" cy="18288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193" name="Shape 191"/>
          <p:cNvSpPr/>
          <p:nvPr/>
        </p:nvSpPr>
        <p:spPr>
          <a:xfrm>
            <a:off x="7068312" y="3666744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94" name="Shape 192"/>
          <p:cNvSpPr/>
          <p:nvPr/>
        </p:nvSpPr>
        <p:spPr>
          <a:xfrm>
            <a:off x="7818120" y="3648456"/>
            <a:ext cx="182880" cy="18288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195" name="Shape 193"/>
          <p:cNvSpPr/>
          <p:nvPr/>
        </p:nvSpPr>
        <p:spPr>
          <a:xfrm>
            <a:off x="7845552" y="3666744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96" name="Text 194"/>
          <p:cNvSpPr/>
          <p:nvPr/>
        </p:nvSpPr>
        <p:spPr>
          <a:xfrm>
            <a:off x="6780276" y="3767328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gcode-editor</a:t>
            </a:r>
            <a:endParaRPr lang="en-US" sz="900" dirty="0"/>
          </a:p>
        </p:txBody>
      </p:sp>
      <p:sp>
        <p:nvSpPr>
          <p:cNvPr id="197" name="Shape 195"/>
          <p:cNvSpPr/>
          <p:nvPr/>
        </p:nvSpPr>
        <p:spPr>
          <a:xfrm>
            <a:off x="6780276" y="3429000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198" name="Shape 196"/>
          <p:cNvSpPr/>
          <p:nvPr/>
        </p:nvSpPr>
        <p:spPr>
          <a:xfrm>
            <a:off x="6743700" y="3392424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199" name="Shape 197"/>
          <p:cNvSpPr/>
          <p:nvPr/>
        </p:nvSpPr>
        <p:spPr>
          <a:xfrm>
            <a:off x="6780276" y="3438144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200" name="Shape 198"/>
          <p:cNvSpPr/>
          <p:nvPr/>
        </p:nvSpPr>
        <p:spPr>
          <a:xfrm>
            <a:off x="7040880" y="3319272"/>
            <a:ext cx="182880" cy="18288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01" name="Shape 199"/>
          <p:cNvSpPr/>
          <p:nvPr/>
        </p:nvSpPr>
        <p:spPr>
          <a:xfrm>
            <a:off x="7068312" y="3337560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02" name="Shape 200"/>
          <p:cNvSpPr/>
          <p:nvPr/>
        </p:nvSpPr>
        <p:spPr>
          <a:xfrm>
            <a:off x="7818120" y="3319272"/>
            <a:ext cx="182880" cy="18288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03" name="Shape 201"/>
          <p:cNvSpPr/>
          <p:nvPr/>
        </p:nvSpPr>
        <p:spPr>
          <a:xfrm>
            <a:off x="7845552" y="3337560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04" name="Text 202"/>
          <p:cNvSpPr/>
          <p:nvPr/>
        </p:nvSpPr>
        <p:spPr>
          <a:xfrm>
            <a:off x="6780276" y="3438144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</a:t>
            </a:r>
            <a:endParaRPr lang="en-US" sz="900" dirty="0"/>
          </a:p>
        </p:txBody>
      </p:sp>
      <p:sp>
        <p:nvSpPr>
          <p:cNvPr id="205" name="Shape 203"/>
          <p:cNvSpPr/>
          <p:nvPr/>
        </p:nvSpPr>
        <p:spPr>
          <a:xfrm>
            <a:off x="9144000" y="4882896"/>
            <a:ext cx="2606040" cy="41148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206" name="Shape 204"/>
          <p:cNvSpPr/>
          <p:nvPr/>
        </p:nvSpPr>
        <p:spPr>
          <a:xfrm>
            <a:off x="9098280" y="4846320"/>
            <a:ext cx="2606040" cy="411480"/>
          </a:xfrm>
          <a:prstGeom prst="roundRect">
            <a:avLst>
              <a:gd name="adj" fmla="val 11111"/>
            </a:avLst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07" name="Shape 205"/>
          <p:cNvSpPr/>
          <p:nvPr/>
        </p:nvSpPr>
        <p:spPr>
          <a:xfrm>
            <a:off x="9242298" y="4791456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08" name="Shape 206"/>
          <p:cNvSpPr/>
          <p:nvPr/>
        </p:nvSpPr>
        <p:spPr>
          <a:xfrm>
            <a:off x="926515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09" name="Shape 207"/>
          <p:cNvSpPr/>
          <p:nvPr/>
        </p:nvSpPr>
        <p:spPr>
          <a:xfrm>
            <a:off x="9676638" y="4791456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10" name="Shape 208"/>
          <p:cNvSpPr/>
          <p:nvPr/>
        </p:nvSpPr>
        <p:spPr>
          <a:xfrm>
            <a:off x="969949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11" name="Shape 209"/>
          <p:cNvSpPr/>
          <p:nvPr/>
        </p:nvSpPr>
        <p:spPr>
          <a:xfrm>
            <a:off x="10110978" y="4791456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12" name="Shape 210"/>
          <p:cNvSpPr/>
          <p:nvPr/>
        </p:nvSpPr>
        <p:spPr>
          <a:xfrm>
            <a:off x="1013383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13" name="Shape 211"/>
          <p:cNvSpPr/>
          <p:nvPr/>
        </p:nvSpPr>
        <p:spPr>
          <a:xfrm>
            <a:off x="10545318" y="4791456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14" name="Shape 212"/>
          <p:cNvSpPr/>
          <p:nvPr/>
        </p:nvSpPr>
        <p:spPr>
          <a:xfrm>
            <a:off x="1056817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15" name="Shape 213"/>
          <p:cNvSpPr/>
          <p:nvPr/>
        </p:nvSpPr>
        <p:spPr>
          <a:xfrm>
            <a:off x="10979658" y="4791456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16" name="Shape 214"/>
          <p:cNvSpPr/>
          <p:nvPr/>
        </p:nvSpPr>
        <p:spPr>
          <a:xfrm>
            <a:off x="1100251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17" name="Shape 215"/>
          <p:cNvSpPr/>
          <p:nvPr/>
        </p:nvSpPr>
        <p:spPr>
          <a:xfrm>
            <a:off x="11413998" y="4791456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18" name="Shape 216"/>
          <p:cNvSpPr/>
          <p:nvPr/>
        </p:nvSpPr>
        <p:spPr>
          <a:xfrm>
            <a:off x="11436858" y="48097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19" name="Text 217"/>
          <p:cNvSpPr/>
          <p:nvPr/>
        </p:nvSpPr>
        <p:spPr>
          <a:xfrm>
            <a:off x="9189720" y="4846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400" dirty="0"/>
          </a:p>
        </p:txBody>
      </p:sp>
      <p:sp>
        <p:nvSpPr>
          <p:cNvPr id="220" name="Text 218"/>
          <p:cNvSpPr/>
          <p:nvPr/>
        </p:nvSpPr>
        <p:spPr>
          <a:xfrm>
            <a:off x="9098280" y="5349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9660636" y="4416552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222" name="Shape 220"/>
          <p:cNvSpPr/>
          <p:nvPr/>
        </p:nvSpPr>
        <p:spPr>
          <a:xfrm>
            <a:off x="9624060" y="4379976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23" name="Shape 221"/>
          <p:cNvSpPr/>
          <p:nvPr/>
        </p:nvSpPr>
        <p:spPr>
          <a:xfrm>
            <a:off x="9660636" y="4425696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224" name="Shape 222"/>
          <p:cNvSpPr/>
          <p:nvPr/>
        </p:nvSpPr>
        <p:spPr>
          <a:xfrm>
            <a:off x="9921240" y="4306824"/>
            <a:ext cx="182880" cy="18288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25" name="Shape 223"/>
          <p:cNvSpPr/>
          <p:nvPr/>
        </p:nvSpPr>
        <p:spPr>
          <a:xfrm>
            <a:off x="9948672" y="4325112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26" name="Shape 224"/>
          <p:cNvSpPr/>
          <p:nvPr/>
        </p:nvSpPr>
        <p:spPr>
          <a:xfrm>
            <a:off x="10698480" y="4306824"/>
            <a:ext cx="182880" cy="18288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27" name="Shape 225"/>
          <p:cNvSpPr/>
          <p:nvPr/>
        </p:nvSpPr>
        <p:spPr>
          <a:xfrm>
            <a:off x="10725912" y="4325112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28" name="Text 226"/>
          <p:cNvSpPr/>
          <p:nvPr/>
        </p:nvSpPr>
        <p:spPr>
          <a:xfrm>
            <a:off x="9660636" y="4425696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admin-overview</a:t>
            </a:r>
            <a:endParaRPr lang="en-US" sz="900" dirty="0"/>
          </a:p>
        </p:txBody>
      </p:sp>
      <p:sp>
        <p:nvSpPr>
          <p:cNvPr id="229" name="Shape 227"/>
          <p:cNvSpPr/>
          <p:nvPr/>
        </p:nvSpPr>
        <p:spPr>
          <a:xfrm>
            <a:off x="9660636" y="4087368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230" name="Shape 228"/>
          <p:cNvSpPr/>
          <p:nvPr/>
        </p:nvSpPr>
        <p:spPr>
          <a:xfrm>
            <a:off x="9624060" y="4050792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31" name="Shape 229"/>
          <p:cNvSpPr/>
          <p:nvPr/>
        </p:nvSpPr>
        <p:spPr>
          <a:xfrm>
            <a:off x="9660636" y="4096512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232" name="Shape 230"/>
          <p:cNvSpPr/>
          <p:nvPr/>
        </p:nvSpPr>
        <p:spPr>
          <a:xfrm>
            <a:off x="9921240" y="3977640"/>
            <a:ext cx="182880" cy="18288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33" name="Shape 231"/>
          <p:cNvSpPr/>
          <p:nvPr/>
        </p:nvSpPr>
        <p:spPr>
          <a:xfrm>
            <a:off x="9948672" y="3995928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34" name="Shape 232"/>
          <p:cNvSpPr/>
          <p:nvPr/>
        </p:nvSpPr>
        <p:spPr>
          <a:xfrm>
            <a:off x="10698480" y="3977640"/>
            <a:ext cx="182880" cy="18288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35" name="Shape 233"/>
          <p:cNvSpPr/>
          <p:nvPr/>
        </p:nvSpPr>
        <p:spPr>
          <a:xfrm>
            <a:off x="10725912" y="3995928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36" name="Text 234"/>
          <p:cNvSpPr/>
          <p:nvPr/>
        </p:nvSpPr>
        <p:spPr>
          <a:xfrm>
            <a:off x="9660636" y="4096512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admin-users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9660636" y="3758184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238" name="Shape 236"/>
          <p:cNvSpPr/>
          <p:nvPr/>
        </p:nvSpPr>
        <p:spPr>
          <a:xfrm>
            <a:off x="9624060" y="3721608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39" name="Shape 237"/>
          <p:cNvSpPr/>
          <p:nvPr/>
        </p:nvSpPr>
        <p:spPr>
          <a:xfrm>
            <a:off x="9660636" y="3767328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240" name="Shape 238"/>
          <p:cNvSpPr/>
          <p:nvPr/>
        </p:nvSpPr>
        <p:spPr>
          <a:xfrm>
            <a:off x="9921240" y="3648456"/>
            <a:ext cx="182880" cy="18288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41" name="Shape 239"/>
          <p:cNvSpPr/>
          <p:nvPr/>
        </p:nvSpPr>
        <p:spPr>
          <a:xfrm>
            <a:off x="9948672" y="3666744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42" name="Shape 240"/>
          <p:cNvSpPr/>
          <p:nvPr/>
        </p:nvSpPr>
        <p:spPr>
          <a:xfrm>
            <a:off x="10698480" y="3648456"/>
            <a:ext cx="182880" cy="18288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43" name="Shape 241"/>
          <p:cNvSpPr/>
          <p:nvPr/>
        </p:nvSpPr>
        <p:spPr>
          <a:xfrm>
            <a:off x="10725912" y="3666744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44" name="Text 242"/>
          <p:cNvSpPr/>
          <p:nvPr/>
        </p:nvSpPr>
        <p:spPr>
          <a:xfrm>
            <a:off x="9660636" y="3767328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admin-tokens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9660636" y="3429000"/>
            <a:ext cx="1554480" cy="420624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246" name="Shape 244"/>
          <p:cNvSpPr/>
          <p:nvPr/>
        </p:nvSpPr>
        <p:spPr>
          <a:xfrm>
            <a:off x="9624060" y="3392424"/>
            <a:ext cx="1554480" cy="420624"/>
          </a:xfrm>
          <a:prstGeom prst="roundRect">
            <a:avLst>
              <a:gd name="adj" fmla="val 8696"/>
            </a:avLst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47" name="Shape 245"/>
          <p:cNvSpPr/>
          <p:nvPr/>
        </p:nvSpPr>
        <p:spPr>
          <a:xfrm>
            <a:off x="9660636" y="3438144"/>
            <a:ext cx="1481328" cy="7315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248" name="Shape 246"/>
          <p:cNvSpPr/>
          <p:nvPr/>
        </p:nvSpPr>
        <p:spPr>
          <a:xfrm>
            <a:off x="9921240" y="3319272"/>
            <a:ext cx="182880" cy="18288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49" name="Shape 247"/>
          <p:cNvSpPr/>
          <p:nvPr/>
        </p:nvSpPr>
        <p:spPr>
          <a:xfrm>
            <a:off x="9948672" y="3337560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50" name="Shape 248"/>
          <p:cNvSpPr/>
          <p:nvPr/>
        </p:nvSpPr>
        <p:spPr>
          <a:xfrm>
            <a:off x="10698480" y="3319272"/>
            <a:ext cx="182880" cy="18288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51" name="Shape 249"/>
          <p:cNvSpPr/>
          <p:nvPr/>
        </p:nvSpPr>
        <p:spPr>
          <a:xfrm>
            <a:off x="10725912" y="3337560"/>
            <a:ext cx="100584" cy="100584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52" name="Text 250"/>
          <p:cNvSpPr/>
          <p:nvPr/>
        </p:nvSpPr>
        <p:spPr>
          <a:xfrm>
            <a:off x="9660636" y="3438144"/>
            <a:ext cx="14813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admin-audit</a:t>
            </a:r>
            <a:endParaRPr lang="en-US" sz="900" dirty="0"/>
          </a:p>
        </p:txBody>
      </p:sp>
      <p:sp>
        <p:nvSpPr>
          <p:cNvPr id="253" name="Shape 251"/>
          <p:cNvSpPr/>
          <p:nvPr/>
        </p:nvSpPr>
        <p:spPr>
          <a:xfrm>
            <a:off x="502920" y="5797296"/>
            <a:ext cx="11274552" cy="36576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p/>
        </p:txBody>
      </p:sp>
      <p:sp>
        <p:nvSpPr>
          <p:cNvPr id="254" name="Shape 252"/>
          <p:cNvSpPr/>
          <p:nvPr/>
        </p:nvSpPr>
        <p:spPr>
          <a:xfrm>
            <a:off x="457200" y="5760720"/>
            <a:ext cx="11274552" cy="365760"/>
          </a:xfrm>
          <a:prstGeom prst="roundRect">
            <a:avLst>
              <a:gd name="adj" fmla="val 12500"/>
            </a:avLst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55" name="Shape 253"/>
          <p:cNvSpPr/>
          <p:nvPr/>
        </p:nvSpPr>
        <p:spPr>
          <a:xfrm>
            <a:off x="578437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56" name="Shape 254"/>
          <p:cNvSpPr/>
          <p:nvPr/>
        </p:nvSpPr>
        <p:spPr>
          <a:xfrm>
            <a:off x="601297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57" name="Shape 255"/>
          <p:cNvSpPr/>
          <p:nvPr/>
        </p:nvSpPr>
        <p:spPr>
          <a:xfrm>
            <a:off x="967214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58" name="Shape 256"/>
          <p:cNvSpPr/>
          <p:nvPr/>
        </p:nvSpPr>
        <p:spPr>
          <a:xfrm>
            <a:off x="990074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59" name="Shape 257"/>
          <p:cNvSpPr/>
          <p:nvPr/>
        </p:nvSpPr>
        <p:spPr>
          <a:xfrm>
            <a:off x="1355992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60" name="Shape 258"/>
          <p:cNvSpPr/>
          <p:nvPr/>
        </p:nvSpPr>
        <p:spPr>
          <a:xfrm>
            <a:off x="1378852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61" name="Shape 259"/>
          <p:cNvSpPr/>
          <p:nvPr/>
        </p:nvSpPr>
        <p:spPr>
          <a:xfrm>
            <a:off x="1744770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62" name="Shape 260"/>
          <p:cNvSpPr/>
          <p:nvPr/>
        </p:nvSpPr>
        <p:spPr>
          <a:xfrm>
            <a:off x="1767630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63" name="Shape 261"/>
          <p:cNvSpPr/>
          <p:nvPr/>
        </p:nvSpPr>
        <p:spPr>
          <a:xfrm>
            <a:off x="2133547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64" name="Shape 262"/>
          <p:cNvSpPr/>
          <p:nvPr/>
        </p:nvSpPr>
        <p:spPr>
          <a:xfrm>
            <a:off x="2156407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65" name="Shape 263"/>
          <p:cNvSpPr/>
          <p:nvPr/>
        </p:nvSpPr>
        <p:spPr>
          <a:xfrm>
            <a:off x="2522325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66" name="Shape 264"/>
          <p:cNvSpPr/>
          <p:nvPr/>
        </p:nvSpPr>
        <p:spPr>
          <a:xfrm>
            <a:off x="2545185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67" name="Shape 265"/>
          <p:cNvSpPr/>
          <p:nvPr/>
        </p:nvSpPr>
        <p:spPr>
          <a:xfrm>
            <a:off x="2911103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68" name="Shape 266"/>
          <p:cNvSpPr/>
          <p:nvPr/>
        </p:nvSpPr>
        <p:spPr>
          <a:xfrm>
            <a:off x="2933963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69" name="Shape 267"/>
          <p:cNvSpPr/>
          <p:nvPr/>
        </p:nvSpPr>
        <p:spPr>
          <a:xfrm>
            <a:off x="3299880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70" name="Shape 268"/>
          <p:cNvSpPr/>
          <p:nvPr/>
        </p:nvSpPr>
        <p:spPr>
          <a:xfrm>
            <a:off x="3322740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71" name="Shape 269"/>
          <p:cNvSpPr/>
          <p:nvPr/>
        </p:nvSpPr>
        <p:spPr>
          <a:xfrm>
            <a:off x="3688658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72" name="Shape 270"/>
          <p:cNvSpPr/>
          <p:nvPr/>
        </p:nvSpPr>
        <p:spPr>
          <a:xfrm>
            <a:off x="3711518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73" name="Shape 271"/>
          <p:cNvSpPr/>
          <p:nvPr/>
        </p:nvSpPr>
        <p:spPr>
          <a:xfrm>
            <a:off x="4077436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74" name="Shape 272"/>
          <p:cNvSpPr/>
          <p:nvPr/>
        </p:nvSpPr>
        <p:spPr>
          <a:xfrm>
            <a:off x="4100296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75" name="Shape 273"/>
          <p:cNvSpPr/>
          <p:nvPr/>
        </p:nvSpPr>
        <p:spPr>
          <a:xfrm>
            <a:off x="4466213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76" name="Shape 274"/>
          <p:cNvSpPr/>
          <p:nvPr/>
        </p:nvSpPr>
        <p:spPr>
          <a:xfrm>
            <a:off x="4489073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77" name="Shape 275"/>
          <p:cNvSpPr/>
          <p:nvPr/>
        </p:nvSpPr>
        <p:spPr>
          <a:xfrm>
            <a:off x="4854991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78" name="Shape 276"/>
          <p:cNvSpPr/>
          <p:nvPr/>
        </p:nvSpPr>
        <p:spPr>
          <a:xfrm>
            <a:off x="4877851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79" name="Shape 277"/>
          <p:cNvSpPr/>
          <p:nvPr/>
        </p:nvSpPr>
        <p:spPr>
          <a:xfrm>
            <a:off x="5243769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80" name="Shape 278"/>
          <p:cNvSpPr/>
          <p:nvPr/>
        </p:nvSpPr>
        <p:spPr>
          <a:xfrm>
            <a:off x="5266629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81" name="Shape 279"/>
          <p:cNvSpPr/>
          <p:nvPr/>
        </p:nvSpPr>
        <p:spPr>
          <a:xfrm>
            <a:off x="5632546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82" name="Shape 280"/>
          <p:cNvSpPr/>
          <p:nvPr/>
        </p:nvSpPr>
        <p:spPr>
          <a:xfrm>
            <a:off x="5655406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83" name="Shape 281"/>
          <p:cNvSpPr/>
          <p:nvPr/>
        </p:nvSpPr>
        <p:spPr>
          <a:xfrm>
            <a:off x="6021324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84" name="Shape 282"/>
          <p:cNvSpPr/>
          <p:nvPr/>
        </p:nvSpPr>
        <p:spPr>
          <a:xfrm>
            <a:off x="6044184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85" name="Shape 283"/>
          <p:cNvSpPr/>
          <p:nvPr/>
        </p:nvSpPr>
        <p:spPr>
          <a:xfrm>
            <a:off x="6410102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86" name="Shape 284"/>
          <p:cNvSpPr/>
          <p:nvPr/>
        </p:nvSpPr>
        <p:spPr>
          <a:xfrm>
            <a:off x="6432962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87" name="Shape 285"/>
          <p:cNvSpPr/>
          <p:nvPr/>
        </p:nvSpPr>
        <p:spPr>
          <a:xfrm>
            <a:off x="6798879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88" name="Shape 286"/>
          <p:cNvSpPr/>
          <p:nvPr/>
        </p:nvSpPr>
        <p:spPr>
          <a:xfrm>
            <a:off x="6821739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89" name="Shape 287"/>
          <p:cNvSpPr/>
          <p:nvPr/>
        </p:nvSpPr>
        <p:spPr>
          <a:xfrm>
            <a:off x="7187657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90" name="Shape 288"/>
          <p:cNvSpPr/>
          <p:nvPr/>
        </p:nvSpPr>
        <p:spPr>
          <a:xfrm>
            <a:off x="7210517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91" name="Shape 289"/>
          <p:cNvSpPr/>
          <p:nvPr/>
        </p:nvSpPr>
        <p:spPr>
          <a:xfrm>
            <a:off x="7576435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92" name="Shape 290"/>
          <p:cNvSpPr/>
          <p:nvPr/>
        </p:nvSpPr>
        <p:spPr>
          <a:xfrm>
            <a:off x="7599295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93" name="Shape 291"/>
          <p:cNvSpPr/>
          <p:nvPr/>
        </p:nvSpPr>
        <p:spPr>
          <a:xfrm>
            <a:off x="7965212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94" name="Shape 292"/>
          <p:cNvSpPr/>
          <p:nvPr/>
        </p:nvSpPr>
        <p:spPr>
          <a:xfrm>
            <a:off x="7988072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95" name="Shape 293"/>
          <p:cNvSpPr/>
          <p:nvPr/>
        </p:nvSpPr>
        <p:spPr>
          <a:xfrm>
            <a:off x="8353990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96" name="Shape 294"/>
          <p:cNvSpPr/>
          <p:nvPr/>
        </p:nvSpPr>
        <p:spPr>
          <a:xfrm>
            <a:off x="8376850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97" name="Shape 295"/>
          <p:cNvSpPr/>
          <p:nvPr/>
        </p:nvSpPr>
        <p:spPr>
          <a:xfrm>
            <a:off x="8742768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98" name="Shape 296"/>
          <p:cNvSpPr/>
          <p:nvPr/>
        </p:nvSpPr>
        <p:spPr>
          <a:xfrm>
            <a:off x="8765628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99" name="Shape 297"/>
          <p:cNvSpPr/>
          <p:nvPr/>
        </p:nvSpPr>
        <p:spPr>
          <a:xfrm>
            <a:off x="9131545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00" name="Shape 298"/>
          <p:cNvSpPr/>
          <p:nvPr/>
        </p:nvSpPr>
        <p:spPr>
          <a:xfrm>
            <a:off x="9154405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301" name="Shape 299"/>
          <p:cNvSpPr/>
          <p:nvPr/>
        </p:nvSpPr>
        <p:spPr>
          <a:xfrm>
            <a:off x="9520323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02" name="Shape 300"/>
          <p:cNvSpPr/>
          <p:nvPr/>
        </p:nvSpPr>
        <p:spPr>
          <a:xfrm>
            <a:off x="9543183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303" name="Shape 301"/>
          <p:cNvSpPr/>
          <p:nvPr/>
        </p:nvSpPr>
        <p:spPr>
          <a:xfrm>
            <a:off x="9909101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04" name="Shape 302"/>
          <p:cNvSpPr/>
          <p:nvPr/>
        </p:nvSpPr>
        <p:spPr>
          <a:xfrm>
            <a:off x="9931961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305" name="Shape 303"/>
          <p:cNvSpPr/>
          <p:nvPr/>
        </p:nvSpPr>
        <p:spPr>
          <a:xfrm>
            <a:off x="10297878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06" name="Shape 304"/>
          <p:cNvSpPr/>
          <p:nvPr/>
        </p:nvSpPr>
        <p:spPr>
          <a:xfrm>
            <a:off x="10320738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307" name="Shape 305"/>
          <p:cNvSpPr/>
          <p:nvPr/>
        </p:nvSpPr>
        <p:spPr>
          <a:xfrm>
            <a:off x="10686656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08" name="Shape 306"/>
          <p:cNvSpPr/>
          <p:nvPr/>
        </p:nvSpPr>
        <p:spPr>
          <a:xfrm>
            <a:off x="10709516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309" name="Shape 307"/>
          <p:cNvSpPr/>
          <p:nvPr/>
        </p:nvSpPr>
        <p:spPr>
          <a:xfrm>
            <a:off x="11075434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10" name="Shape 308"/>
          <p:cNvSpPr/>
          <p:nvPr/>
        </p:nvSpPr>
        <p:spPr>
          <a:xfrm>
            <a:off x="11098294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311" name="Shape 309"/>
          <p:cNvSpPr/>
          <p:nvPr/>
        </p:nvSpPr>
        <p:spPr>
          <a:xfrm>
            <a:off x="11464211" y="5705856"/>
            <a:ext cx="146304" cy="146304"/>
          </a:xfrm>
          <a:prstGeom prst="ellipse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12" name="Shape 310"/>
          <p:cNvSpPr/>
          <p:nvPr/>
        </p:nvSpPr>
        <p:spPr>
          <a:xfrm>
            <a:off x="11487071" y="5724144"/>
            <a:ext cx="73152" cy="73152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313" name="Text 311"/>
          <p:cNvSpPr/>
          <p:nvPr/>
        </p:nvSpPr>
        <p:spPr>
          <a:xfrm>
            <a:off x="822960" y="576072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 </a:t>
            </a:r>
            <a:pPr indent="0" marL="0">
              <a:buNone/>
            </a:pPr>
            <a:r>
              <a:rPr lang="en-US" sz="11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loader · meter · theme · ui-primitives  ·  </a:t>
            </a:r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lines</a:t>
            </a:r>
            <a:pPr indent="0" marL="0">
              <a:buNone/>
            </a:pPr>
            <a:r>
              <a:rPr lang="en-US" sz="11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same studs power every app, every widget, every MCP tool.</a:t>
            </a:r>
            <a:endParaRPr lang="en-US" sz="1200" dirty="0"/>
          </a:p>
        </p:txBody>
      </p:sp>
      <p:sp>
        <p:nvSpPr>
          <p:cNvPr id="314" name="Shape 312"/>
          <p:cNvSpPr/>
          <p:nvPr/>
        </p:nvSpPr>
        <p:spPr>
          <a:xfrm rot="10800000">
            <a:off x="1668780" y="5532120"/>
            <a:ext cx="182880" cy="164592"/>
          </a:xfrm>
          <a:prstGeom prst="rightTriangle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315" name="Shape 313"/>
          <p:cNvSpPr/>
          <p:nvPr/>
        </p:nvSpPr>
        <p:spPr>
          <a:xfrm rot="10800000">
            <a:off x="4549140" y="5532120"/>
            <a:ext cx="182880" cy="164592"/>
          </a:xfrm>
          <a:prstGeom prst="rightTriangle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316" name="Shape 314"/>
          <p:cNvSpPr/>
          <p:nvPr/>
        </p:nvSpPr>
        <p:spPr>
          <a:xfrm rot="10800000">
            <a:off x="7429500" y="5532120"/>
            <a:ext cx="182880" cy="164592"/>
          </a:xfrm>
          <a:prstGeom prst="rightTriangle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317" name="Shape 315"/>
          <p:cNvSpPr/>
          <p:nvPr/>
        </p:nvSpPr>
        <p:spPr>
          <a:xfrm rot="10800000">
            <a:off x="10309860" y="5532120"/>
            <a:ext cx="182880" cy="164592"/>
          </a:xfrm>
          <a:prstGeom prst="rightTriangle">
            <a:avLst/>
          </a:prstGeom>
          <a:solidFill>
            <a:srgbClr val="9CA3AF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products, one stack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stands alone on its own URL. They share the visual language, the widget layer, and the token meter.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920240"/>
            <a:ext cx="36576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194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cycleCAD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DESIGN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developers · Mechanical engineers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474720"/>
            <a:ext cx="310896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36118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3D modeller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/ Inventor import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+ feature tree + AI Copilot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API: 55 commands, 10 namespaces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51960" y="192024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51960" y="1920240"/>
            <a:ext cx="3657600" cy="54864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2194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ExplodeView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2628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PRESENT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2628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· Marketing · Sales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3474720"/>
            <a:ext cx="310896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26280" y="36118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3D viewer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Exploded views + AR mode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Render (Gemini Nano-Banana)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BOM, hero shots, McMaster search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01000" y="192024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001000" y="1920240"/>
            <a:ext cx="3657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75320" y="2194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Pentacad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27532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MANUFACTURE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7532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· Production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75320" y="3474720"/>
            <a:ext cx="310896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75320" y="36118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5-axis CAM strategies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sim (sim.pentamachine.com clone)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Rockhopper bridge to LinuxCNC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Per-machine kinematics (V1 / V2-10 / V2-50 / Solo)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 DASHBOARD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Operate the system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users, access, tokens, payments, repo, files, widget stats, agents and audit. Composed of admin widgets — same Lego kernel as the public apps.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11475720" cy="46177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783080"/>
            <a:ext cx="11475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5488" y="1874520"/>
            <a:ext cx="118872" cy="118872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1874520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4672" y="1874520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43000" y="1837944"/>
            <a:ext cx="3657600" cy="182880"/>
          </a:xfrm>
          <a:prstGeom prst="roundRect">
            <a:avLst>
              <a:gd name="adj" fmla="val 25000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34440" y="183794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cyclecad.com / admin / overview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469880" y="1837944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69880" y="183794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064240" y="1837944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064240" y="183794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92840" y="183794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 · admin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075688"/>
            <a:ext cx="1874520" cy="4325112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30352" y="218541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ADMIN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" y="2532888"/>
            <a:ext cx="1764792" cy="19659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65760" y="2532888"/>
            <a:ext cx="36576" cy="1965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30352" y="2532888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Overview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" y="2729484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 Realtime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2999232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 Users · Access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" y="3195828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API Keys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" y="3392424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  Tenants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" y="3662172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 Tokens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" y="3858768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 Payments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" y="4055364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  Audit Ledger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" y="4325112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  Widget Registry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" y="4521708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▥  Usage Stats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" y="4718304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 Workflows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4914900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◬  Agents · MCP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" y="5111496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◍  Marketplace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" y="5381244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▭  Files · S3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0352" y="5577840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  Repository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0352" y="5774436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 System Health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0352" y="5971032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Operations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0352" y="6167628"/>
            <a:ext cx="16459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▽  Compliance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468880" y="2167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468880" y="24597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24h  ·  All tenants  ·  refresh in 5s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149840" y="2203704"/>
            <a:ext cx="150876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0213848" y="220370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anything…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68880" y="2788920"/>
            <a:ext cx="2203704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2468880" y="2834640"/>
            <a:ext cx="2203704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606040" y="2898648"/>
            <a:ext cx="19293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 · 24h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606040" y="3118104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1,284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2606040" y="3502152"/>
            <a:ext cx="1929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+12 %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82312" y="2788920"/>
            <a:ext cx="2203704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4782312" y="2834640"/>
            <a:ext cx="2203704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919472" y="2898648"/>
            <a:ext cx="19293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calls / min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919472" y="3118104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342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4919472" y="3502152"/>
            <a:ext cx="1929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+8 %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095744" y="2788920"/>
            <a:ext cx="2203704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095744" y="2834640"/>
            <a:ext cx="2203704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232904" y="2898648"/>
            <a:ext cx="19293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$CYCLE spent · 24h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232904" y="3118104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184 K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7232904" y="3502152"/>
            <a:ext cx="1929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+24 %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409176" y="2788920"/>
            <a:ext cx="2203704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9409176" y="2834640"/>
            <a:ext cx="2203704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9546336" y="2898648"/>
            <a:ext cx="19293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24h (€)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546336" y="3118104"/>
            <a:ext cx="1929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€ 1,920</a:t>
            </a:r>
            <a:endParaRPr lang="en-US" sz="2400" dirty="0"/>
          </a:p>
        </p:txBody>
      </p:sp>
      <p:sp>
        <p:nvSpPr>
          <p:cNvPr id="66" name="Text 64"/>
          <p:cNvSpPr/>
          <p:nvPr/>
        </p:nvSpPr>
        <p:spPr>
          <a:xfrm>
            <a:off x="9546336" y="3502152"/>
            <a:ext cx="1929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+€ 240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468880" y="3913632"/>
            <a:ext cx="52120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2468880" y="3950208"/>
            <a:ext cx="5212080" cy="22219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633472" y="4023360"/>
            <a:ext cx="4882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per minute  ·  last 60 minutes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633472" y="5059306"/>
            <a:ext cx="168376" cy="36991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2801848" y="5096297"/>
            <a:ext cx="168376" cy="-155008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2970223" y="4941289"/>
            <a:ext cx="168376" cy="-64597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3138599" y="4876691"/>
            <a:ext cx="168376" cy="175055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3306975" y="5051746"/>
            <a:ext cx="168376" cy="-222726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3475351" y="4829020"/>
            <a:ext cx="168376" cy="105744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3643726" y="4934764"/>
            <a:ext cx="168376" cy="120075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3812102" y="5054839"/>
            <a:ext cx="168376" cy="69717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3980478" y="5124556"/>
            <a:ext cx="168376" cy="161473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4148854" y="5286029"/>
            <a:ext cx="168376" cy="-128605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4317229" y="5157424"/>
            <a:ext cx="168376" cy="147471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4485605" y="5304895"/>
            <a:ext cx="168376" cy="-118038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4653981" y="5186857"/>
            <a:ext cx="168376" cy="-78625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83" name="Shape 81"/>
          <p:cNvSpPr/>
          <p:nvPr/>
        </p:nvSpPr>
        <p:spPr>
          <a:xfrm>
            <a:off x="4822356" y="5108232"/>
            <a:ext cx="168376" cy="-702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4990732" y="5107530"/>
            <a:ext cx="168376" cy="45352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5159108" y="5152882"/>
            <a:ext cx="168376" cy="25465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86" name="Shape 84"/>
          <p:cNvSpPr/>
          <p:nvPr/>
        </p:nvSpPr>
        <p:spPr>
          <a:xfrm>
            <a:off x="5327484" y="5178347"/>
            <a:ext cx="168376" cy="45763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87" name="Shape 85"/>
          <p:cNvSpPr/>
          <p:nvPr/>
        </p:nvSpPr>
        <p:spPr>
          <a:xfrm>
            <a:off x="5495859" y="5224110"/>
            <a:ext cx="168376" cy="-75794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5664235" y="5148316"/>
            <a:ext cx="168376" cy="16615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5832611" y="5164932"/>
            <a:ext cx="168376" cy="-72938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90" name="Shape 88"/>
          <p:cNvSpPr/>
          <p:nvPr/>
        </p:nvSpPr>
        <p:spPr>
          <a:xfrm>
            <a:off x="6000986" y="5091994"/>
            <a:ext cx="168376" cy="-150536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6169362" y="4941458"/>
            <a:ext cx="168376" cy="-76320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92" name="Shape 90"/>
          <p:cNvSpPr/>
          <p:nvPr/>
        </p:nvSpPr>
        <p:spPr>
          <a:xfrm>
            <a:off x="6337738" y="4865137"/>
            <a:ext cx="168376" cy="-97625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6506114" y="4767512"/>
            <a:ext cx="168376" cy="14250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6674489" y="4781762"/>
            <a:ext cx="168376" cy="-270274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6842865" y="4511488"/>
            <a:ext cx="168376" cy="-130140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96" name="Shape 94"/>
          <p:cNvSpPr/>
          <p:nvPr/>
        </p:nvSpPr>
        <p:spPr>
          <a:xfrm>
            <a:off x="7011241" y="4381348"/>
            <a:ext cx="168376" cy="0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97" name="Shape 95"/>
          <p:cNvSpPr/>
          <p:nvPr/>
        </p:nvSpPr>
        <p:spPr>
          <a:xfrm>
            <a:off x="7179617" y="4381348"/>
            <a:ext cx="168376" cy="0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98" name="Shape 96"/>
          <p:cNvSpPr/>
          <p:nvPr/>
        </p:nvSpPr>
        <p:spPr>
          <a:xfrm>
            <a:off x="7347992" y="4381348"/>
            <a:ext cx="168376" cy="0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99" name="Shape 97"/>
          <p:cNvSpPr/>
          <p:nvPr/>
        </p:nvSpPr>
        <p:spPr>
          <a:xfrm>
            <a:off x="7479792" y="434477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6766560" y="419846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 / min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7818120" y="3913632"/>
            <a:ext cx="379476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02" name="Shape 100"/>
          <p:cNvSpPr/>
          <p:nvPr/>
        </p:nvSpPr>
        <p:spPr>
          <a:xfrm>
            <a:off x="7818120" y="3950208"/>
            <a:ext cx="3794760" cy="22219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3" name="Text 101"/>
          <p:cNvSpPr/>
          <p:nvPr/>
        </p:nvSpPr>
        <p:spPr>
          <a:xfrm>
            <a:off x="7982712" y="4023360"/>
            <a:ext cx="3465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widgets · 24h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7982712" y="4361688"/>
            <a:ext cx="91440" cy="12801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8147304" y="4325112"/>
            <a:ext cx="2093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cam-nav.snap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10122408" y="4325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24,180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10716768" y="432511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7982712" y="4585716"/>
            <a:ext cx="91440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09" name="Text 107"/>
          <p:cNvSpPr/>
          <p:nvPr/>
        </p:nvSpPr>
        <p:spPr>
          <a:xfrm>
            <a:off x="8147304" y="4549140"/>
            <a:ext cx="2093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ai-render.scene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10122408" y="45491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2,140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10716768" y="454914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 M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7982712" y="4809744"/>
            <a:ext cx="91440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13" name="Text 111"/>
          <p:cNvSpPr/>
          <p:nvPr/>
        </p:nvSpPr>
        <p:spPr>
          <a:xfrm>
            <a:off x="8147304" y="4773168"/>
            <a:ext cx="2093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dro.update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10122408" y="47731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18,690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10716768" y="4773168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7982712" y="5033772"/>
            <a:ext cx="91440" cy="128016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117" name="Text 115"/>
          <p:cNvSpPr/>
          <p:nvPr/>
        </p:nvSpPr>
        <p:spPr>
          <a:xfrm>
            <a:off x="8147304" y="4997196"/>
            <a:ext cx="2093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gcode-editor.lint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10122408" y="49971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5,612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10716768" y="499719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K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7982712" y="5257800"/>
            <a:ext cx="91440" cy="128016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121" name="Text 119"/>
          <p:cNvSpPr/>
          <p:nvPr/>
        </p:nvSpPr>
        <p:spPr>
          <a:xfrm>
            <a:off x="8147304" y="5221224"/>
            <a:ext cx="2093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explode-slider.set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10122408" y="522122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3,420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10716768" y="522122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7982712" y="5481828"/>
            <a:ext cx="91440" cy="12801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5" name="Text 123"/>
          <p:cNvSpPr/>
          <p:nvPr/>
        </p:nvSpPr>
        <p:spPr>
          <a:xfrm>
            <a:off x="8147304" y="5445252"/>
            <a:ext cx="2093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bom-export.csv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10122408" y="54452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10716768" y="544525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 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ROLES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uses what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map to products. Most users live in one app and visit the others occasionally — or pay tokens to access on-demand.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377440" cy="420624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0116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2011680"/>
            <a:ext cx="2194560" cy="420624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017520" y="20116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011680"/>
            <a:ext cx="2194560" cy="420624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212080" y="20116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2011680"/>
            <a:ext cx="2194560" cy="420624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06640" y="20116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Pentacad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18320" y="2011680"/>
            <a:ext cx="2286000" cy="420624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0" y="20116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32304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243230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engineer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2432304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017520" y="24323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2432304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212080" y="24323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2432304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406640" y="24323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Toolpath check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418320" y="2432304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601200" y="243230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plan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852928"/>
            <a:ext cx="2377440" cy="420624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080" y="28529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designer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34640" y="2852928"/>
            <a:ext cx="2194560" cy="420624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017520" y="28529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2852928"/>
            <a:ext cx="2194560" cy="420624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212080" y="28529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— hero shots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23760" y="2852928"/>
            <a:ext cx="2194560" cy="420624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406640" y="28529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418320" y="2852928"/>
            <a:ext cx="2286000" cy="420624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601200" y="28529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plan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273552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0080" y="32735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834640" y="3273552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017520" y="327355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29200" y="3273552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212080" y="327355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— demos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223760" y="3273552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406640" y="327355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418320" y="3273552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601200" y="32735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3694176"/>
            <a:ext cx="2377440" cy="420624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40080" y="369417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/ sales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834640" y="3694176"/>
            <a:ext cx="2194560" cy="420624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017520" y="36941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029200" y="3694176"/>
            <a:ext cx="2194560" cy="420624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212080" y="36941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— assets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223760" y="3694176"/>
            <a:ext cx="2194560" cy="420624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406640" y="36941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418320" y="3694176"/>
            <a:ext cx="2286000" cy="420624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9601200" y="36941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Pay-per-render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4114800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40080" y="41148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engineer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834640" y="4114800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3017520" y="41148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STEP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029200" y="4114800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212080" y="41148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Disassembly docs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223760" y="4114800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406640" y="41148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— CAM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418320" y="4114800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9601200" y="41148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plan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57200" y="4535424"/>
            <a:ext cx="2377440" cy="420624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40080" y="453542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Shop-floor operator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834640" y="4535424"/>
            <a:ext cx="2194560" cy="420624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3017520" y="45354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029200" y="4535424"/>
            <a:ext cx="2194560" cy="420624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212080" y="45354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223760" y="4535424"/>
            <a:ext cx="2194560" cy="420624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7406640" y="45354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— sim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9418320" y="4535424"/>
            <a:ext cx="2286000" cy="420624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9601200" y="45354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57200" y="4956048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640080" y="49560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(programmatic)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834640" y="4956048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3017520" y="4956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API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029200" y="4956048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5212080" y="4956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API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7223760" y="4956048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7406640" y="4956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gen + post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9418320" y="4956048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9601200" y="49560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meter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57200" y="5376672"/>
            <a:ext cx="2377440" cy="420624"/>
          </a:xfrm>
          <a:prstGeom prst="rect">
            <a:avLst/>
          </a:prstGeom>
          <a:solidFill>
            <a:srgbClr val="FFE4EC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640080" y="53766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(you)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834640" y="5376672"/>
            <a:ext cx="2194560" cy="420624"/>
          </a:xfrm>
          <a:prstGeom prst="rect">
            <a:avLst/>
          </a:prstGeom>
          <a:solidFill>
            <a:srgbClr val="FFE4EC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3017520" y="53766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029200" y="5376672"/>
            <a:ext cx="2194560" cy="420624"/>
          </a:xfrm>
          <a:prstGeom prst="rect">
            <a:avLst/>
          </a:prstGeom>
          <a:solidFill>
            <a:srgbClr val="FFE4EC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5212080" y="53766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7223760" y="5376672"/>
            <a:ext cx="2194560" cy="420624"/>
          </a:xfrm>
          <a:prstGeom prst="rect">
            <a:avLst/>
          </a:prstGeom>
          <a:solidFill>
            <a:srgbClr val="FFE4EC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7406640" y="53766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9418320" y="5376672"/>
            <a:ext cx="2286000" cy="420624"/>
          </a:xfrm>
          <a:prstGeom prst="rect">
            <a:avLst/>
          </a:prstGeom>
          <a:solidFill>
            <a:srgbClr val="FFE4EC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9601200" y="53766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— no tokens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LAYERS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stack is organized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Static-asset deployment with three apps stacked on a shared widget + theme layer + token meter. No build step.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47120" cy="77724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18745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· ExplodeView · Pentacad — three HTML entry points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11247120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2697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meter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697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usage tracking · admin bypass · plan tier enforcement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11247120" cy="777240"/>
          </a:xfrm>
          <a:prstGeom prst="rect">
            <a:avLst/>
          </a:prstGeom>
          <a:solidFill>
            <a:srgbClr val="03B188"/>
          </a:solidFill>
          <a:ln w="12700">
            <a:solidFill>
              <a:srgbClr val="03B18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5204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widgets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35204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cam-nav · explode-slider · ai-render · file-loader · dro · gcode-editor · ui-primitives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11247120" cy="777240"/>
          </a:xfrm>
          <a:prstGeom prst="rect">
            <a:avLst/>
          </a:prstGeom>
          <a:solidFill>
            <a:srgbClr val="2A343C"/>
          </a:solidFill>
          <a:ln w="12700">
            <a:solidFill>
              <a:srgbClr val="2A343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4343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74720" y="434340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· GLTFLoader · TrackballControls · pentacad-sim.js (parser + executor)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074920"/>
            <a:ext cx="11247120" cy="777240"/>
          </a:xfrm>
          <a:prstGeom prst="rect">
            <a:avLst/>
          </a:prstGeom>
          <a:solidFill>
            <a:srgbClr val="5C6770"/>
          </a:solidFill>
          <a:ln w="12700">
            <a:solidFill>
              <a:srgbClr val="5C677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" y="51663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74720" y="516636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WebGL2 · WebXR · localStorage · IndexedDB · Web Speech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577840"/>
            <a:ext cx="11247120" cy="777240"/>
          </a:xfrm>
          <a:prstGeom prst="rect">
            <a:avLst/>
          </a:prstGeom>
          <a:solidFill>
            <a:srgbClr val="B0B6BB"/>
          </a:solidFill>
          <a:ln w="12700">
            <a:solidFill>
              <a:srgbClr val="B0B6B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1520" y="5760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host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474720" y="57607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— single push deploys the whole suite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WIDGETS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widget catalog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widget is a self-contained init() function. Each app loads only what it needs. Each widget is independently sellable.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627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011680"/>
            <a:ext cx="3627120" cy="54864"/>
          </a:xfrm>
          <a:prstGeom prst="rect">
            <a:avLst/>
          </a:prstGeom>
          <a:solidFill>
            <a:srgbClr val="03B188"/>
          </a:solidFill>
          <a:ln w="12700">
            <a:solidFill>
              <a:srgbClr val="03B18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2194560"/>
            <a:ext cx="316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3D nav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316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ViewCube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Projection menu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Parenting menu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FAB · Screenshot FAB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· Axes · Wireframe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/ Cut plane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67200" y="2011680"/>
            <a:ext cx="3627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267200" y="2011680"/>
            <a:ext cx="36271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495800" y="2194560"/>
            <a:ext cx="316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&amp; 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95800" y="2926080"/>
            <a:ext cx="316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zone overlay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Examples / Save / Share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+ GLB + G-code loader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reset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example library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77200" y="2011680"/>
            <a:ext cx="3627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77200" y="2011680"/>
            <a:ext cx="3627120" cy="54864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05800" y="2194560"/>
            <a:ext cx="316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9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primitives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05800" y="2926080"/>
            <a:ext cx="316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tokens (CSS vars)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· Modal · Popover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Suite-nav top bar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Dropzone · Loading overlay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 sheet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3627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4297680"/>
            <a:ext cx="362712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4480560"/>
            <a:ext cx="316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9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5212080"/>
            <a:ext cx="316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 panel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G-code editor + markers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Toolpath renderer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Soft-limit / envelope check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 rigging helper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67200" y="4297680"/>
            <a:ext cx="3627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267200" y="4297680"/>
            <a:ext cx="3627120" cy="54864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495800" y="4480560"/>
            <a:ext cx="316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5</a:t>
            </a:r>
            <a:endParaRPr lang="en-US" sz="9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Designer / sales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95800" y="5212080"/>
            <a:ext cx="316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 slider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Render (Gemini)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shot capture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/ 3D pins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export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McMaster search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77200" y="4297680"/>
            <a:ext cx="3627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077200" y="4297680"/>
            <a:ext cx="36271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305800" y="4480560"/>
            <a:ext cx="316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6</a:t>
            </a:r>
            <a:endParaRPr lang="en-US" sz="9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05800" y="5212080"/>
            <a:ext cx="316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overlay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Plot panel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Machine pill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Rockhopper bridge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 pad · pendant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STANDALONE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widget runs alone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context required. Mount, use, destroy. Same module powers all three apps and runs on its own URL for testing.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3657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920240"/>
            <a:ext cx="3657600" cy="54864"/>
          </a:xfrm>
          <a:prstGeom prst="rect">
            <a:avLst/>
          </a:prstGeom>
          <a:solidFill>
            <a:srgbClr val="03B188"/>
          </a:solidFill>
          <a:ln w="12700">
            <a:solidFill>
              <a:srgbClr val="03B18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contract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export: init(opts) → handle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opts.mount: CSS selector or Element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opts.theme: optional palette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opts.scene/camera/controls (when 3D)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handle.destroy(): clean teardown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globals · no app-specific imports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1920240"/>
            <a:ext cx="3657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251960" y="1920240"/>
            <a:ext cx="36576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2628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lifecycle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26280" y="269748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/shared/&lt;widget&gt;.js (ESM)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Call init(opts)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Subscribe via handle.on(event, fn)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Mutate via handle.setX(value)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Tear down with handle.destroy()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widget owns its DOM subtree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01000" y="1920240"/>
            <a:ext cx="3657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01000" y="1920240"/>
            <a:ext cx="3657600" cy="54864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7532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Bare-page demos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75320" y="269748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/widgets/cam-nav.html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/widgets/explode-slider.html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/widgets/ai-render.html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/widgets/dro.html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one URL → see it run alone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visual regression fixtures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TESTING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test suite per widget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widget runs alone, every widget can be tested alone. The test runner aggregates each suite into one dashboard.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486400" cy="4297680"/>
          </a:xfrm>
          <a:prstGeom prst="rect">
            <a:avLst/>
          </a:prstGeom>
          <a:solidFill>
            <a:srgbClr val="1B2228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Per-widget test layout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/shared/cam-nav.js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/widgets/cam-nav.html         </a:t>
            </a:r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← bare-page demo
</a:t>
            </a:r>
            <a:pPr indent="0" marL="0">
              <a:buNone/>
            </a:pPr>
            <a:r>
              <a:rPr lang="en-US" sz="1200" dirty="0">
                <a:solidFill>
                  <a:srgbClr val="03B188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/tests/cam-nav.test.html      </a:t>
            </a:r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← spec runner
</a:t>
            </a:r>
            <a:pPr indent="0" marL="0">
              <a:buNone/>
            </a:pPr>
            <a:r>
              <a:rPr lang="en-US" sz="1200" dirty="0">
                <a:solidFill>
                  <a:srgbClr val="03B188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/tests/cam-nav.visual.html    </a:t>
            </a:r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← screenshot diff
</a:t>
            </a:r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/tests/index.html             </a:t>
            </a:r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← runs them all
</a:t>
            </a:r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/tests/&lt;widget&gt;.report.json   </a:t>
            </a:r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← machine-readable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4864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486400" cy="54864"/>
          </a:xfrm>
          <a:prstGeom prst="rect">
            <a:avLst/>
          </a:prstGeom>
          <a:solidFill>
            <a:srgbClr val="03B188"/>
          </a:solidFill>
          <a:ln w="12700">
            <a:solidFill>
              <a:srgbClr val="03B18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9224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suite covers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— pure logic without DOM (parser, math, executor)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init / mount on a hidden DOM, fire events, verify state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— screenshot against a baseline, diff with pixelmatch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— keyboard nav, ARIA labels, focus order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frames/sec under load, memory leak on destroy()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— per-call meter assertions: cost, plan tier, admin bypass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Browser-side runner — open /tests/index.html for live results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CI-friendly — Playwright wraps each suite, exports JUnit XML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$CYCLE TOKENS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$CYCLE token economy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widget call is metered. Users buy or earn tokens; admin runs free. Plans + pay-per-use + bulk credits.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65960"/>
            <a:ext cx="55321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1488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purchase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(USD / EUR)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/ ETH for agents without banks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credit packs (1k / 10k / 100k)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subscriptions auto-top-up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72200" y="1965960"/>
            <a:ext cx="5532120" cy="54864"/>
          </a:xfrm>
          <a:prstGeom prst="rect">
            <a:avLst/>
          </a:prstGeom>
          <a:solidFill>
            <a:srgbClr val="03B188"/>
          </a:solidFill>
          <a:ln w="12700">
            <a:solidFill>
              <a:srgbClr val="03B18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46520" y="21488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B1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46520" y="260604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royalties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92608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widget on the marketplace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70-90% of each call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to fiat or hold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on-chain ledger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4160520"/>
            <a:ext cx="55321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1520" y="43434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31520" y="480060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Per-widget meter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12064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calls: 1-5 tokens (UI primitives)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Mid: 50-200 (renders, AI prompts)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Heavy: 1000+ (multi-step workflows)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hit: 10% discount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416052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172200" y="4160520"/>
            <a:ext cx="553212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46520" y="43434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BYPASS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46520" y="480060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super-user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512064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key in localStorage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meters pass-through, no charge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testing + internal demos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meter logs the bypass for audit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TOKEN REPO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token repository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tokens live, how they move, and why every call passes through the meter before reaching a widget.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956816" cy="1371600"/>
          </a:xfrm>
          <a:prstGeom prst="rect">
            <a:avLst/>
          </a:prstGeom>
          <a:solidFill>
            <a:srgbClr val="FFFFFF"/>
          </a:solidFill>
          <a:ln w="16510">
            <a:solidFill>
              <a:srgbClr val="5B8DE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103120"/>
            <a:ext cx="1956816" cy="7315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33172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81635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· API key · admin key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rot="5400000">
            <a:off x="2450592" y="2670048"/>
            <a:ext cx="292608" cy="237744"/>
          </a:xfrm>
          <a:prstGeom prst="rtTriangle">
            <a:avLst/>
          </a:prstGeom>
          <a:solidFill>
            <a:srgbClr val="D6D9DD"/>
          </a:solidFill>
          <a:ln w="1270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779776" y="2103120"/>
            <a:ext cx="1956816" cy="1371600"/>
          </a:xfrm>
          <a:prstGeom prst="rect">
            <a:avLst/>
          </a:prstGeom>
          <a:solidFill>
            <a:srgbClr val="FFFFFF"/>
          </a:solidFill>
          <a:ln w="1651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779776" y="2103120"/>
            <a:ext cx="1956816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962656" y="233172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62656" y="281635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balance ledger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rot="5400000">
            <a:off x="4773168" y="2670048"/>
            <a:ext cx="292608" cy="237744"/>
          </a:xfrm>
          <a:prstGeom prst="rtTriangle">
            <a:avLst/>
          </a:prstGeom>
          <a:solidFill>
            <a:srgbClr val="D6D9DD"/>
          </a:solidFill>
          <a:ln w="1270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102352" y="2103120"/>
            <a:ext cx="1956816" cy="1371600"/>
          </a:xfrm>
          <a:prstGeom prst="rect">
            <a:avLst/>
          </a:prstGeom>
          <a:solidFill>
            <a:srgbClr val="FFFFFF"/>
          </a:solidFill>
          <a:ln w="1651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102352" y="2103120"/>
            <a:ext cx="1956816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85232" y="233172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85232" y="281635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check + post-debit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 rot="5400000">
            <a:off x="7095744" y="2670048"/>
            <a:ext cx="292608" cy="237744"/>
          </a:xfrm>
          <a:prstGeom prst="rtTriangle">
            <a:avLst/>
          </a:prstGeom>
          <a:solidFill>
            <a:srgbClr val="D6D9DD"/>
          </a:solidFill>
          <a:ln w="1270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424928" y="2103120"/>
            <a:ext cx="1956816" cy="1371600"/>
          </a:xfrm>
          <a:prstGeom prst="rect">
            <a:avLst/>
          </a:prstGeom>
          <a:solidFill>
            <a:srgbClr val="FFFFFF"/>
          </a:solidFill>
          <a:ln w="16510">
            <a:solidFill>
              <a:srgbClr val="03B188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424928" y="2103120"/>
            <a:ext cx="1956816" cy="73152"/>
          </a:xfrm>
          <a:prstGeom prst="rect">
            <a:avLst/>
          </a:prstGeom>
          <a:solidFill>
            <a:srgbClr val="03B188"/>
          </a:solidFill>
          <a:ln w="12700">
            <a:solidFill>
              <a:srgbClr val="03B18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07808" y="233172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Widget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07808" y="281635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init(opts) runs once authorised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 rot="5400000">
            <a:off x="9418320" y="2670048"/>
            <a:ext cx="292608" cy="237744"/>
          </a:xfrm>
          <a:prstGeom prst="rtTriangle">
            <a:avLst/>
          </a:prstGeom>
          <a:solidFill>
            <a:srgbClr val="D6D9DD"/>
          </a:solidFill>
          <a:ln w="1270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747504" y="2103120"/>
            <a:ext cx="1956816" cy="1371600"/>
          </a:xfrm>
          <a:prstGeom prst="rect">
            <a:avLst/>
          </a:prstGeom>
          <a:solidFill>
            <a:srgbClr val="FFFFFF"/>
          </a:solidFill>
          <a:ln w="16510">
            <a:solidFill>
              <a:srgbClr val="6E778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747504" y="2103120"/>
            <a:ext cx="1956816" cy="73152"/>
          </a:xfrm>
          <a:prstGeom prst="rect">
            <a:avLst/>
          </a:prstGeom>
          <a:solidFill>
            <a:srgbClr val="6E7780"/>
          </a:solidFill>
          <a:ln w="12700">
            <a:solidFill>
              <a:srgbClr val="6E778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930384" y="233172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Receipt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30384" y="281635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11247120" cy="2194560"/>
          </a:xfrm>
          <a:prstGeom prst="rect">
            <a:avLst/>
          </a:prstGeom>
          <a:solidFill>
            <a:srgbClr val="1B2228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3152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record (append-only)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5262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"id":      "tx_2k4j…", 
</a:t>
            </a:r>
            <a:pPr indent="0" marL="0">
              <a:buNone/>
            </a:pPr>
            <a:r>
              <a:rPr lang="en-US" sz="1200" dirty="0">
                <a:solidFill>
                  <a:srgbClr val="7AA8C9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"actor":   "u_sachin@cyclewash"        </a:t>
            </a:r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// or "agent_*", "admin_root"
</a:t>
            </a:r>
            <a:pPr indent="0" marL="0">
              <a:buNone/>
            </a:pPr>
            <a:r>
              <a:rPr lang="en-US" sz="1200" dirty="0">
                <a:solidFill>
                  <a:srgbClr val="03B188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"widget":  "ai-render.scene"           </a:t>
            </a:r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// or "workflow:hero-shot-batch"
</a:t>
            </a:r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"cost":    250,                        </a:t>
            </a:r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// $CYCLE — 0 if admin-bypass
</a:t>
            </a:r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"balance": 8420,                       </a:t>
            </a:r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// after debit
</a:t>
            </a:r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"ts":      "2026-04-25T14:22:01Z",
</a:t>
            </a:r>
            <a:pPr indent="0" marL="0">
              <a:buNone/>
            </a:pPr>
            <a:r>
              <a:rPr lang="en-US" sz="1200" dirty="0">
                <a:solidFill>
                  <a:srgbClr val="03B188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"verified": true                       </a:t>
            </a:r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// hash chain
</a:t>
            </a:r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Per-widget pricing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starting price list. Tunable per market and per plan. Free tier covers most reads; heavy compute pays.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4114800" cy="2743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965960"/>
            <a:ext cx="2103120" cy="2743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0916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1965960"/>
            <a:ext cx="2743200" cy="2743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12280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call ($CYCLE)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418320" y="1965960"/>
            <a:ext cx="2468880" cy="2743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55548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price (USD / 1k)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41148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ViewCube + cam-nav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2240280"/>
            <a:ext cx="21031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0916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75120" y="2240280"/>
            <a:ext cx="27432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1228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18320" y="2240280"/>
            <a:ext cx="24688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55548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514600"/>
            <a:ext cx="411480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9436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G-code editor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2514600"/>
            <a:ext cx="210312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0916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75120" y="2514600"/>
            <a:ext cx="274320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1228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18320" y="2514600"/>
            <a:ext cx="246888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55548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2788920"/>
            <a:ext cx="41148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9436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 panel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0" y="2788920"/>
            <a:ext cx="21031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70916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75120" y="2788920"/>
            <a:ext cx="27432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81228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418320" y="2788920"/>
            <a:ext cx="24688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55548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3063240"/>
            <a:ext cx="411480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94360" y="3063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/ GLB import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0" y="3063240"/>
            <a:ext cx="210312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70916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day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675120" y="3063240"/>
            <a:ext cx="274320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81228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418320" y="3063240"/>
            <a:ext cx="246888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55548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$1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3337560"/>
            <a:ext cx="41148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9436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Toolpath renderer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0" y="3337560"/>
            <a:ext cx="21031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7091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day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675120" y="3337560"/>
            <a:ext cx="27432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81228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418320" y="3337560"/>
            <a:ext cx="24688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955548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$2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57200" y="3611880"/>
            <a:ext cx="411480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9436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Soft-limit / DFM check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572000" y="3611880"/>
            <a:ext cx="210312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70916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day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675120" y="3611880"/>
            <a:ext cx="274320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81228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418320" y="3611880"/>
            <a:ext cx="246888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95554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$4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886200"/>
            <a:ext cx="41148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594360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 slider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572000" y="3886200"/>
            <a:ext cx="21031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47091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675120" y="3886200"/>
            <a:ext cx="27432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81228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9418320" y="3886200"/>
            <a:ext cx="24688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955548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57200" y="4160520"/>
            <a:ext cx="411480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9436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/ pins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4572000" y="4160520"/>
            <a:ext cx="210312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47091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675120" y="4160520"/>
            <a:ext cx="274320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681228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9418320" y="4160520"/>
            <a:ext cx="246888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955548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457200" y="4434840"/>
            <a:ext cx="41148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594360" y="4434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export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4572000" y="4434840"/>
            <a:ext cx="21031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470916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day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6675120" y="4434840"/>
            <a:ext cx="27432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6812280" y="4434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9418320" y="4434840"/>
            <a:ext cx="24688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9555480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$10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457200" y="4709160"/>
            <a:ext cx="411480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594360" y="4709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McMaster auto-search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4572000" y="4709160"/>
            <a:ext cx="210312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470916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day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6675120" y="4709160"/>
            <a:ext cx="274320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6812280" y="4709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9418320" y="4709160"/>
            <a:ext cx="246888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9555480" y="4709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$4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457200" y="4983480"/>
            <a:ext cx="41148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594360" y="4983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Render (Gemini)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4572000" y="4983480"/>
            <a:ext cx="21031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4709160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day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6675120" y="4983480"/>
            <a:ext cx="27432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6812280" y="4983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9418320" y="4983480"/>
            <a:ext cx="24688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9555480" y="4983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$100</a:t>
            </a:r>
            <a:endParaRPr lang="en-US" sz="1050" dirty="0"/>
          </a:p>
        </p:txBody>
      </p:sp>
      <p:sp>
        <p:nvSpPr>
          <p:cNvPr id="103" name="Shape 101"/>
          <p:cNvSpPr/>
          <p:nvPr/>
        </p:nvSpPr>
        <p:spPr>
          <a:xfrm>
            <a:off x="457200" y="5257800"/>
            <a:ext cx="411480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594360" y="5257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Analyst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4572000" y="5257800"/>
            <a:ext cx="210312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4709160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day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6675120" y="5257800"/>
            <a:ext cx="274320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6812280" y="5257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050" dirty="0"/>
          </a:p>
        </p:txBody>
      </p:sp>
      <p:sp>
        <p:nvSpPr>
          <p:cNvPr id="109" name="Shape 107"/>
          <p:cNvSpPr/>
          <p:nvPr/>
        </p:nvSpPr>
        <p:spPr>
          <a:xfrm>
            <a:off x="9418320" y="5257800"/>
            <a:ext cx="246888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10" name="Text 108"/>
          <p:cNvSpPr/>
          <p:nvPr/>
        </p:nvSpPr>
        <p:spPr>
          <a:xfrm>
            <a:off x="9555480" y="5257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$40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457200" y="5532120"/>
            <a:ext cx="41148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594360" y="5532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toolpath generation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4572000" y="5532120"/>
            <a:ext cx="21031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4709160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day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6675120" y="5532120"/>
            <a:ext cx="27432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16" name="Text 114"/>
          <p:cNvSpPr/>
          <p:nvPr/>
        </p:nvSpPr>
        <p:spPr>
          <a:xfrm>
            <a:off x="6812280" y="5532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9418320" y="5532120"/>
            <a:ext cx="24688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18" name="Text 116"/>
          <p:cNvSpPr/>
          <p:nvPr/>
        </p:nvSpPr>
        <p:spPr>
          <a:xfrm>
            <a:off x="9555480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$60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457200" y="5806440"/>
            <a:ext cx="411480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594360" y="5806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Pentacad sim playback</a:t>
            </a:r>
            <a:endParaRPr lang="en-US" sz="1050" dirty="0"/>
          </a:p>
        </p:txBody>
      </p:sp>
      <p:sp>
        <p:nvSpPr>
          <p:cNvPr id="121" name="Shape 119"/>
          <p:cNvSpPr/>
          <p:nvPr/>
        </p:nvSpPr>
        <p:spPr>
          <a:xfrm>
            <a:off x="4572000" y="5806440"/>
            <a:ext cx="210312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22" name="Text 120"/>
          <p:cNvSpPr/>
          <p:nvPr/>
        </p:nvSpPr>
        <p:spPr>
          <a:xfrm>
            <a:off x="470916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6675120" y="5806440"/>
            <a:ext cx="274320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24" name="Text 122"/>
          <p:cNvSpPr/>
          <p:nvPr/>
        </p:nvSpPr>
        <p:spPr>
          <a:xfrm>
            <a:off x="6812280" y="5806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9418320" y="5806440"/>
            <a:ext cx="2468880" cy="274320"/>
          </a:xfrm>
          <a:prstGeom prst="rect">
            <a:avLst/>
          </a:prstGeom>
          <a:solidFill>
            <a:srgbClr val="F4F1EA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9555480" y="5806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50" dirty="0"/>
          </a:p>
        </p:txBody>
      </p:sp>
      <p:sp>
        <p:nvSpPr>
          <p:cNvPr id="127" name="Shape 125"/>
          <p:cNvSpPr/>
          <p:nvPr/>
        </p:nvSpPr>
        <p:spPr>
          <a:xfrm>
            <a:off x="457200" y="6080760"/>
            <a:ext cx="41148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28" name="Text 126"/>
          <p:cNvSpPr/>
          <p:nvPr/>
        </p:nvSpPr>
        <p:spPr>
          <a:xfrm>
            <a:off x="594360" y="6080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Rockhopper bridge stream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4572000" y="6080760"/>
            <a:ext cx="21031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30" name="Text 128"/>
          <p:cNvSpPr/>
          <p:nvPr/>
        </p:nvSpPr>
        <p:spPr>
          <a:xfrm>
            <a:off x="4709160" y="6080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/ day</a:t>
            </a:r>
            <a:endParaRPr lang="en-US" sz="1050" dirty="0"/>
          </a:p>
        </p:txBody>
      </p:sp>
      <p:sp>
        <p:nvSpPr>
          <p:cNvPr id="131" name="Shape 129"/>
          <p:cNvSpPr/>
          <p:nvPr/>
        </p:nvSpPr>
        <p:spPr>
          <a:xfrm>
            <a:off x="6675120" y="6080760"/>
            <a:ext cx="27432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6812280" y="6080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50/min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9418320" y="6080760"/>
            <a:ext cx="24688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34" name="Text 132"/>
          <p:cNvSpPr/>
          <p:nvPr/>
        </p:nvSpPr>
        <p:spPr>
          <a:xfrm>
            <a:off x="9555480" y="6080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78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$10</a:t>
            </a:r>
            <a:endParaRPr lang="en-US" sz="1050" dirty="0"/>
          </a:p>
        </p:txBody>
      </p:sp>
      <p:sp>
        <p:nvSpPr>
          <p:cNvPr id="135" name="Text 133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key in localStorage skips the meter for all rows.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37" name="Text 1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138" name="Text 13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WORKFLOWS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 — assembled from widgets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chains several widgets into a single useful task. Token cost = sum of widget costs, with bundle discounts for common chains.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3657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965960"/>
            <a:ext cx="3657600" cy="54864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Hero-shot pipeline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679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/ MARKETING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3017520"/>
            <a:ext cx="310896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22960" y="3200400"/>
            <a:ext cx="256032" cy="256032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STEP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611880"/>
            <a:ext cx="256032" cy="256032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Auto-explode (slider)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023360"/>
            <a:ext cx="256032" cy="256032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Parenting → Part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4434840"/>
            <a:ext cx="256032" cy="256032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Render (4 angles)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4846320"/>
            <a:ext cx="256032" cy="256032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296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export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5623560"/>
            <a:ext cx="3108960" cy="457200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14400" y="5669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~600 </a:t>
            </a:r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$CYCLE  </a:t>
            </a:r>
            <a:pPr indent="0" marL="0">
              <a:buNone/>
            </a:pPr>
            <a:r>
              <a:rPr lang="en-US" sz="1000" i="1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-15% bundle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51960" y="1965960"/>
            <a:ext cx="3657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251960" y="1965960"/>
            <a:ext cx="36576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5262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Manufacturability scan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26280" y="2679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26280" y="3017520"/>
            <a:ext cx="310896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572000" y="3200400"/>
            <a:ext cx="256032" cy="25603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57200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STEP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3611880"/>
            <a:ext cx="256032" cy="25603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57200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3776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Soft-limit / envelope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4023360"/>
            <a:ext cx="256032" cy="25603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57200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3776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Analyst (bolted joint)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0" y="4434840"/>
            <a:ext cx="256032" cy="25603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57200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3776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McMaster fastener match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0" y="4846320"/>
            <a:ext cx="256032" cy="25603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57200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3776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on issues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26280" y="5623560"/>
            <a:ext cx="3108960" cy="457200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663440" y="5669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~250 </a:t>
            </a:r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$CYCLE  </a:t>
            </a:r>
            <a:pPr indent="0" marL="0">
              <a:buNone/>
            </a:pPr>
            <a:r>
              <a:rPr lang="en-US" sz="1000" i="1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-10% bundle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001000" y="1965960"/>
            <a:ext cx="3657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8001000" y="1965960"/>
            <a:ext cx="3657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27532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 → Sim → Send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8275320" y="2679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275320" y="3017520"/>
            <a:ext cx="310896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8321040" y="320040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832104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68680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STEP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321040" y="361188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832104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68680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toolpath gen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321040" y="402336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832104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68680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G-code post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443484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832104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68680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Pentacad sim playback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321040" y="484632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832104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68680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Rockhopper send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275320" y="5623560"/>
            <a:ext cx="3108960" cy="457200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8412480" y="5669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~400 </a:t>
            </a:r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$CYCLE  </a:t>
            </a:r>
            <a:pPr indent="0" marL="0">
              <a:buNone/>
            </a:pPr>
            <a:r>
              <a:rPr lang="en-US" sz="1000" i="1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-20% bundle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AI COMPOSER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 composes the workflow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describes the goal in natural language. AI picks the widgets, calculates the token cost, asks for approval, runs.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53568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011680"/>
            <a:ext cx="3535680" cy="54864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24028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User describes the goal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2987040" cy="1371600"/>
          </a:xfrm>
          <a:prstGeom prst="rect">
            <a:avLst/>
          </a:prstGeom>
          <a:solidFill>
            <a:srgbClr val="F4F1EA"/>
          </a:solidFill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017520"/>
            <a:ext cx="271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a hero shot of the V2-50 with the tool engaged, plus a BOM. For our spring catalogue."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English. No widget knowledge required.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298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cycleCAD AI Copilot panel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ExplodeView chatbot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Pentacad CAM assistant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Programmatic API for agents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12920" y="2011680"/>
            <a:ext cx="353568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312920" y="2011680"/>
            <a:ext cx="35356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87240" y="224028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AI plans + estimates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87240" y="2834640"/>
            <a:ext cx="2987040" cy="237744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24400" y="2926080"/>
            <a:ext cx="225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load STEP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05600" y="2926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4400" y="3200400"/>
            <a:ext cx="225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camera-parent → tool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05600" y="3200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24400" y="3474720"/>
            <a:ext cx="225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AI Render (Gemini)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05600" y="3474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24400" y="3749040"/>
            <a:ext cx="225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Hero shot capture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05600" y="3749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24400" y="4023360"/>
            <a:ext cx="225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BOM export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05600" y="4023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24400" y="4297680"/>
            <a:ext cx="225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05600" y="4297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24400" y="4572000"/>
            <a:ext cx="225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Bundle discount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05600" y="4572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−56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24400" y="4846320"/>
            <a:ext cx="225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B188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0560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3B188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504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87240" y="530352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shown BEFORE running. User sees cost up front.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87240" y="5669280"/>
            <a:ext cx="298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504 $CYCLE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workflow · run later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plan · ask AI to adjust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68640" y="2011680"/>
            <a:ext cx="353568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8168640" y="2011680"/>
            <a:ext cx="3535680" cy="54864"/>
          </a:xfrm>
          <a:prstGeom prst="rect">
            <a:avLst/>
          </a:prstGeom>
          <a:solidFill>
            <a:srgbClr val="03B188"/>
          </a:solidFill>
          <a:ln w="12700">
            <a:solidFill>
              <a:srgbClr val="03B188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442960" y="224028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Meter + run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442960" y="2880360"/>
            <a:ext cx="29870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user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meter checks balance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504 debited on completion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Receipt logged to ledger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Failed steps refund partial
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(programmatic)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meter, same receipt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Per-call API key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Hits the same widget surface
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(super user)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 tokens charged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Workflow runs immediately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Receipt still logged for audit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BUILDER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Assembling your own workflow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canvas (or programmatic JSON) chains widgets. AI agents emit workflows. Users save + share + sell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3657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965960"/>
            <a:ext cx="3657600" cy="54864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builder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widgets onto canvas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outputs → inputs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token-cost estimate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named workflow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link or sell on marketplace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1965960"/>
            <a:ext cx="3657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251960" y="1965960"/>
            <a:ext cx="36576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2628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Programmatic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26280" y="274320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cycleCAD.workflow.run({ steps: […] })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step: { widget, params, on: { event, next } }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or parallel branches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from failure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token meter applies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01000" y="1965960"/>
            <a:ext cx="3657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01000" y="1965960"/>
            <a:ext cx="3657600" cy="54864"/>
          </a:xfrm>
          <a:prstGeom prst="rect">
            <a:avLst/>
          </a:prstGeom>
          <a:solidFill>
            <a:srgbClr val="03B188"/>
          </a:solidFill>
          <a:ln w="12700">
            <a:solidFill>
              <a:srgbClr val="03B18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7532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Agent-emitted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75320" y="274320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composes a chain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check shows total cost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approves → runs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logged to audit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widget surface as humans use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ADMIN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/ super-access bypass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the system. The token meter never charges admin keys. Audit trail still records every call.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486400" cy="4297680"/>
          </a:xfrm>
          <a:prstGeom prst="rect">
            <a:avLst/>
          </a:prstGeom>
          <a:solidFill>
            <a:srgbClr val="1B2228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bypass works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Admin key set once via
</a:t>
            </a:r>
            <a:pPr indent="0" marL="0">
              <a:buNone/>
            </a:pPr>
            <a:r>
              <a:rPr lang="en-US" sz="1200" dirty="0">
                <a:solidFill>
                  <a:srgbClr val="03B188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  PentacadSimApp.setAdminKey('rk_…')
</a:t>
            </a:r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Stored in localStorage with HMAC
</a:t>
            </a:r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against your wallet keypair
</a:t>
            </a:r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Every widget call passes through
</a:t>
            </a:r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the meter. Admin keys → cost = 0
</a:t>
            </a:r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Receipts STILL written to ledger
</a:t>
            </a:r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with actor = admin_root
</a:t>
            </a:r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Revoke from wallet console
</a:t>
            </a:r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(lost device, key rotation)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4864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17920" y="1965960"/>
            <a:ext cx="54864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is safe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free access — every call still logged with actor = admin_root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admin keys allowed (one per device, easy revocation)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filterable: "show all admin-bypass calls in the last 7 days"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Customer-visible: their own admin key for their own 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tier ships with org-admin keys for free use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tooling: testing, demos, support reproductions all bypass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SOC-2 record of every privileged action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MARKETPLACE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· external buyers + creators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tokens, sell widgets, list workflows. The marketplace is just another widget on top of the meter.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27203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965960"/>
            <a:ext cx="2720340" cy="54864"/>
          </a:xfrm>
          <a:prstGeom prst="rect">
            <a:avLst/>
          </a:prstGeom>
          <a:solidFill>
            <a:srgbClr val="03B188"/>
          </a:solidFill>
          <a:ln w="12700">
            <a:solidFill>
              <a:srgbClr val="03B18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03B188"/>
          </a:solidFill>
          <a:ln w="12700">
            <a:solidFill>
              <a:srgbClr val="03B18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258568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21717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widget, workflow, or model.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70-90% creator royalty.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14700" y="1965960"/>
            <a:ext cx="27203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314700" y="1965960"/>
            <a:ext cx="2720340" cy="54864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543300" y="2194560"/>
            <a:ext cx="502920" cy="50292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5433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83380" y="2258568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89020" y="2880360"/>
            <a:ext cx="21717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/ search by tag, role, price.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 run free for 30s.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1965960"/>
            <a:ext cx="27203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126480" y="1965960"/>
            <a:ext cx="27203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55080" y="219456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55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2258568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2880360"/>
            <a:ext cx="21717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/ USDC / ETH.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land in wallet instantly.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38260" y="1965960"/>
            <a:ext cx="27203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938260" y="1965960"/>
            <a:ext cx="27203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166860" y="219456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1668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806940" y="2258568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212580" y="2880360"/>
            <a:ext cx="21717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debited per call.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Auto-top-up on subscription plans.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4526280"/>
            <a:ext cx="11247120" cy="1691640"/>
          </a:xfrm>
          <a:prstGeom prst="rect">
            <a:avLst/>
          </a:prstGeom>
          <a:solidFill>
            <a:srgbClr val="1B2228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3152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economics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call: 90% to creator   </a:t>
            </a:r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marketplace takes 10%
</a:t>
            </a:r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call: 70% to chain authors   </a:t>
            </a:r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split proportional to widget cost
</a:t>
            </a:r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workflow: 50% to author of the prompt   </a:t>
            </a:r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remainder to underlying widgets
</a:t>
            </a:r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Withdraw: USD via Stripe payout · USDC / ETH for crypto wallets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DATA 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data moves between apps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server. Apps share state via URL hash, localStorage, postMessage, the widget bus, and the token ledger.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12471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874520"/>
            <a:ext cx="73152" cy="8229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19476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URL hash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#m=v2-50&amp;g=&lt;base64&gt;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011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deep-link. Any app can link to any other with a payload.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112471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761488"/>
            <a:ext cx="73152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2834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localStorage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32186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pentacad.sim.state.v0_4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28986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 session restore: machine, gcode, tool overrides, admin key.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48456"/>
            <a:ext cx="112471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648456"/>
            <a:ext cx="73152" cy="822960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1520" y="37216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postMessage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" y="410565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AFA9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parent ↔ iframe sim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378561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Pentacad reads state from its iframe; sim broadcasts move events.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535424"/>
            <a:ext cx="112471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4535424"/>
            <a:ext cx="73152" cy="822960"/>
          </a:xfrm>
          <a:prstGeom prst="rect">
            <a:avLst/>
          </a:prstGeom>
          <a:solidFill>
            <a:srgbClr val="03B188"/>
          </a:solidFill>
          <a:ln w="12700">
            <a:solidFill>
              <a:srgbClr val="03B18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31520" y="46085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Widget bus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1520" y="49926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B188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widget.on('change', fn)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960" y="467258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event bus inside each app — widgets stay decoupled.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422392"/>
            <a:ext cx="112471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5422392"/>
            <a:ext cx="73152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31520" y="54955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ledger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31520" y="58795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POST /api/meter (or local)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08960" y="55595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balance check + post-debit receipt for every paid widget.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DEPLOY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push deploys everything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Pages workflow rebuilds the static site. Three apps + shared widgets ship together.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2377440" cy="1463040"/>
          </a:xfrm>
          <a:prstGeom prst="rect">
            <a:avLst/>
          </a:prstGeom>
          <a:solidFill>
            <a:srgbClr val="FFFFFF"/>
          </a:solidFill>
          <a:ln w="16510">
            <a:solidFill>
              <a:srgbClr val="6E778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" y="2194560"/>
            <a:ext cx="2377440" cy="73152"/>
          </a:xfrm>
          <a:prstGeom prst="rect">
            <a:avLst/>
          </a:prstGeom>
          <a:solidFill>
            <a:srgbClr val="6E7780"/>
          </a:solidFill>
          <a:ln w="12700">
            <a:solidFill>
              <a:srgbClr val="6E778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push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3154680" y="2761488"/>
            <a:ext cx="329184" cy="329184"/>
          </a:xfrm>
          <a:prstGeom prst="rtTriangle">
            <a:avLst/>
          </a:prstGeom>
          <a:solidFill>
            <a:srgbClr val="D6D9DD"/>
          </a:solidFill>
          <a:ln w="1270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20440" y="2194560"/>
            <a:ext cx="2377440" cy="1463040"/>
          </a:xfrm>
          <a:prstGeom prst="rect">
            <a:avLst/>
          </a:prstGeom>
          <a:solidFill>
            <a:srgbClr val="FFFFFF"/>
          </a:solidFill>
          <a:ln w="1651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520440" y="2194560"/>
            <a:ext cx="23774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70332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0332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concurrency: cancel-in-progress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5943600" y="2761488"/>
            <a:ext cx="329184" cy="329184"/>
          </a:xfrm>
          <a:prstGeom prst="rtTriangle">
            <a:avLst/>
          </a:prstGeom>
          <a:solidFill>
            <a:srgbClr val="D6D9DD"/>
          </a:solidFill>
          <a:ln w="1270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309360" y="2194560"/>
            <a:ext cx="2377440" cy="1463040"/>
          </a:xfrm>
          <a:prstGeom prst="rect">
            <a:avLst/>
          </a:prstGeom>
          <a:solidFill>
            <a:srgbClr val="FFFFFF"/>
          </a:solidFill>
          <a:ln w="1651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309360" y="2194560"/>
            <a:ext cx="2377440" cy="73152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9224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732520" y="2761488"/>
            <a:ext cx="329184" cy="329184"/>
          </a:xfrm>
          <a:prstGeom prst="rtTriangle">
            <a:avLst/>
          </a:prstGeom>
          <a:solidFill>
            <a:srgbClr val="D6D9DD"/>
          </a:solidFill>
          <a:ln w="1270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098280" y="2194560"/>
            <a:ext cx="2377440" cy="1463040"/>
          </a:xfrm>
          <a:prstGeom prst="rect">
            <a:avLst/>
          </a:prstGeom>
          <a:solidFill>
            <a:srgbClr val="FFFFFF"/>
          </a:solidFill>
          <a:ln w="16510">
            <a:solidFill>
              <a:srgbClr val="03B188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098280" y="2194560"/>
            <a:ext cx="2377440" cy="73152"/>
          </a:xfrm>
          <a:prstGeom prst="rect">
            <a:avLst/>
          </a:prstGeom>
          <a:solidFill>
            <a:srgbClr val="03B188"/>
          </a:solidFill>
          <a:ln w="12700">
            <a:solidFill>
              <a:srgbClr val="03B18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28116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cyclecad.com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8116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+ /app + /docs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112471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57200" y="4114800"/>
            <a:ext cx="11247120" cy="54864"/>
          </a:xfrm>
          <a:prstGeom prst="rect">
            <a:avLst/>
          </a:prstGeom>
          <a:solidFill>
            <a:srgbClr val="03B188"/>
          </a:solidFill>
          <a:ln w="12700">
            <a:solidFill>
              <a:srgbClr val="03B18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endpoints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1520" y="47091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cyclecad.com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landing + product pages
</a:t>
            </a:r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cyclecad.com/app/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cycleCAD modeller
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cyclecad.com/app/pentacad.html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Pentacad full app (umbrella)
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cyclecad.com/app/pentacad-sim.html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Pentacad simulator (standalone)
</a:t>
            </a:r>
            <a:pPr indent="0" marL="0">
              <a:buNone/>
            </a:pPr>
            <a:r>
              <a:rPr lang="en-US" sz="1200" b="1" dirty="0">
                <a:solidFill>
                  <a:srgbClr val="3AAFA9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explodeview.com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ExplodeView (separate repo)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B2228"/>
          </a:solidFill>
          <a:ln w="12700">
            <a:solidFill>
              <a:srgbClr val="1B22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ROLLOUT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Suggested rollout order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ships independently. The token meter and admin bypass go in early so every later widget plugs in cleanly.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27203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965960"/>
            <a:ext cx="2720340" cy="54864"/>
          </a:xfrm>
          <a:prstGeom prst="rect">
            <a:avLst/>
          </a:prstGeom>
          <a:solidFill>
            <a:srgbClr val="03B188"/>
          </a:solidFill>
          <a:ln w="12700">
            <a:solidFill>
              <a:srgbClr val="03B18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194560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3B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NOW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21717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 + Cam Nav + Meter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3154680"/>
            <a:ext cx="217170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291840"/>
            <a:ext cx="21717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Pentacad-sim nav into /shared/cam-nav.js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/shared/theme.css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token meter (no charges yet)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bypass via localStorage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4700" y="1965960"/>
            <a:ext cx="27203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314700" y="1965960"/>
            <a:ext cx="27203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89020" y="2194560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NEXT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89020" y="2514600"/>
            <a:ext cx="21717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primitives + Tests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89020" y="3154680"/>
            <a:ext cx="217170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589020" y="3291840"/>
            <a:ext cx="21717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· Modal · Popover · Dropzone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Bare-page demos for every widget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Per-widget test runner online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Penta-nav top bar in all 3 apps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965960"/>
            <a:ext cx="27203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126480" y="1965960"/>
            <a:ext cx="27203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0" y="2194560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LATER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2514600"/>
            <a:ext cx="21717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economy live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0" y="3154680"/>
            <a:ext cx="217170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3291840"/>
            <a:ext cx="21717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+ USDC payout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meter goes paid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builder UI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listing flow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38260" y="1965960"/>
            <a:ext cx="27203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D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938260" y="1965960"/>
            <a:ext cx="2720340" cy="54864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212580" y="2194560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FUTURE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12580" y="2514600"/>
            <a:ext cx="21717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Designer + Production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212580" y="3154680"/>
            <a:ext cx="217170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212580" y="3291840"/>
            <a:ext cx="21717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 slider + AI Render graduate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+ annotations as shared widgets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Rockhopper bridge widget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Jog-pad + pendant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D6D9D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AI-FIRST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are the primary user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still click the UI. But every widget is built first as a callable tool an AI agent can drive — same surface, same meter, same audit trail.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59664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975104"/>
            <a:ext cx="3596640" cy="4151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2103120"/>
            <a:ext cx="304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AI-first now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3048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CAD agents already work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MecAgent ($3M seed) — copilot for SolidWorks
• Aurorin (YC W26) — text-to-CAD desktop
• AgentCAD — agent infrastructure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
The interface battle is over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keyboard + mouse can’t scale to thousands of design ops/day
• Agents already script CAM, generative design, simulation
• If the tool isn’t agent-ready, it loses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
Our bet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agent-callable widgets first. Humans get the same surface as a UI.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82440" y="1920240"/>
            <a:ext cx="359664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282440" y="1975104"/>
            <a:ext cx="3596640" cy="4151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56760" y="2103120"/>
            <a:ext cx="304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surface, three callers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56760" y="2560320"/>
            <a:ext cx="3048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</a:rPr>
              <a:t>Human  →  click in app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Toast / modal / panel UI
• Token meter charges per call
• Receipt logged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AI agent  →  MCP tool call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cycleCAD-suite.widget.cam-nav.snap
• Same params as UI passes
• Same meter, per-key token bucket
• Receipt logged with actor=agent_*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</a:rPr>
              <a:t>Admin  →  bypass key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localStorage HMAC 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 tokens charged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Receipt STILL logged for audit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7680" y="1920240"/>
            <a:ext cx="35966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107680" y="1975104"/>
            <a:ext cx="3596640" cy="4151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82000" y="2103120"/>
            <a:ext cx="304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unlocks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82000" y="2560320"/>
            <a:ext cx="3048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Programmatic 3D design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Text-to-CAD pipelines
• Batch parametric studies
• Auto BOM + costing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
Autonomous manufacturing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 CAM, post, simulate, send — unattended
• DFM checks before commit
• Self-healing toolpaths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
Multi-agent workflows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Designer agent + reviewer agent + machinist agent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pays its own meter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Composable, auditable, replayable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WIDGET  =  MCP TOOL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widget is an MCP tool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microkernel — a 200-line loader + meter. Each widget is an ESM plugin that the same kernel exposes as both a UI element and an MCP tool to AI agents.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0292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975104"/>
            <a:ext cx="5029200" cy="415137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20848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widget contract — IS the MCP tool spec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14600"/>
            <a:ext cx="44805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// /widgets/cam-nav.js  — 1 file, 1 export
</a:t>
            </a:r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export async function </a:t>
            </a:r>
            <a:pPr indent="0" marL="0">
              <a:buNone/>
            </a:pPr>
            <a:r>
              <a:rPr lang="en-US" sz="1000" dirty="0">
                <a:solidFill>
                  <a:srgbClr val="F0ABFC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init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(opts) {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// …mount Three.js, viewcube, screenshot…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return {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  api: {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    snap(face),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// "front" | "iso" | …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    screenshot(opts),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// → png blob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    setProjection(p)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// "perspective" | "ortho"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  },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  on(event, fn),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// "change" | "snap" | …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  destroy()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};
}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// Same module, exposed as MCP server:
</a:t>
            </a:r>
            <a:pPr indent="0" marL="0">
              <a:buNone/>
            </a:pPr>
            <a:r>
              <a:rPr lang="en-US" sz="1000" dirty="0">
                <a:solidFill>
                  <a:srgbClr val="F0ABFC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kernel.exposeAsMcp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("cam-nav", {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tools: ["snap", "screenshot", "setProjection"],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meter: meter.charge,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audit: ledger.append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2468880"/>
            <a:ext cx="3383280" cy="3383280"/>
          </a:xfrm>
          <a:prstGeom prst="ellipse">
            <a:avLst/>
          </a:prstGeom>
          <a:ln w="12700">
            <a:solidFill>
              <a:srgbClr val="E5E7EB"/>
            </a:solidFill>
            <a:prstDash val="dash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55280" y="3337560"/>
            <a:ext cx="1645920" cy="1645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955280" y="33375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92AB"/>
                </a:solidFill>
              </a:rPr>
              <a:t>KERNEL
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loader
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meter
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75320" y="2267712"/>
            <a:ext cx="10058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75320" y="226771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cam-nav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740323" y="3113532"/>
            <a:ext cx="10058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740323" y="311353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dro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40323" y="4805172"/>
            <a:ext cx="10058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740323" y="480517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ai-render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75320" y="5650992"/>
            <a:ext cx="10058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D4A84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75320" y="565099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gcode-editor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10317" y="4805172"/>
            <a:ext cx="10058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10317" y="480517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explode-slider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0317" y="3113532"/>
            <a:ext cx="10058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810317" y="311353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playback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58978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kernel. Same widgets.
</a:t>
            </a:r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as 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plugin</a:t>
            </a:r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Exposed as 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</a:t>
            </a:r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Metered + audited identically.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AGENT FRAMEWORK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agent loop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natural-language goal becomes a metered, audited, executable plan. The same surface serves the AI Copilot panel, autonomous agents, and programmatic clients.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78308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975104"/>
            <a:ext cx="1783080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06654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prompt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2004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"Hero shot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V2-50 + BOM"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2244852" y="2880360"/>
            <a:ext cx="109728" cy="274320"/>
          </a:xfrm>
          <a:prstGeom prst="rightTriangle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359152" y="1920240"/>
            <a:ext cx="178308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359152" y="1975104"/>
            <a:ext cx="1783080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359152" y="206654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359152" y="251460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359152" y="2834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picks tools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96312" y="32004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cam-nav.snap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ai-render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bom-export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rot="5400000">
            <a:off x="4146804" y="2880360"/>
            <a:ext cx="109728" cy="274320"/>
          </a:xfrm>
          <a:prstGeom prst="rightTriangle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261104" y="1920240"/>
            <a:ext cx="178308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261104" y="1975104"/>
            <a:ext cx="1783080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261104" y="206654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261104" y="251460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61104" y="2834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98264" y="32004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504 $CYCLE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(bundle −56)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rot="5400000">
            <a:off x="6048756" y="2880360"/>
            <a:ext cx="109728" cy="274320"/>
          </a:xfrm>
          <a:prstGeom prst="rightTriangle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163056" y="1920240"/>
            <a:ext cx="1783080" cy="54864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163056" y="1975104"/>
            <a:ext cx="1783080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163056" y="206654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AF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163056" y="251460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63056" y="2834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or auto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0216" y="32004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agent budget OK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 rot="5400000">
            <a:off x="7950708" y="2880360"/>
            <a:ext cx="109728" cy="274320"/>
          </a:xfrm>
          <a:prstGeom prst="rightTriangle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8065008" y="1920240"/>
            <a:ext cx="17830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065008" y="1975104"/>
            <a:ext cx="1783080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065008" y="206654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8065008" y="251460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065008" y="2834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runs steps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02168" y="32004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→ invoke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collect → return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rot="5400000">
            <a:off x="9852660" y="2880360"/>
            <a:ext cx="109728" cy="274320"/>
          </a:xfrm>
          <a:prstGeom prst="rightTriangle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9966960" y="1920240"/>
            <a:ext cx="1783080" cy="54864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9966960" y="1975104"/>
            <a:ext cx="1783080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966960" y="206654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9966960" y="251460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Receipt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966960" y="2834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log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104120" y="32004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tx_•••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/ cost / hash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434840"/>
            <a:ext cx="359664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457200" y="4489704"/>
            <a:ext cx="3596640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40080" y="4572000"/>
            <a:ext cx="323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Callers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0080" y="4983480"/>
            <a:ext cx="3230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AI Copilot panel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in-app chat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Claude / ChatGPT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via MCP server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Local LLM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Ollama, llama.cpp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Custom agent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REST / WebSocket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CI / scheduler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cron-style runs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282440" y="4434840"/>
            <a:ext cx="359664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4282440" y="4489704"/>
            <a:ext cx="3596640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465320" y="4572000"/>
            <a:ext cx="323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primitives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465320" y="4983480"/>
            <a:ext cx="3230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tool registry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manifest of every widget + cost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planner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LLM with retrieval over registry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meter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pre-flight + post-debit + bypass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executor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sequential or fan-out, retries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ledger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hash-chained receipts, replayable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162544" y="4434840"/>
            <a:ext cx="35966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162544" y="4489704"/>
            <a:ext cx="3596640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8345424" y="4572000"/>
            <a:ext cx="323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properties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345424" y="4983480"/>
            <a:ext cx="3230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Deterministic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same plan, same result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Auditable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every call has a receipt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Replayable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ledger → re-execute on new data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Composable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workflows are first-class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Sandboxed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each widget owns its DOM + memory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3D DESIGN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for 3D design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concrete agent loops shipping inside cycleCAD + ExplodeView. Each is a workflow of widgets — composable, metered, replayable.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62712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975104"/>
            <a:ext cx="3627120" cy="19339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2084832"/>
            <a:ext cx="316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TEXT-TO-CAD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316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→ parametric model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" y="2880360"/>
            <a:ext cx="316992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"M8 flange, 80mm OD, 4 bolt holes on Ø60 PCD" → matchTemplate() resolves geometry → real CSG holes → feature tree.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451860"/>
            <a:ext cx="316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ai-copilot · sketch · ops.hole · feature-tree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67200" y="1920240"/>
            <a:ext cx="36271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67200" y="1975104"/>
            <a:ext cx="3627120" cy="19339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95800" y="2084832"/>
            <a:ext cx="316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95800" y="2377440"/>
            <a:ext cx="316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 editing, live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495800" y="2880360"/>
            <a:ext cx="316992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5mm fillet to the top edge" → Copilot picks the fillet widget, locates the edge, executes, logs receipt.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95800" y="3451860"/>
            <a:ext cx="316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planner · ops.fillet · meter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77200" y="1920240"/>
            <a:ext cx="3627120" cy="54864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077200" y="1975104"/>
            <a:ext cx="3627120" cy="19339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05800" y="2084832"/>
            <a:ext cx="316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INFER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05800" y="2377440"/>
            <a:ext cx="316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Reverse-engineer constraints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05800" y="2880360"/>
            <a:ext cx="316992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design variants → infer parametric drivers → produce one model with sliders. Saves a day per family.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05800" y="3451860"/>
            <a:ext cx="316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reverse-engineer · params · sketch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137660"/>
            <a:ext cx="362712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4192524"/>
            <a:ext cx="3627120" cy="19339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85800" y="4302252"/>
            <a:ext cx="316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ANALYST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4594860"/>
            <a:ext cx="316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Bolted joint / gear / shaft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85800" y="5097780"/>
            <a:ext cx="316992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problem → analytical core (pure math, no LLM) → KaTeX report with citations. 28/28 tests vs MecAgent + Shigley.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5669280"/>
            <a:ext cx="316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ai-engineer · KaTeX · RAG citations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67200" y="4137660"/>
            <a:ext cx="36271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267200" y="4192524"/>
            <a:ext cx="3627120" cy="19339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495800" y="4302252"/>
            <a:ext cx="316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→ CAD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95800" y="4594860"/>
            <a:ext cx="316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 photo → model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495800" y="5097780"/>
            <a:ext cx="316992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an existing part → vision model classifies → geometry hypothesis → editable parametric output.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95800" y="5669280"/>
            <a:ext cx="316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vision · template-match · sketch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77200" y="4137660"/>
            <a:ext cx="3627120" cy="54864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8077200" y="4192524"/>
            <a:ext cx="3627120" cy="19339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305800" y="4302252"/>
            <a:ext cx="316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05800" y="4594860"/>
            <a:ext cx="316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Auto-critique any model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8305800" y="5097780"/>
            <a:ext cx="316992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heuristics + DFM rules + AI narration → A-F score with per-issue fix suggestions. Feeds Copilot back in.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05800" y="5669280"/>
            <a:ext cx="316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validate · analysis · ai-narrate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MANUFACTURE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for manufacturing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Pentacad + the Rockhopper bridge close the loop from CAD to chip. Agents drive every step — CAM strategy, simulation, post, send, monitor.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176272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2020824"/>
            <a:ext cx="2176272" cy="1408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10312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gen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7889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picks contour / pocket / adaptive / drill from feature tree. Tool + feeds from material.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5400000">
            <a:off x="2635301" y="2606040"/>
            <a:ext cx="82296" cy="201168"/>
          </a:xfrm>
          <a:prstGeom prst="rightTriangle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724912" y="1965960"/>
            <a:ext cx="2176272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724912" y="2020824"/>
            <a:ext cx="2176272" cy="1408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907792" y="210312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07792" y="23774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feedback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07792" y="27889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Soft-limit, envelope, collision, undercut. Flagged before post — caught at design time.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4903013" y="2606040"/>
            <a:ext cx="82296" cy="201168"/>
          </a:xfrm>
          <a:prstGeom prst="rightTriangle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992624" y="1965960"/>
            <a:ext cx="2176272" cy="54864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992624" y="2020824"/>
            <a:ext cx="2176272" cy="1408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175504" y="210312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75504" y="23774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Post-processor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75504" y="27889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Pentamachine V2 dialect: G20 imperial, G93 inverse-time, G54, 4-decimal. Deterministic.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rot="5400000">
            <a:off x="7170725" y="2606040"/>
            <a:ext cx="82296" cy="201168"/>
          </a:xfrm>
          <a:prstGeom prst="rightTriangle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260336" y="1965960"/>
            <a:ext cx="2176272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260336" y="2020824"/>
            <a:ext cx="2176272" cy="1408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443216" y="210312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43216" y="23774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Simulator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43216" y="27889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kinematics for V1 / V2-10 / V2-50 / Solo. Toolpath rendered, soft-limits enforced.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rot="5400000">
            <a:off x="9438437" y="2606040"/>
            <a:ext cx="82296" cy="201168"/>
          </a:xfrm>
          <a:prstGeom prst="rightTriangle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528048" y="1965960"/>
            <a:ext cx="2176272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528048" y="2020824"/>
            <a:ext cx="2176272" cy="1408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710928" y="210312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710928" y="23774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Rockhopper stream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710928" y="27889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to LinuxCNC. Jog, home, run, pause, abort. DRO at 30 Hz. Auto-reconnect.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657600"/>
            <a:ext cx="3596640" cy="54864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57200" y="3712464"/>
            <a:ext cx="3596640" cy="264261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85800" y="384048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RENDER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" y="416052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in 30 seconds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85800" y="4709160"/>
            <a:ext cx="3139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Preservation-first prompt → Gemini Nano-Banana → photoreal product render. Same model preserved across N scenes for a catalogue run.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309872" y="3657600"/>
            <a:ext cx="359664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4309872" y="3712464"/>
            <a:ext cx="3596640" cy="264261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538472" y="384048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AGENT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38472" y="416052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 BOM + sourcing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538472" y="4709160"/>
            <a:ext cx="3139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feature tree → identify fasteners + standards (DIN/ISO) → query McMaster / Misumi → unit price + lead time. Receipt logged.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162544" y="3657600"/>
            <a:ext cx="3596640" cy="54864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8162544" y="3712464"/>
            <a:ext cx="3596640" cy="264261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391144" y="384048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 AGENT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391144" y="416052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Field-tech narration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391144" y="4709160"/>
            <a:ext cx="3139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assembly in ExplodeView AR → AI narrates parts, failure modes, replacement intervals. Service report auto-exported.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DATA LAYER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· files · cache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Postgres schema, same S3-API surface, both topologies. Postgres holds the ledger and identity. Object store holds 3D models and AI renders. Redis dedups LLM calls.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70891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975104"/>
            <a:ext cx="2708910" cy="4151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084832"/>
            <a:ext cx="2343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23431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234315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users · tenants · api_keys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ledger (hash-chained, append-only)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workflows · workflow_runs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widget_registry · prices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audit (filterable by actor/time)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234315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92040"/>
            <a:ext cx="234315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</a:rPr>
              <a:t>SaaS ·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Neon · Supabase · RDS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234315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</a:rPr>
              <a:t>DOCKER ·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postgres:16 in compose · pgdata volume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03270" y="1920240"/>
            <a:ext cx="270891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303270" y="1975104"/>
            <a:ext cx="2708910" cy="4151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486150" y="2084832"/>
            <a:ext cx="2343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86150" y="2377440"/>
            <a:ext cx="23431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 (S3 API)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86150" y="2880360"/>
            <a:ext cx="234315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tenants/&lt;id&gt;/models/*.step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tenants/&lt;id&gt;/models/*.glb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tenants/&lt;id&gt;/renders/*.png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tenants/&lt;id&gt;/gcode/*.ngc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tenants/&lt;id&gt;/uploads/*
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86150" y="4800600"/>
            <a:ext cx="234315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486150" y="4892040"/>
            <a:ext cx="234315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</a:rPr>
              <a:t>SaaS ·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Cloudflare R2 (free egress)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86150" y="5440680"/>
            <a:ext cx="234315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</a:rPr>
              <a:t>DOCKER ·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minio:latest · /data volume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49340" y="1920240"/>
            <a:ext cx="2708910" cy="54864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149340" y="1975104"/>
            <a:ext cx="2708910" cy="4151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332220" y="2084832"/>
            <a:ext cx="2343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32220" y="2377440"/>
            <a:ext cx="23431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+ sessions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32220" y="2880360"/>
            <a:ext cx="234315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LLM response cache (10% discount)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AI Render dedup (24 h)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session tokens (web only)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meter rate limits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workflow run state
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32220" y="4800600"/>
            <a:ext cx="234315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32220" y="4892040"/>
            <a:ext cx="234315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</a:rPr>
              <a:t>SaaS ·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Upstash Redis serverless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32220" y="5440680"/>
            <a:ext cx="234315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</a:rPr>
              <a:t>DOCKER ·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redis:7 in compose · ephemeral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995410" y="1920240"/>
            <a:ext cx="270891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995410" y="1975104"/>
            <a:ext cx="2708910" cy="4151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178290" y="2084832"/>
            <a:ext cx="2343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78290" y="2377440"/>
            <a:ext cx="23431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· vector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78290" y="2880360"/>
            <a:ext cx="234315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widget + workflow search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marketplace listings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RAG over docs (engineering)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embeddings (MiniLM-L6)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Postgres pgvector or Meilisearch
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178290" y="4800600"/>
            <a:ext cx="234315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178290" y="4892040"/>
            <a:ext cx="234315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</a:rPr>
              <a:t>SaaS ·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Postgres pgvector (start)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178290" y="5440680"/>
            <a:ext cx="234315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</a:rPr>
              <a:t>DOCKER ·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Same · grow into Meili if needed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5943600"/>
            <a:ext cx="11247120" cy="411480"/>
          </a:xfrm>
          <a:prstGeom prst="roundRect">
            <a:avLst>
              <a:gd name="adj" fmla="val 17778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schema both deploys.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exports from SaaS  →  imports to self-hosted Docker  →  zero migration work.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SECURITY  &amp;  ACL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· roles · ACL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widget call passes through the meter — server-side. Balance, role, and per-widget ACL all checked before invoking. Clients never gate themselves; the kernel enforces.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50926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975104"/>
            <a:ext cx="5509260" cy="200253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084832"/>
            <a:ext cx="51435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51435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calling?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51435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OAuth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(Google · GitHub) — humans on cyclecad.com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API keys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per-user, per-agent, scoped + revocable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Admin HMAC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localStorage, bypass meter, still audited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SSO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(SAML · OIDC) — enterprise self-hosted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Service accounts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— machine-to-machine agents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5060" y="1920240"/>
            <a:ext cx="550926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95060" y="1975104"/>
            <a:ext cx="5509260" cy="200253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77940" y="2084832"/>
            <a:ext cx="51435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77940" y="2377440"/>
            <a:ext cx="51435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— hierarchical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77940" y="2880360"/>
            <a:ext cx="868680" cy="16459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77940" y="2880360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38060" y="2871216"/>
            <a:ext cx="41833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free tier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77940" y="3081528"/>
            <a:ext cx="868680" cy="164592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77940" y="3081528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38060" y="3072384"/>
            <a:ext cx="41833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render · export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77940" y="3282696"/>
            <a:ext cx="868680" cy="1645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377940" y="3282696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38060" y="3273552"/>
            <a:ext cx="41833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· sim · analysis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77940" y="3483864"/>
            <a:ext cx="868680" cy="16459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377940" y="348386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38060" y="3474720"/>
            <a:ext cx="41833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· audit · users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77940" y="3685032"/>
            <a:ext cx="868680" cy="16459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77940" y="3685032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38060" y="3675888"/>
            <a:ext cx="41833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· tenant config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160520"/>
            <a:ext cx="550926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57200" y="4215384"/>
            <a:ext cx="5509260" cy="19110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0080" y="4325112"/>
            <a:ext cx="51435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FLOW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617720"/>
            <a:ext cx="5143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Per-widget gating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0080" y="5074920"/>
            <a:ext cx="51435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1. Caller hits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POST /api/meter/charge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
2. Resolve identity → role · tenant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3. Look up widget ACL: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minRole · cost · quota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
4. Check balance · role ≥ minRole · quota OK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5. Debit · invoke widget · collect result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6. Workflows: </a:t>
            </a:r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</a:rPr>
              <a:t>most-restrictive widget wins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95060" y="4160520"/>
            <a:ext cx="55092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195060" y="4215384"/>
            <a:ext cx="5509260" cy="19110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377940" y="4325112"/>
            <a:ext cx="51435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77940" y="4617720"/>
            <a:ext cx="5143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Hash-chained ledger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377940" y="5074920"/>
            <a:ext cx="5143500" cy="10058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515100" y="5148072"/>
            <a:ext cx="48691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{ ts: "2026-04-26T11:53Z",
</a:t>
            </a:r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actor: "u_sachin", role: "owner",
</a:t>
            </a:r>
            <a:pPr indent="0" marL="0">
              <a:buNone/>
            </a:pPr>
            <a:r>
              <a:rPr lang="en-US" sz="900" dirty="0">
                <a:solidFill>
                  <a:srgbClr val="F0ABFC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widget: "ai-render.scene",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cost: 500, balance: 8420,
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prev_hash: "sha256:…",
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  hash: "sha256:…" }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DEPLOY MODES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· Docker · Embedded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kernel, three topologies. Test the whole system locally on Docker, sell access on the web, embed inside partner products. One source of truth, three audiences.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59664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975104"/>
            <a:ext cx="3596640" cy="41970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2084832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cyclecad.com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" y="283464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users · agents · marketplace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200400"/>
            <a:ext cx="3139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 apps  →  Cloudflare Pages / GitHub Pages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Meter  →  small VPS (Fly · Railway · Hetzner)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  →  Neon / Supabase managed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 store  →  Cloudflare R2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Redis  →  Upstash serverless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 →  OAuth (Google · GitHub)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Secrets  →  cloud secrets manager
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5440680"/>
            <a:ext cx="3139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85800" y="553212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install   ✓ instant access   ✓ usage-based billing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580644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internet   ✗ data crosses our boundary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82440" y="1920240"/>
            <a:ext cx="35966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282440" y="1975104"/>
            <a:ext cx="3596640" cy="41970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11040" y="2084832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self-host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11040" y="2377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compose up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11040" y="283464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· enterprise · air-gapped shops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11040" y="3200400"/>
            <a:ext cx="3139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docker-compose.yml  →  one-command boot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apps  →  nginx:alpine (3 routes)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meter  →  node:20 (Fastify)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bridge  →  python:3.11 (Rockhopper)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postgres:16  →  pgdata volume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minio:latest  →  S3-compatible /data volume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redis:7  →  optional cache
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11040" y="5440680"/>
            <a:ext cx="3139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11040" y="553212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 stays on-prem   ✓ full-stack tested   ✓ SSO/SAML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11040" y="580644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customer ops burden   ✗ slower update cadence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07680" y="1920240"/>
            <a:ext cx="359664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107680" y="1975104"/>
            <a:ext cx="3596640" cy="41970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336280" y="2084832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· iframe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36280" y="2377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integrations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336280" y="283464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another product · tutorials · CAD plugins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36280" y="3200400"/>
            <a:ext cx="3139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&lt;iframe src="cyclecad.com/embed/..."&gt;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postMessage  ↔  parent app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meter  →  parent provides API key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widget OR full app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Restricted widget set per host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Branded skin via theme override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DB / files of its own
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36280" y="5440680"/>
            <a:ext cx="3139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336280" y="553212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ship fast   ✓ no maintenance   ✓ revenue split with host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36280" y="580644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limited UI surface   ✗ host controls UX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943600"/>
            <a:ext cx="11247120" cy="411480"/>
          </a:xfrm>
          <a:prstGeom prst="roundRect">
            <a:avLst>
              <a:gd name="adj" fmla="val 17778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on Docker (the whole stack runs locally)  ·  ship to web (paid SaaS)  ·  embed via iframe for partners.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FIT MATRIX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we’re building. What we’re skipping.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read on architecture patterns at our scale (solo founder · static deploy · 2 backend services · agent-first widgets). The growth path says when each “no” becomes “yes”.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41148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1874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0" y="1874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03920" y="1874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when…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2286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Microkernel + plugin widgets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239115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37560" y="239115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2331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what we have. 200-line kernel + lazy ESM widgets. Solo-dev friendly. Hot-swap, replace one piece at a time.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66760" y="23317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Always. This is the foundation.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11247120" cy="50292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" y="3291840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2788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= MCP tool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37560" y="289407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337560" y="28940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06240" y="28346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contract serves humans and agents. No second integration to maintain. AI-first thesis becomes real, not marketing.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66760" y="28346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Always. Ship now.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080" y="3291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37560" y="339699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337560" y="339699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06240" y="3337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 holds 3 apps + kernel + widgets + meter + bridge. Polyrepo would fragment ownership at our size.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66760" y="33375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product only if a separate team owns it end-to-end.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3794760"/>
            <a:ext cx="11247120" cy="50292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57200" y="4297680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0080" y="3794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Service-oriented (2 services)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337560" y="389991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337560" y="389991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06240" y="38404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(Fastify) + bridge (Python). Clear contracts. Not “microservices” — that’s overselling 2 services.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366760" y="38404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3rd only when a real CPU or team boundary appears.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4800600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40080" y="4297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Polyrepo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337560" y="440283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337560" y="44028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06240" y="4343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Premature. Would duplicate loader + theme + meter across N repos and slow a solo founder.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366760" y="43434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teams, ≥10 engineers, divergent release cadences.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4800600"/>
            <a:ext cx="11247120" cy="50292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57200" y="5303520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40080" y="4800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337560" y="490575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337560" y="490575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206240" y="4846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`docker compose up` deploys both services on a $5/mo VPS. K8s is 100x ops cost for 10x scale we don’t have.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366760" y="48463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~10k concurrent users · multi-region · or compliance demands it.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40080" y="5303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event streaming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337560" y="540867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3337560" y="54086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206240" y="5349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volume is request/response, not millions/sec. Postgres `INSERT INTO ledger` is enough.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366760" y="53492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Multi-machine fleet telemetry — try NATS first, Kafka if it chokes.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457200" y="6309360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40080" y="5806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heavy DevOps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337560" y="591159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337560" y="591159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206240" y="58521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`git push origin main` works. Static deploy. No tests blocking merges.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8366760" y="58521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contributor lands · or test suite &gt; 30s · or paying customers.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57200" y="6281928"/>
            <a:ext cx="11247120" cy="201168"/>
          </a:xfrm>
          <a:prstGeom prst="roundRect">
            <a:avLst>
              <a:gd name="adj" fmla="val 18182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731520" y="6281928"/>
            <a:ext cx="10698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the loop you have, not the scale you fantasize.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Microkernel + MCP + monorepo today.  Replace one piece at a time as load demands it.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22860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286000"/>
            <a:ext cx="164592" cy="2286000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4069080"/>
            <a:ext cx="164592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55448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apps. One stack.</a:t>
            </a:r>
            <a:endParaRPr lang="en-US" sz="4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widget for sale.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model. Designers present. Production builds. Tokens move between them.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48646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$CYCLE — pay-per-widget · pay-per-workflow · admin runs free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3B188"/>
                </a:solidFill>
                <a:latin typeface="Menlo" pitchFamily="34" charset="0"/>
                <a:ea typeface="Consolas" pitchFamily="34" charset="-122"/>
                <a:cs typeface="Consolas" pitchFamily="34" charset="-120"/>
              </a:rPr>
              <a:t>cyclecad.com  ·  github.com/vvlars-cmd/cyclecad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KERNEL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kernel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studs every widget snaps onto. Four files. ~200 lines of plumbing. Nothing else lives here.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688336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883664"/>
            <a:ext cx="2688336" cy="3694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" y="1993392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LOADER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224028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shared/loader.js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68296" y="2286000"/>
            <a:ext cx="594360" cy="201168"/>
          </a:xfrm>
          <a:prstGeom prst="roundRect">
            <a:avLst>
              <a:gd name="adj" fmla="val 45455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368296" y="22860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lines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792" y="2606040"/>
            <a:ext cx="2359152" cy="5943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3232" y="267919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loadWidget(name, opts)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{api, on, destroy}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40156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86384" y="3337560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ESM import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86384" y="3721608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Manifest-driven preload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16966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86384" y="4105656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Hot-replace in dev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55371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86384" y="4489704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to weak-map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0128" y="1828800"/>
            <a:ext cx="2688336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310128" y="1883664"/>
            <a:ext cx="2688336" cy="3694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474720" y="1993392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METER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0" y="224028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shared/meter.js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21224" y="2286000"/>
            <a:ext cx="594360" cy="201168"/>
          </a:xfrm>
          <a:prstGeom prst="roundRect">
            <a:avLst>
              <a:gd name="adj" fmla="val 45455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221224" y="22860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lines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74720" y="2606040"/>
            <a:ext cx="2359152" cy="5943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566160" y="267919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meter.charge(widget,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method, params)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93008" y="340156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639312" y="3337560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Pre-flight: balance · role · ACL · quota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93008" y="378561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639312" y="3721608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Post-debit + receipt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93008" y="416966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639312" y="4105656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HMAC bypass (audit-only)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93008" y="455371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639312" y="4489704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 if server unreachable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63056" y="1828800"/>
            <a:ext cx="2688336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163056" y="1883664"/>
            <a:ext cx="2688336" cy="3694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327648" y="1993392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+ TOKENS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27648" y="224028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shared/theme.css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074152" y="2286000"/>
            <a:ext cx="594360" cy="201168"/>
          </a:xfrm>
          <a:prstGeom prst="roundRect">
            <a:avLst>
              <a:gd name="adj" fmla="val 45455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074152" y="22860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lines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327648" y="2606040"/>
            <a:ext cx="2359152" cy="5943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419088" y="267919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--ink, --gold, --teal,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--emerald, --purple, …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45936" y="3401568"/>
            <a:ext cx="91440" cy="9144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492240" y="3337560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brand colors as CSS vars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45936" y="3785616"/>
            <a:ext cx="91440" cy="9144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492240" y="3721608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tokens (Georgia/Calibri/Menlo)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45936" y="4169664"/>
            <a:ext cx="91440" cy="9144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492240" y="4105656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scale (4 / 8 / 16 / 24)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345936" y="4553712"/>
            <a:ext cx="91440" cy="9144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492240" y="4489704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JavaScript — pure CSS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015984" y="1828800"/>
            <a:ext cx="2688336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9015984" y="1883664"/>
            <a:ext cx="2688336" cy="36941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9180576" y="1993392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PRIMITIVES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180576" y="224028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shared/ui-primitives.js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0927080" y="2286000"/>
            <a:ext cx="594360" cy="201168"/>
          </a:xfrm>
          <a:prstGeom prst="roundRect">
            <a:avLst>
              <a:gd name="adj" fmla="val 45455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10927080" y="22860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lines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180576" y="2606040"/>
            <a:ext cx="2359152" cy="5943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9272016" y="267919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Toast.show(msg, kind)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Modal.open({title,body})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198864" y="340156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9345168" y="3337560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— non-blocking notice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198864" y="37856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9345168" y="3721608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— confirm / dialog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198864" y="416966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9345168" y="4105656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Popover — anchored tooltip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9198864" y="455371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9345168" y="4489704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Dropzone — drag-drop overlay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" y="5742432"/>
            <a:ext cx="11247120" cy="530352"/>
          </a:xfrm>
          <a:prstGeom prst="roundRect">
            <a:avLst>
              <a:gd name="adj" fmla="val 13793"/>
            </a:avLst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40080" y="5742432"/>
            <a:ext cx="10881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WIDGET GETS  </a:t>
            </a:r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mount()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charge(method, params)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tokens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/ Modal / Popover</a:t>
            </a:r>
            <a:pPr indent="0" marL="0">
              <a:buNone/>
            </a:pPr>
            <a:r>
              <a:rPr lang="en-US" sz="10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nothing else.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/ REQUEST 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a request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path for a human click, an agent MCP call, an API curl. The kernel is the only enforcement point — clients never gate themselves.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60604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929384"/>
            <a:ext cx="2606040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" y="2039112"/>
            <a:ext cx="530352" cy="530352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039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3317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· agent ·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6974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 ·  MCP tool  ·  POST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67812" y="2834640"/>
            <a:ext cx="155448" cy="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27832" y="187452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227832" y="1929384"/>
            <a:ext cx="2606040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410712" y="2039112"/>
            <a:ext cx="530352" cy="53035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10712" y="2039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096512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96512" y="23317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10712" y="26974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· API key · admin HMAC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38444" y="2834640"/>
            <a:ext cx="155448" cy="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998464" y="1874520"/>
            <a:ext cx="2606040" cy="54864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998464" y="1929384"/>
            <a:ext cx="2606040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181344" y="2039112"/>
            <a:ext cx="530352" cy="530352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181344" y="2039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67144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67144" y="23317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tenant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81344" y="26974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· designer · engineer · admin · owner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609076" y="2834640"/>
            <a:ext cx="155448" cy="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769096" y="1874520"/>
            <a:ext cx="260604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769096" y="1929384"/>
            <a:ext cx="2606040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951976" y="2039112"/>
            <a:ext cx="530352" cy="53035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951976" y="2039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637776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37776" y="23317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check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951976" y="26974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≥ cost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≥ minRole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OK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09376" y="3813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57200" y="406908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57200" y="4123944"/>
            <a:ext cx="2606040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40080" y="4233672"/>
            <a:ext cx="530352" cy="53035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40080" y="4233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325880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Invoke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325880" y="45262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sandbox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" y="48920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widget.api[method](params)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067812" y="5029200"/>
            <a:ext cx="155448" cy="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3227832" y="4069080"/>
            <a:ext cx="260604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3227832" y="4123944"/>
            <a:ext cx="2606040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3410712" y="4233672"/>
            <a:ext cx="530352" cy="530352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3410712" y="4233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096512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096512" y="45262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10712" y="48920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blob · bool · …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838444" y="5029200"/>
            <a:ext cx="155448" cy="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5998464" y="4069080"/>
            <a:ext cx="260604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5998464" y="4123944"/>
            <a:ext cx="2606040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6181344" y="4233672"/>
            <a:ext cx="530352" cy="53035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181344" y="4233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6867144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Debit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67144" y="45262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ledger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181344" y="48920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→ balance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chain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609076" y="5029200"/>
            <a:ext cx="155448" cy="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8769096" y="4069080"/>
            <a:ext cx="2606040" cy="54864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8769096" y="4123944"/>
            <a:ext cx="2606040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8951976" y="4233672"/>
            <a:ext cx="530352" cy="530352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8951976" y="4233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9637776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Receipt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637776" y="45262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+ audit log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951976" y="48920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tx_2k4j…  ·  hash:b2c1…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769096" y="3831336"/>
            <a:ext cx="2606040" cy="201168"/>
          </a:xfrm>
          <a:prstGeom prst="roundRect">
            <a:avLst>
              <a:gd name="adj" fmla="val 22727"/>
            </a:avLst>
          </a:prstGeom>
          <a:solidFill>
            <a:srgbClr val="E11D48">
              <a:alpha val="20000"/>
            </a:srgbClr>
          </a:solidFill>
          <a:ln w="12700">
            <a:solidFill>
              <a:srgbClr val="E11D48"/>
            </a:solidFill>
            <a:prstDash val="dash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8769096" y="383133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DENY → 403 + audit row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7200" y="617220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path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human · AI agent · API client.  Token meter is the single enforcement point.  Every call (allowed OR denied) writes a hash-chained audit row.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/ $CYCLE 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Architecture · v1.3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$CYCLE — how the token moves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through 4 sources. Through the wallet. Out through 4 sinks. Royalties loop back to creators. Admin bypass logs but doesn’t debit.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194560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3317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 checkout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· EUR — 1k / 10k / 100k packs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3182112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3192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USDC / ETH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639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without bank accounts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123944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4169664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43068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top-up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6268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/ Enterprise auto-credit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111496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5157216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52943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earnings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6144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sell, get $CYCLE back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03320" y="18288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2432304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703320" y="237744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703320" y="26060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balance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03320" y="288036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8,420</a:t>
            </a:r>
            <a:endParaRPr lang="en-US" sz="5600" dirty="0"/>
          </a:p>
        </p:txBody>
      </p:sp>
      <p:sp>
        <p:nvSpPr>
          <p:cNvPr id="31" name="Text 29"/>
          <p:cNvSpPr/>
          <p:nvPr/>
        </p:nvSpPr>
        <p:spPr>
          <a:xfrm>
            <a:off x="3703320" y="37947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$CYCLE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86200" y="4297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ledger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· verifiable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03320" y="5303520"/>
            <a:ext cx="2697480" cy="594360"/>
          </a:xfrm>
          <a:prstGeom prst="roundRect">
            <a:avLst>
              <a:gd name="adj" fmla="val 9231"/>
            </a:avLst>
          </a:prstGeom>
          <a:solidFill>
            <a:srgbClr val="F9FAFB"/>
          </a:solidFill>
          <a:ln w="12700">
            <a:solidFill>
              <a:srgbClr val="E11D48"/>
            </a:solidFill>
            <a:prstDash val="dash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840480" y="5349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BYPASS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0  ·  receipt still hash-chained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HMAC key  ·  per-device  ·  revocable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03720" y="1828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03720" y="21488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903720" y="2194560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086600" y="23317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Widget call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8660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· 5 · 50 · 500 $CYCLE per call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03720" y="3136392"/>
            <a:ext cx="27432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903720" y="3182112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086600" y="33192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run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86600" y="3639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widget costs − bundle disc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03720" y="4123944"/>
            <a:ext cx="274320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903720" y="4169664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086600" y="43068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buy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086600" y="46268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model · widget · workflow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03720" y="5111496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903720" y="5157216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086600" y="52943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hit  (10 % off)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086600" y="56144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auto-discount on repeat call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46120" y="3657600"/>
            <a:ext cx="411480" cy="0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6446520" y="3657600"/>
            <a:ext cx="411480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8275320" y="5943600"/>
            <a:ext cx="0" cy="274320"/>
          </a:xfrm>
          <a:prstGeom prst="line">
            <a:avLst/>
          </a:prstGeom>
          <a:noFill/>
          <a:ln w="19050">
            <a:solidFill>
              <a:srgbClr val="D4A843"/>
            </a:solidFill>
            <a:prstDash val="dash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828800" y="6172200"/>
            <a:ext cx="644652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dash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1828800" y="5897880"/>
            <a:ext cx="0" cy="274320"/>
          </a:xfrm>
          <a:prstGeom prst="line">
            <a:avLst/>
          </a:prstGeom>
          <a:noFill/>
          <a:ln w="19050">
            <a:solidFill>
              <a:srgbClr val="D4A843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5029200" y="6062472"/>
            <a:ext cx="2103120" cy="219456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029200" y="606247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royalties — 70-90 % back to creators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cycleCAD Suite — Architecture</dc:title>
  <dc:subject>PptxGenJS Presentation</dc:subject>
  <dc:creator>Sachin Kumar</dc:creator>
  <cp:lastModifiedBy>Sachin Kumar</cp:lastModifiedBy>
  <cp:revision>1</cp:revision>
  <dcterms:created xsi:type="dcterms:W3CDTF">2026-04-26T08:08:10Z</dcterms:created>
  <dcterms:modified xsi:type="dcterms:W3CDTF">2026-04-26T08:08:10Z</dcterms:modified>
</cp:coreProperties>
</file>