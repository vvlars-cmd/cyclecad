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9144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cycleCAD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731520" y="17373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284C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Architecture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OS for Manufacturing — built for AI agents, connected fabs, and a global creator economy.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3200400"/>
            <a:ext cx="1920240" cy="914400"/>
          </a:xfrm>
          <a:prstGeom prst="roundRect">
            <a:avLst>
              <a:gd name="adj" fmla="val 10000"/>
            </a:avLst>
          </a:prstGeom>
          <a:solidFill>
            <a:srgbClr val="172554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3200400"/>
            <a:ext cx="1920240" cy="54864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33756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84C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731520" y="37490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Modules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834640" y="3200400"/>
            <a:ext cx="1920240" cy="914400"/>
          </a:xfrm>
          <a:prstGeom prst="roundRect">
            <a:avLst>
              <a:gd name="adj" fmla="val 10000"/>
            </a:avLst>
          </a:prstGeom>
          <a:solidFill>
            <a:srgbClr val="172554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34640" y="3200400"/>
            <a:ext cx="1920240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3" name="Text 11"/>
          <p:cNvSpPr/>
          <p:nvPr/>
        </p:nvSpPr>
        <p:spPr>
          <a:xfrm>
            <a:off x="2834640" y="333756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5966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40K+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2834640" y="37490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of JS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937760" y="3200400"/>
            <a:ext cx="1920240" cy="914400"/>
          </a:xfrm>
          <a:prstGeom prst="roundRect">
            <a:avLst>
              <a:gd name="adj" fmla="val 10000"/>
            </a:avLst>
          </a:prstGeom>
          <a:solidFill>
            <a:srgbClr val="172554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37760" y="3200400"/>
            <a:ext cx="1920240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7" name="Text 15"/>
          <p:cNvSpPr/>
          <p:nvPr/>
        </p:nvSpPr>
        <p:spPr>
          <a:xfrm>
            <a:off x="4937760" y="333756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55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4937760" y="37490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API Cmds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040880" y="3200400"/>
            <a:ext cx="1920240" cy="914400"/>
          </a:xfrm>
          <a:prstGeom prst="roundRect">
            <a:avLst>
              <a:gd name="adj" fmla="val 10000"/>
            </a:avLst>
          </a:prstGeom>
          <a:solidFill>
            <a:srgbClr val="172554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040880" y="3200400"/>
            <a:ext cx="192024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1" name="Text 19"/>
          <p:cNvSpPr/>
          <p:nvPr/>
        </p:nvSpPr>
        <p:spPr>
          <a:xfrm>
            <a:off x="7040880" y="333756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770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7040880" y="37490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Services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4389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sachin@cyclewash.de  |  cyclecad.com  |  March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cycleCAD Architecture  ·  Confidential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High-Level Architecture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8229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Browser-native platform. Zero install. Agent-first. Connected to manufacturing.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7863840" cy="822960"/>
          </a:xfrm>
          <a:prstGeom prst="roundRect">
            <a:avLst>
              <a:gd name="adj" fmla="val 11111"/>
            </a:avLst>
          </a:prstGeom>
          <a:solidFill>
            <a:srgbClr val="F8FAFC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1481328"/>
            <a:ext cx="1645920" cy="274320"/>
          </a:xfrm>
          <a:prstGeom prst="roundRect">
            <a:avLst>
              <a:gd name="adj" fmla="val 20000"/>
            </a:avLst>
          </a:prstGeom>
          <a:solidFill>
            <a:srgbClr val="0284C7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148132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&amp; AGENTS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" y="182880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Humans (Voice/Chat/UI)  ·  AI Agent Swarms (API)  ·  Connected Fabs (Webhooks)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2423160"/>
            <a:ext cx="7863840" cy="822960"/>
          </a:xfrm>
          <a:prstGeom prst="roundRect">
            <a:avLst>
              <a:gd name="adj" fmla="val 11111"/>
            </a:avLst>
          </a:prstGeom>
          <a:solidFill>
            <a:srgbClr val="F8FAFC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7240" y="2532888"/>
            <a:ext cx="1645920" cy="27432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25328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CORE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7240" y="288036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CAD Engine  ·  Agent API  ·  Token Engine  ·  Marketplace  ·  CAM Pipeline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474720"/>
            <a:ext cx="7863840" cy="822960"/>
          </a:xfrm>
          <a:prstGeom prst="roundRect">
            <a:avLst>
              <a:gd name="adj" fmla="val 11111"/>
            </a:avLst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7240" y="3584448"/>
            <a:ext cx="1645920" cy="274320"/>
          </a:xfrm>
          <a:prstGeom prst="roundRect">
            <a:avLst>
              <a:gd name="adj" fmla="val 20000"/>
            </a:avLst>
          </a:prstGeom>
          <a:solidFill>
            <a:srgbClr val="7C3AED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58444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" y="39319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Three.js r170  ·  ES Modules (CDN)  ·  Docker  ·  STEP Converter  ·  MCP / CLI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343400" y="2212848"/>
            <a:ext cx="228600" cy="182880"/>
          </a:xfrm>
          <a:prstGeom prst="downArrow">
            <a:avLst/>
          </a:prstGeom>
          <a:solidFill>
            <a:srgbClr val="94A3B8"/>
          </a:solidFill>
          <a:ln/>
        </p:spPr>
      </p:sp>
      <p:sp>
        <p:nvSpPr>
          <p:cNvPr id="20" name="Shape 18"/>
          <p:cNvSpPr/>
          <p:nvPr/>
        </p:nvSpPr>
        <p:spPr>
          <a:xfrm>
            <a:off x="4343400" y="3264408"/>
            <a:ext cx="228600" cy="182880"/>
          </a:xfrm>
          <a:prstGeom prst="downArrow">
            <a:avLst/>
          </a:prstGeom>
          <a:solidFill>
            <a:srgbClr val="94A3B8"/>
          </a:solidFill>
          <a:ln/>
        </p:spPr>
      </p:sp>
      <p:sp>
        <p:nvSpPr>
          <p:cNvPr id="21" name="Shape 19"/>
          <p:cNvSpPr/>
          <p:nvPr/>
        </p:nvSpPr>
        <p:spPr>
          <a:xfrm>
            <a:off x="640080" y="4434840"/>
            <a:ext cx="7863840" cy="274320"/>
          </a:xfrm>
          <a:prstGeom prst="roundRect">
            <a:avLst>
              <a:gd name="adj" fmla="val 20000"/>
            </a:avLst>
          </a:prstGeom>
          <a:solidFill>
            <a:srgbClr val="EFF6FF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443484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Integration:  MCP Server  ·  REST API  ·  WebSocket  ·  CLI Tool  ·  Webhooks (Connected Fabs)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cycleCAD Architecture  ·  Confidential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Agent-First Architecture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8229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human directs 100 AI agents. Every feature accessible via JSON-RPC API. MCP-native.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274320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463040"/>
            <a:ext cx="1554480" cy="27432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INTERFACE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77240" y="1874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Voice Commands (Web Speech API)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77240" y="2176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Chat (NL → Agent API)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77240" y="24780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GUI (Three.js Viewport)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77240" y="277977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Parametric Templates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566160" y="1371600"/>
            <a:ext cx="201168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49040" y="1463040"/>
            <a:ext cx="1097280" cy="274320"/>
          </a:xfrm>
          <a:prstGeom prst="roundRect">
            <a:avLst>
              <a:gd name="adj" fmla="val 20000"/>
            </a:avLst>
          </a:prstGeom>
          <a:solidFill>
            <a:srgbClr val="0284C7"/>
          </a:solidFill>
          <a:ln/>
        </p:spPr>
      </p:sp>
      <p:sp>
        <p:nvSpPr>
          <p:cNvPr id="16" name="Text 14"/>
          <p:cNvSpPr/>
          <p:nvPr/>
        </p:nvSpPr>
        <p:spPr>
          <a:xfrm>
            <a:off x="3749040" y="14630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API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703320" y="182880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commands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namespaces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JSON-RPC protocol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Self-describing schema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 endpoint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852160" y="1371600"/>
            <a:ext cx="274320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89320" y="1463040"/>
            <a:ext cx="1554480" cy="274320"/>
          </a:xfrm>
          <a:prstGeom prst="roundRect">
            <a:avLst>
              <a:gd name="adj" fmla="val 20000"/>
            </a:avLst>
          </a:prstGeom>
          <a:solidFill>
            <a:srgbClr val="7C3AED"/>
          </a:solidFill>
          <a:ln/>
        </p:spPr>
      </p:sp>
      <p:sp>
        <p:nvSpPr>
          <p:cNvPr id="20" name="Text 18"/>
          <p:cNvSpPr/>
          <p:nvPr/>
        </p:nvSpPr>
        <p:spPr>
          <a:xfrm>
            <a:off x="5989320" y="1463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 SWARMS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080760" y="1874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Geometry Agent (shape.*)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080760" y="2176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Validation Agent (validate.*)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080760" y="24780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DFM / Cost Agent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080760" y="277977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Marketplace Agent (publish)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310128" y="2148840"/>
            <a:ext cx="228600" cy="182880"/>
          </a:xfrm>
          <a:prstGeom prst="rightArrow">
            <a:avLst/>
          </a:prstGeom>
          <a:solidFill>
            <a:srgbClr val="94A3B8"/>
          </a:solidFill>
          <a:ln/>
        </p:spPr>
      </p:sp>
      <p:sp>
        <p:nvSpPr>
          <p:cNvPr id="26" name="Shape 24"/>
          <p:cNvSpPr/>
          <p:nvPr/>
        </p:nvSpPr>
        <p:spPr>
          <a:xfrm>
            <a:off x="5596128" y="2148840"/>
            <a:ext cx="228600" cy="182880"/>
          </a:xfrm>
          <a:prstGeom prst="rightArrow">
            <a:avLst/>
          </a:prstGeom>
          <a:solidFill>
            <a:srgbClr val="94A3B8"/>
          </a:solidFill>
          <a:ln/>
        </p:spPr>
      </p:sp>
      <p:sp>
        <p:nvSpPr>
          <p:cNvPr id="27" name="Shape 25"/>
          <p:cNvSpPr/>
          <p:nvPr/>
        </p:nvSpPr>
        <p:spPr>
          <a:xfrm>
            <a:off x="548640" y="3474720"/>
            <a:ext cx="8046720" cy="1188720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1520" y="3566160"/>
            <a:ext cx="1645920" cy="274320"/>
          </a:xfrm>
          <a:prstGeom prst="roundRect">
            <a:avLst>
              <a:gd name="adj" fmla="val 20000"/>
            </a:avLst>
          </a:prstGeom>
          <a:solidFill>
            <a:srgbClr val="D97706"/>
          </a:solidFill>
          <a:ln/>
        </p:spPr>
      </p:sp>
      <p:sp>
        <p:nvSpPr>
          <p:cNvPr id="29" name="Text 27"/>
          <p:cNvSpPr/>
          <p:nvPr/>
        </p:nvSpPr>
        <p:spPr>
          <a:xfrm>
            <a:off x="731520" y="35661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LAYER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31520" y="3977640"/>
            <a:ext cx="91440" cy="54864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1" name="Text 29"/>
          <p:cNvSpPr/>
          <p:nvPr/>
        </p:nvSpPr>
        <p:spPr>
          <a:xfrm>
            <a:off x="896112" y="397764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96112" y="41879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Claude, GPT, any LLM connects natively as tool provider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743200" y="3977640"/>
            <a:ext cx="91440" cy="54864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34" name="Text 32"/>
          <p:cNvSpPr/>
          <p:nvPr/>
        </p:nvSpPr>
        <p:spPr>
          <a:xfrm>
            <a:off x="2907792" y="397764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Tool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2907792" y="41879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 commands from terminal, CI/CD, shell scripts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754880" y="3977640"/>
            <a:ext cx="91440" cy="5486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7" name="Text 35"/>
          <p:cNvSpPr/>
          <p:nvPr/>
        </p:nvSpPr>
        <p:spPr>
          <a:xfrm>
            <a:off x="4919472" y="397764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919472" y="41879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endpoint for any language, any platform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766560" y="3977640"/>
            <a:ext cx="91440" cy="5486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0" name="Text 38"/>
          <p:cNvSpPr/>
          <p:nvPr/>
        </p:nvSpPr>
        <p:spPr>
          <a:xfrm>
            <a:off x="6931152" y="397764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931152" y="41879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collaboration, streaming agent updates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cycleCAD Architecture  ·  Confidential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Map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8229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ES modules. Zero dependencies. All loaded via CDN import map. No build step.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1600200" cy="731520"/>
          </a:xfrm>
          <a:prstGeom prst="roundRect">
            <a:avLst>
              <a:gd name="adj" fmla="val 7500"/>
            </a:avLst>
          </a:prstGeom>
          <a:solidFill>
            <a:srgbClr val="F8FAFC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234440"/>
            <a:ext cx="1600200" cy="36576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9" name="Text 7"/>
          <p:cNvSpPr/>
          <p:nvPr/>
        </p:nvSpPr>
        <p:spPr>
          <a:xfrm>
            <a:off x="530352" y="132588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284C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viewport.js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530352" y="15270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751 lines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30352" y="1737360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2148840" y="1234440"/>
            <a:ext cx="1600200" cy="731520"/>
          </a:xfrm>
          <a:prstGeom prst="roundRect">
            <a:avLst>
              <a:gd name="adj" fmla="val 7500"/>
            </a:avLst>
          </a:prstGeom>
          <a:solidFill>
            <a:srgbClr val="F8FAFC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148840" y="1234440"/>
            <a:ext cx="1600200" cy="36576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4" name="Text 12"/>
          <p:cNvSpPr/>
          <p:nvPr/>
        </p:nvSpPr>
        <p:spPr>
          <a:xfrm>
            <a:off x="2221992" y="132588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284C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sketch.js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2221992" y="15270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899 lines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221992" y="1737360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840480" y="1234440"/>
            <a:ext cx="1600200" cy="731520"/>
          </a:xfrm>
          <a:prstGeom prst="roundRect">
            <a:avLst>
              <a:gd name="adj" fmla="val 7500"/>
            </a:avLst>
          </a:prstGeom>
          <a:solidFill>
            <a:srgbClr val="F8FAFC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0" y="1234440"/>
            <a:ext cx="1600200" cy="36576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9" name="Text 17"/>
          <p:cNvSpPr/>
          <p:nvPr/>
        </p:nvSpPr>
        <p:spPr>
          <a:xfrm>
            <a:off x="3913632" y="132588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284C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operations.js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913632" y="15270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1,078 lines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913632" y="1737360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5532120" y="1234440"/>
            <a:ext cx="1600200" cy="731520"/>
          </a:xfrm>
          <a:prstGeom prst="roundRect">
            <a:avLst>
              <a:gd name="adj" fmla="val 7500"/>
            </a:avLst>
          </a:prstGeom>
          <a:solidFill>
            <a:srgbClr val="F8FAFC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32120" y="1234440"/>
            <a:ext cx="1600200" cy="36576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24" name="Text 22"/>
          <p:cNvSpPr/>
          <p:nvPr/>
        </p:nvSpPr>
        <p:spPr>
          <a:xfrm>
            <a:off x="5605272" y="132588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284C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advanced-ops.js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605272" y="15270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763 lines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605272" y="1737360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7223760" y="1234440"/>
            <a:ext cx="1600200" cy="731520"/>
          </a:xfrm>
          <a:prstGeom prst="roundRect">
            <a:avLst>
              <a:gd name="adj" fmla="val 7500"/>
            </a:avLst>
          </a:prstGeom>
          <a:solidFill>
            <a:srgbClr val="F8FAFC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223760" y="1234440"/>
            <a:ext cx="1600200" cy="36576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29" name="Text 27"/>
          <p:cNvSpPr/>
          <p:nvPr/>
        </p:nvSpPr>
        <p:spPr>
          <a:xfrm>
            <a:off x="7296912" y="132588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284C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constraint-solver.js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7296912" y="15270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1,047 lines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7296912" y="1737360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57200" y="2057400"/>
            <a:ext cx="1600200" cy="731520"/>
          </a:xfrm>
          <a:prstGeom prst="roundRect">
            <a:avLst>
              <a:gd name="adj" fmla="val 7500"/>
            </a:avLst>
          </a:prstGeom>
          <a:solidFill>
            <a:srgbClr val="F8FAFC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7200" y="2057400"/>
            <a:ext cx="1600200" cy="36576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4" name="Text 32"/>
          <p:cNvSpPr/>
          <p:nvPr/>
        </p:nvSpPr>
        <p:spPr>
          <a:xfrm>
            <a:off x="530352" y="214884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assembly.js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530352" y="235000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1,103 lines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30352" y="2560320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2148840" y="2057400"/>
            <a:ext cx="1600200" cy="731520"/>
          </a:xfrm>
          <a:prstGeom prst="roundRect">
            <a:avLst>
              <a:gd name="adj" fmla="val 7500"/>
            </a:avLst>
          </a:prstGeom>
          <a:solidFill>
            <a:srgbClr val="F8FAFC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148840" y="2057400"/>
            <a:ext cx="1600200" cy="36576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9" name="Text 37"/>
          <p:cNvSpPr/>
          <p:nvPr/>
        </p:nvSpPr>
        <p:spPr>
          <a:xfrm>
            <a:off x="2221992" y="214884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tree.js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2221992" y="235000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479 lines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221992" y="2560320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3840480" y="2057400"/>
            <a:ext cx="1600200" cy="731520"/>
          </a:xfrm>
          <a:prstGeom prst="roundRect">
            <a:avLst>
              <a:gd name="adj" fmla="val 7500"/>
            </a:avLst>
          </a:prstGeom>
          <a:solidFill>
            <a:srgbClr val="F8FAFC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840480" y="2057400"/>
            <a:ext cx="1600200" cy="36576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4" name="Text 42"/>
          <p:cNvSpPr/>
          <p:nvPr/>
        </p:nvSpPr>
        <p:spPr>
          <a:xfrm>
            <a:off x="3913632" y="214884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params.js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913632" y="235000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523 lines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3913632" y="2560320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5532120" y="2057400"/>
            <a:ext cx="1600200" cy="731520"/>
          </a:xfrm>
          <a:prstGeom prst="roundRect">
            <a:avLst>
              <a:gd name="adj" fmla="val 7500"/>
            </a:avLst>
          </a:prstGeom>
          <a:solidFill>
            <a:srgbClr val="F8FAFC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532120" y="2057400"/>
            <a:ext cx="1600200" cy="36576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9" name="Text 47"/>
          <p:cNvSpPr/>
          <p:nvPr/>
        </p:nvSpPr>
        <p:spPr>
          <a:xfrm>
            <a:off x="5605272" y="214884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app.js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5605272" y="235000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794 lines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605272" y="2560320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7223760" y="2057400"/>
            <a:ext cx="1600200" cy="731520"/>
          </a:xfrm>
          <a:prstGeom prst="roundRect">
            <a:avLst>
              <a:gd name="adj" fmla="val 7500"/>
            </a:avLst>
          </a:prstGeom>
          <a:solidFill>
            <a:srgbClr val="F8FAFC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223760" y="2057400"/>
            <a:ext cx="1600200" cy="36576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54" name="Text 52"/>
          <p:cNvSpPr/>
          <p:nvPr/>
        </p:nvSpPr>
        <p:spPr>
          <a:xfrm>
            <a:off x="7296912" y="214884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shortcuts.js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7296912" y="235000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 lines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7296912" y="2560320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457200" y="2880360"/>
            <a:ext cx="1600200" cy="731520"/>
          </a:xfrm>
          <a:prstGeom prst="roundRect">
            <a:avLst>
              <a:gd name="adj" fmla="val 7500"/>
            </a:avLst>
          </a:prstGeom>
          <a:solidFill>
            <a:srgbClr val="F8FAFC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57200" y="2880360"/>
            <a:ext cx="1600200" cy="36576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59" name="Text 57"/>
          <p:cNvSpPr/>
          <p:nvPr/>
        </p:nvSpPr>
        <p:spPr>
          <a:xfrm>
            <a:off x="530352" y="297180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inventor-parser.js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530352" y="317296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1,138 lines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530352" y="3383280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I/O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2148840" y="2880360"/>
            <a:ext cx="1600200" cy="731520"/>
          </a:xfrm>
          <a:prstGeom prst="roundRect">
            <a:avLst>
              <a:gd name="adj" fmla="val 7500"/>
            </a:avLst>
          </a:prstGeom>
          <a:solidFill>
            <a:srgbClr val="F8FAFC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148840" y="2880360"/>
            <a:ext cx="1600200" cy="36576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64" name="Text 62"/>
          <p:cNvSpPr/>
          <p:nvPr/>
        </p:nvSpPr>
        <p:spPr>
          <a:xfrm>
            <a:off x="2221992" y="297180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dxf-export.js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2221992" y="317296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1,174 lines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2221992" y="3383280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I/O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840480" y="2880360"/>
            <a:ext cx="1600200" cy="731520"/>
          </a:xfrm>
          <a:prstGeom prst="roundRect">
            <a:avLst>
              <a:gd name="adj" fmla="val 7500"/>
            </a:avLst>
          </a:prstGeom>
          <a:solidFill>
            <a:srgbClr val="F8FAFC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3840480" y="2880360"/>
            <a:ext cx="1600200" cy="36576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69" name="Text 67"/>
          <p:cNvSpPr/>
          <p:nvPr/>
        </p:nvSpPr>
        <p:spPr>
          <a:xfrm>
            <a:off x="3913632" y="297180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export.js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3913632" y="317296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658 lines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3913632" y="3383280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I/O</a:t>
            </a:r>
            <a:endParaRPr lang="en-US" sz="750" dirty="0"/>
          </a:p>
        </p:txBody>
      </p:sp>
      <p:sp>
        <p:nvSpPr>
          <p:cNvPr id="72" name="Shape 70"/>
          <p:cNvSpPr/>
          <p:nvPr/>
        </p:nvSpPr>
        <p:spPr>
          <a:xfrm>
            <a:off x="5532120" y="2880360"/>
            <a:ext cx="1600200" cy="731520"/>
          </a:xfrm>
          <a:prstGeom prst="roundRect">
            <a:avLst>
              <a:gd name="adj" fmla="val 7500"/>
            </a:avLst>
          </a:prstGeom>
          <a:solidFill>
            <a:srgbClr val="F8FAFC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532120" y="2880360"/>
            <a:ext cx="1600200" cy="36576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74" name="Text 72"/>
          <p:cNvSpPr/>
          <p:nvPr/>
        </p:nvSpPr>
        <p:spPr>
          <a:xfrm>
            <a:off x="5605272" y="297180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reverse-engineer.js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5605272" y="317296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1,275 lines</a:t>
            </a:r>
            <a:endParaRPr lang="en-US" sz="900" dirty="0"/>
          </a:p>
        </p:txBody>
      </p:sp>
      <p:sp>
        <p:nvSpPr>
          <p:cNvPr id="76" name="Text 74"/>
          <p:cNvSpPr/>
          <p:nvPr/>
        </p:nvSpPr>
        <p:spPr>
          <a:xfrm>
            <a:off x="5605272" y="3383280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I/O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7223760" y="2880360"/>
            <a:ext cx="1600200" cy="731520"/>
          </a:xfrm>
          <a:prstGeom prst="roundRect">
            <a:avLst>
              <a:gd name="adj" fmla="val 7500"/>
            </a:avLst>
          </a:prstGeom>
          <a:solidFill>
            <a:srgbClr val="F8FAFC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7223760" y="2880360"/>
            <a:ext cx="1600200" cy="36576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79" name="Text 77"/>
          <p:cNvSpPr/>
          <p:nvPr/>
        </p:nvSpPr>
        <p:spPr>
          <a:xfrm>
            <a:off x="7296912" y="297180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project-loader.js</a:t>
            </a:r>
            <a:endParaRPr lang="en-US" sz="850" dirty="0"/>
          </a:p>
        </p:txBody>
      </p:sp>
      <p:sp>
        <p:nvSpPr>
          <p:cNvPr id="80" name="Text 78"/>
          <p:cNvSpPr/>
          <p:nvPr/>
        </p:nvSpPr>
        <p:spPr>
          <a:xfrm>
            <a:off x="7296912" y="317296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579 lines</a:t>
            </a:r>
            <a:endParaRPr lang="en-US" sz="900" dirty="0"/>
          </a:p>
        </p:txBody>
      </p:sp>
      <p:sp>
        <p:nvSpPr>
          <p:cNvPr id="81" name="Text 79"/>
          <p:cNvSpPr/>
          <p:nvPr/>
        </p:nvSpPr>
        <p:spPr>
          <a:xfrm>
            <a:off x="7296912" y="3383280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I/O</a:t>
            </a:r>
            <a:endParaRPr lang="en-US" sz="750" dirty="0"/>
          </a:p>
        </p:txBody>
      </p:sp>
      <p:sp>
        <p:nvSpPr>
          <p:cNvPr id="82" name="Shape 80"/>
          <p:cNvSpPr/>
          <p:nvPr/>
        </p:nvSpPr>
        <p:spPr>
          <a:xfrm>
            <a:off x="457200" y="3703320"/>
            <a:ext cx="1600200" cy="731520"/>
          </a:xfrm>
          <a:prstGeom prst="roundRect">
            <a:avLst>
              <a:gd name="adj" fmla="val 7500"/>
            </a:avLst>
          </a:prstGeom>
          <a:solidFill>
            <a:srgbClr val="F8FAFC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457200" y="3703320"/>
            <a:ext cx="1600200" cy="36576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4" name="Text 82"/>
          <p:cNvSpPr/>
          <p:nvPr/>
        </p:nvSpPr>
        <p:spPr>
          <a:xfrm>
            <a:off x="530352" y="379476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agent-api.js</a:t>
            </a:r>
            <a:endParaRPr lang="en-US" sz="850" dirty="0"/>
          </a:p>
        </p:txBody>
      </p:sp>
      <p:sp>
        <p:nvSpPr>
          <p:cNvPr id="85" name="Text 83"/>
          <p:cNvSpPr/>
          <p:nvPr/>
        </p:nvSpPr>
        <p:spPr>
          <a:xfrm>
            <a:off x="530352" y="399592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1,180 lines</a:t>
            </a:r>
            <a:endParaRPr lang="en-US" sz="900" dirty="0"/>
          </a:p>
        </p:txBody>
      </p:sp>
      <p:sp>
        <p:nvSpPr>
          <p:cNvPr id="86" name="Text 84"/>
          <p:cNvSpPr/>
          <p:nvPr/>
        </p:nvSpPr>
        <p:spPr>
          <a:xfrm>
            <a:off x="530352" y="4206240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750" dirty="0"/>
          </a:p>
        </p:txBody>
      </p:sp>
      <p:sp>
        <p:nvSpPr>
          <p:cNvPr id="87" name="Shape 85"/>
          <p:cNvSpPr/>
          <p:nvPr/>
        </p:nvSpPr>
        <p:spPr>
          <a:xfrm>
            <a:off x="2148840" y="3703320"/>
            <a:ext cx="1600200" cy="731520"/>
          </a:xfrm>
          <a:prstGeom prst="roundRect">
            <a:avLst>
              <a:gd name="adj" fmla="val 7500"/>
            </a:avLst>
          </a:prstGeom>
          <a:solidFill>
            <a:srgbClr val="F8FAFC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2148840" y="3703320"/>
            <a:ext cx="1600200" cy="36576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9" name="Text 87"/>
          <p:cNvSpPr/>
          <p:nvPr/>
        </p:nvSpPr>
        <p:spPr>
          <a:xfrm>
            <a:off x="2221992" y="379476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ai-chat.js</a:t>
            </a:r>
            <a:endParaRPr lang="en-US" sz="850" dirty="0"/>
          </a:p>
        </p:txBody>
      </p:sp>
      <p:sp>
        <p:nvSpPr>
          <p:cNvPr id="90" name="Text 88"/>
          <p:cNvSpPr/>
          <p:nvPr/>
        </p:nvSpPr>
        <p:spPr>
          <a:xfrm>
            <a:off x="2221992" y="399592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992 lines</a:t>
            </a:r>
            <a:endParaRPr lang="en-US" sz="900" dirty="0"/>
          </a:p>
        </p:txBody>
      </p:sp>
      <p:sp>
        <p:nvSpPr>
          <p:cNvPr id="91" name="Text 89"/>
          <p:cNvSpPr/>
          <p:nvPr/>
        </p:nvSpPr>
        <p:spPr>
          <a:xfrm>
            <a:off x="2221992" y="4206240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3840480" y="3703320"/>
            <a:ext cx="1600200" cy="731520"/>
          </a:xfrm>
          <a:prstGeom prst="roundRect">
            <a:avLst>
              <a:gd name="adj" fmla="val 7500"/>
            </a:avLst>
          </a:prstGeom>
          <a:solidFill>
            <a:srgbClr val="F8FAFC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840480" y="3703320"/>
            <a:ext cx="1600200" cy="36576"/>
          </a:xfrm>
          <a:prstGeom prst="rect">
            <a:avLst/>
          </a:prstGeom>
          <a:solidFill>
            <a:srgbClr val="DB2777"/>
          </a:solidFill>
          <a:ln/>
        </p:spPr>
      </p:sp>
      <p:sp>
        <p:nvSpPr>
          <p:cNvPr id="94" name="Text 92"/>
          <p:cNvSpPr/>
          <p:nvPr/>
        </p:nvSpPr>
        <p:spPr>
          <a:xfrm>
            <a:off x="3913632" y="379476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B27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viewer-mode.js</a:t>
            </a:r>
            <a:endParaRPr lang="en-US" sz="850" dirty="0"/>
          </a:p>
        </p:txBody>
      </p:sp>
      <p:sp>
        <p:nvSpPr>
          <p:cNvPr id="95" name="Text 93"/>
          <p:cNvSpPr/>
          <p:nvPr/>
        </p:nvSpPr>
        <p:spPr>
          <a:xfrm>
            <a:off x="3913632" y="399592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580 lines</a:t>
            </a:r>
            <a:endParaRPr lang="en-US" sz="900" dirty="0"/>
          </a:p>
        </p:txBody>
      </p:sp>
      <p:sp>
        <p:nvSpPr>
          <p:cNvPr id="96" name="Text 94"/>
          <p:cNvSpPr/>
          <p:nvPr/>
        </p:nvSpPr>
        <p:spPr>
          <a:xfrm>
            <a:off x="3913632" y="4206240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750" dirty="0"/>
          </a:p>
        </p:txBody>
      </p:sp>
      <p:sp>
        <p:nvSpPr>
          <p:cNvPr id="97" name="Shape 95"/>
          <p:cNvSpPr/>
          <p:nvPr/>
        </p:nvSpPr>
        <p:spPr>
          <a:xfrm>
            <a:off x="5532120" y="3703320"/>
            <a:ext cx="1600200" cy="731520"/>
          </a:xfrm>
          <a:prstGeom prst="roundRect">
            <a:avLst>
              <a:gd name="adj" fmla="val 7500"/>
            </a:avLst>
          </a:prstGeom>
          <a:solidFill>
            <a:srgbClr val="F8FAFC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5532120" y="3703320"/>
            <a:ext cx="1600200" cy="36576"/>
          </a:xfrm>
          <a:prstGeom prst="rect">
            <a:avLst/>
          </a:prstGeom>
          <a:solidFill>
            <a:srgbClr val="DB2777"/>
          </a:solidFill>
          <a:ln/>
        </p:spPr>
      </p:sp>
      <p:sp>
        <p:nvSpPr>
          <p:cNvPr id="99" name="Text 97"/>
          <p:cNvSpPr/>
          <p:nvPr/>
        </p:nvSpPr>
        <p:spPr>
          <a:xfrm>
            <a:off x="5605272" y="379476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B27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assembly-resolver.js</a:t>
            </a:r>
            <a:endParaRPr lang="en-US" sz="850" dirty="0"/>
          </a:p>
        </p:txBody>
      </p:sp>
      <p:sp>
        <p:nvSpPr>
          <p:cNvPr id="100" name="Text 98"/>
          <p:cNvSpPr/>
          <p:nvPr/>
        </p:nvSpPr>
        <p:spPr>
          <a:xfrm>
            <a:off x="5605272" y="399592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477 lines</a:t>
            </a:r>
            <a:endParaRPr lang="en-US" sz="900" dirty="0"/>
          </a:p>
        </p:txBody>
      </p:sp>
      <p:sp>
        <p:nvSpPr>
          <p:cNvPr id="101" name="Text 99"/>
          <p:cNvSpPr/>
          <p:nvPr/>
        </p:nvSpPr>
        <p:spPr>
          <a:xfrm>
            <a:off x="5605272" y="4206240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750" dirty="0"/>
          </a:p>
        </p:txBody>
      </p:sp>
      <p:sp>
        <p:nvSpPr>
          <p:cNvPr id="102" name="Shape 100"/>
          <p:cNvSpPr/>
          <p:nvPr/>
        </p:nvSpPr>
        <p:spPr>
          <a:xfrm>
            <a:off x="7223760" y="3703320"/>
            <a:ext cx="1600200" cy="731520"/>
          </a:xfrm>
          <a:prstGeom prst="roundRect">
            <a:avLst>
              <a:gd name="adj" fmla="val 7500"/>
            </a:avLst>
          </a:prstGeom>
          <a:solidFill>
            <a:srgbClr val="F8FAFC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23760" y="3703320"/>
            <a:ext cx="1600200" cy="36576"/>
          </a:xfrm>
          <a:prstGeom prst="rect">
            <a:avLst/>
          </a:prstGeom>
          <a:solidFill>
            <a:srgbClr val="DB2777"/>
          </a:solidFill>
          <a:ln/>
        </p:spPr>
      </p:sp>
      <p:sp>
        <p:nvSpPr>
          <p:cNvPr id="104" name="Text 102"/>
          <p:cNvSpPr/>
          <p:nvPr/>
        </p:nvSpPr>
        <p:spPr>
          <a:xfrm>
            <a:off x="7296912" y="379476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B27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project-browser.js + 2</a:t>
            </a:r>
            <a:endParaRPr lang="en-US" sz="850" dirty="0"/>
          </a:p>
        </p:txBody>
      </p:sp>
      <p:sp>
        <p:nvSpPr>
          <p:cNvPr id="105" name="Text 103"/>
          <p:cNvSpPr/>
          <p:nvPr/>
        </p:nvSpPr>
        <p:spPr>
          <a:xfrm>
            <a:off x="7296912" y="399592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2,225 lines</a:t>
            </a:r>
            <a:endParaRPr lang="en-US" sz="900" dirty="0"/>
          </a:p>
        </p:txBody>
      </p:sp>
      <p:sp>
        <p:nvSpPr>
          <p:cNvPr id="106" name="Text 104"/>
          <p:cNvSpPr/>
          <p:nvPr/>
        </p:nvSpPr>
        <p:spPr>
          <a:xfrm>
            <a:off x="7296912" y="4206240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750" dirty="0"/>
          </a:p>
        </p:txBody>
      </p:sp>
      <p:sp>
        <p:nvSpPr>
          <p:cNvPr id="107" name="Shape 105"/>
          <p:cNvSpPr/>
          <p:nvPr/>
        </p:nvSpPr>
        <p:spPr>
          <a:xfrm>
            <a:off x="457200" y="4553712"/>
            <a:ext cx="228600" cy="128016"/>
          </a:xfrm>
          <a:prstGeom prst="roundRect">
            <a:avLst>
              <a:gd name="adj" fmla="val 28571"/>
            </a:avLst>
          </a:prstGeom>
          <a:solidFill>
            <a:srgbClr val="0284C7"/>
          </a:solidFill>
          <a:ln/>
        </p:spPr>
      </p:sp>
      <p:sp>
        <p:nvSpPr>
          <p:cNvPr id="108" name="Text 106"/>
          <p:cNvSpPr/>
          <p:nvPr/>
        </p:nvSpPr>
        <p:spPr>
          <a:xfrm>
            <a:off x="749808" y="449884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</a:t>
            </a:r>
            <a:endParaRPr lang="en-US" sz="900" dirty="0"/>
          </a:p>
        </p:txBody>
      </p:sp>
      <p:sp>
        <p:nvSpPr>
          <p:cNvPr id="109" name="Shape 107"/>
          <p:cNvSpPr/>
          <p:nvPr/>
        </p:nvSpPr>
        <p:spPr>
          <a:xfrm>
            <a:off x="2148840" y="4553712"/>
            <a:ext cx="228600" cy="128016"/>
          </a:xfrm>
          <a:prstGeom prst="roundRect">
            <a:avLst>
              <a:gd name="adj" fmla="val 28571"/>
            </a:avLst>
          </a:prstGeom>
          <a:solidFill>
            <a:srgbClr val="059669"/>
          </a:solidFill>
          <a:ln/>
        </p:spPr>
      </p:sp>
      <p:sp>
        <p:nvSpPr>
          <p:cNvPr id="110" name="Text 108"/>
          <p:cNvSpPr/>
          <p:nvPr/>
        </p:nvSpPr>
        <p:spPr>
          <a:xfrm>
            <a:off x="2441448" y="449884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900" dirty="0"/>
          </a:p>
        </p:txBody>
      </p:sp>
      <p:sp>
        <p:nvSpPr>
          <p:cNvPr id="111" name="Shape 109"/>
          <p:cNvSpPr/>
          <p:nvPr/>
        </p:nvSpPr>
        <p:spPr>
          <a:xfrm>
            <a:off x="3840480" y="4553712"/>
            <a:ext cx="228600" cy="128016"/>
          </a:xfrm>
          <a:prstGeom prst="roundRect">
            <a:avLst>
              <a:gd name="adj" fmla="val 28571"/>
            </a:avLst>
          </a:prstGeom>
          <a:solidFill>
            <a:srgbClr val="D97706"/>
          </a:solidFill>
          <a:ln/>
        </p:spPr>
      </p:sp>
      <p:sp>
        <p:nvSpPr>
          <p:cNvPr id="112" name="Text 110"/>
          <p:cNvSpPr/>
          <p:nvPr/>
        </p:nvSpPr>
        <p:spPr>
          <a:xfrm>
            <a:off x="4133088" y="449884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I/O</a:t>
            </a:r>
            <a:endParaRPr lang="en-US" sz="900" dirty="0"/>
          </a:p>
        </p:txBody>
      </p:sp>
      <p:sp>
        <p:nvSpPr>
          <p:cNvPr id="113" name="Shape 111"/>
          <p:cNvSpPr/>
          <p:nvPr/>
        </p:nvSpPr>
        <p:spPr>
          <a:xfrm>
            <a:off x="5532120" y="4553712"/>
            <a:ext cx="228600" cy="128016"/>
          </a:xfrm>
          <a:prstGeom prst="roundRect">
            <a:avLst>
              <a:gd name="adj" fmla="val 28571"/>
            </a:avLst>
          </a:prstGeom>
          <a:solidFill>
            <a:srgbClr val="7C3AED"/>
          </a:solidFill>
          <a:ln/>
        </p:spPr>
      </p:sp>
      <p:sp>
        <p:nvSpPr>
          <p:cNvPr id="114" name="Text 112"/>
          <p:cNvSpPr/>
          <p:nvPr/>
        </p:nvSpPr>
        <p:spPr>
          <a:xfrm>
            <a:off x="5824728" y="449884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900" dirty="0"/>
          </a:p>
        </p:txBody>
      </p:sp>
      <p:sp>
        <p:nvSpPr>
          <p:cNvPr id="115" name="Shape 113"/>
          <p:cNvSpPr/>
          <p:nvPr/>
        </p:nvSpPr>
        <p:spPr>
          <a:xfrm>
            <a:off x="7223760" y="4553712"/>
            <a:ext cx="228600" cy="128016"/>
          </a:xfrm>
          <a:prstGeom prst="roundRect">
            <a:avLst>
              <a:gd name="adj" fmla="val 28571"/>
            </a:avLst>
          </a:prstGeom>
          <a:solidFill>
            <a:srgbClr val="DB2777"/>
          </a:solidFill>
          <a:ln/>
        </p:spPr>
      </p:sp>
      <p:sp>
        <p:nvSpPr>
          <p:cNvPr id="116" name="Text 114"/>
          <p:cNvSpPr/>
          <p:nvPr/>
        </p:nvSpPr>
        <p:spPr>
          <a:xfrm>
            <a:off x="7516368" y="449884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B2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cycleCAD Architecture  ·  Confidential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3D CAD Engine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8229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parametric modeling stack running entirely in the browser. Three.js r170.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280160"/>
            <a:ext cx="3931920" cy="3383280"/>
          </a:xfrm>
          <a:prstGeom prst="roundRect">
            <a:avLst>
              <a:gd name="adj" fmla="val 2703"/>
            </a:avLst>
          </a:prstGeom>
          <a:solidFill>
            <a:srgbClr val="F8FAFC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389888"/>
            <a:ext cx="1737360" cy="274320"/>
          </a:xfrm>
          <a:prstGeom prst="roundRect">
            <a:avLst>
              <a:gd name="adj" fmla="val 20000"/>
            </a:avLst>
          </a:prstGeom>
          <a:solidFill>
            <a:srgbClr val="0284C7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38988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GEOMETRY PIPELINE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31520" y="1828800"/>
            <a:ext cx="73152" cy="45720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182880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Sketch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14400" y="2048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Line, rect, circle, arc, polyline. Grid snap. 12 constraint types.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31520" y="2377440"/>
            <a:ext cx="73152" cy="457200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23774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 Solver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14400" y="259689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 relaxation. Coincident, parallel, tangent, symmetric, distance, angle.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31520" y="2926080"/>
            <a:ext cx="73152" cy="4572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29260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Operations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14400" y="314553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Extrude, revolve, fillet, chamfer, boolean, shell, pattern, sweep, loft.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31520" y="3474720"/>
            <a:ext cx="73152" cy="4572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34747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Sheet Metal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14400" y="369417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 (k-factor), flange, tab, slot, unfold flat pattern.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31520" y="4023360"/>
            <a:ext cx="73152" cy="4572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40233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14400" y="424281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Components, mate constraints, joints, explode/collapse animation.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663440" y="1280160"/>
            <a:ext cx="3931920" cy="3383280"/>
          </a:xfrm>
          <a:prstGeom prst="roundRect">
            <a:avLst>
              <a:gd name="adj" fmla="val 2703"/>
            </a:avLst>
          </a:prstGeom>
          <a:solidFill>
            <a:srgbClr val="F8FAFC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846320" y="1389888"/>
            <a:ext cx="1554480" cy="27432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/>
        </p:spPr>
      </p:sp>
      <p:sp>
        <p:nvSpPr>
          <p:cNvPr id="27" name="Text 25"/>
          <p:cNvSpPr/>
          <p:nvPr/>
        </p:nvSpPr>
        <p:spPr>
          <a:xfrm>
            <a:off x="4846320" y="138988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RENDERING STACK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846320" y="182880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Three.js r170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846320" y="2029968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WebGL 2.0 renderer, PBR materials, shadows, ambient occlusion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846320" y="228600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OrbitControls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846320" y="2487168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 (left), pan (right), zoom (scroll). Touch-optimized.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846320" y="274320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Engine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846320" y="2944368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Raycaster → selectMesh() → info card. Tree sync. Multi-touch safe.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846320" y="320040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Cube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846320" y="3401568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6-face + edge + corner views. Touch rotation. Camera animation.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846320" y="365760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Pipeline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846320" y="3858768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STL (ASCII+binary), OBJ, glTF 2.0, DXF, cycleCAD JSON, STEP.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846320" y="411480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Viewer Mode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846320" y="4315968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ExplodeView (40+ tools) merged as shared Three.js scene. 63 features.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cycleCAD Architecture  ·  Confidential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 API — 10 Namespaces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8229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window.cycleCAD.execute({ method, params }) — JSON-RPC. Self-describing. MCP-compatible.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280160"/>
            <a:ext cx="8046720" cy="320040"/>
          </a:xfrm>
          <a:prstGeom prst="roundRect">
            <a:avLst>
              <a:gd name="adj" fmla="val 17143"/>
            </a:avLst>
          </a:prstGeom>
          <a:solidFill>
            <a:srgbClr val="0284C7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2801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Namespace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194560" y="128016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Cmds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926080" y="1280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1645920"/>
            <a:ext cx="8046720" cy="32004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16459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84C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shape.*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194560" y="164592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926080" y="1645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geometry: cylinder, box, sphere, cone, gear, tube, plate, bracket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1965960"/>
            <a:ext cx="804672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19659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feature.*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194560" y="196596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926080" y="19659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Modify: fillet, chamfer, shell, pattern, counterbore, thread, mirror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2286000"/>
            <a:ext cx="8046720" cy="32004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2286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sketch.*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194560" y="228600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926080" y="2286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primitives: line, rect, circle, arc, polyline, constrain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8640" y="2606040"/>
            <a:ext cx="804672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26060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assembly.*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194560" y="260604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926080" y="2606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Components: add, mate, joint, explode, BOM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8640" y="2926080"/>
            <a:ext cx="8046720" cy="32004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8" name="Text 26"/>
          <p:cNvSpPr/>
          <p:nvPr/>
        </p:nvSpPr>
        <p:spPr>
          <a:xfrm>
            <a:off x="685800" y="29260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render.*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2194560" y="2926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926080" y="2926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View: snapshot, multiview, fitToSelection, wireframe, theme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48640" y="3246120"/>
            <a:ext cx="804672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32461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validate.*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2194560" y="324612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926080" y="32461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Quality: designReview, DFM check, weight, cost estimation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48640" y="3566160"/>
            <a:ext cx="8046720" cy="32004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35661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export.*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2194560" y="356616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2926080" y="3566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STL, OBJ, glTF, DXF, STEP (via server)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48640" y="3886200"/>
            <a:ext cx="804672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685800" y="38862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marketplace.*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2194560" y="388620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2926080" y="3886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Publish, price, list, withdraw models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48640" y="4206240"/>
            <a:ext cx="8046720" cy="32004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44" name="Text 42"/>
          <p:cNvSpPr/>
          <p:nvPr/>
        </p:nvSpPr>
        <p:spPr>
          <a:xfrm>
            <a:off x="685800" y="42062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B27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cam.*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2194560" y="420624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2926080" y="4206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Manufacture: slice, nest, toolpath, submit to fab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48640" y="4526280"/>
            <a:ext cx="804672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/>
          <p:nvPr/>
        </p:nvSpPr>
        <p:spPr>
          <a:xfrm>
            <a:off x="685800" y="45262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B27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meta.*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2194560" y="45262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2926080" y="45262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System: getSchema, version, undo, redo, history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cycleCAD Architecture  ·  Confidential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Integration Layer — MCP, CLI, REST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8229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LLM, any script, any CI pipeline can drive cycleCAD. Agents don't need a browser.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280160"/>
            <a:ext cx="3840480" cy="2240280"/>
          </a:xfrm>
          <a:prstGeom prst="roundRect">
            <a:avLst>
              <a:gd name="adj" fmla="val 4082"/>
            </a:avLst>
          </a:prstGeom>
          <a:solidFill>
            <a:srgbClr val="F8FAFC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389888"/>
            <a:ext cx="1188720" cy="274320"/>
          </a:xfrm>
          <a:prstGeom prst="roundRect">
            <a:avLst>
              <a:gd name="adj" fmla="val 20000"/>
            </a:avLst>
          </a:prstGeom>
          <a:solidFill>
            <a:srgbClr val="D97706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38988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77240" y="1783080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Exposes all 55 Agent API commands as MCP tools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77240" y="2039112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Claude Desktop / Claude Code connects natively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2295144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Any MCP-compatible LLM (GPT, Gemini, Llama)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2551176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Tool descriptions auto-generated from getSchema()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7240" y="280720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Streaming responses for long operations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063240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npx cyclecad-mcp — one command to start server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663440" y="1280160"/>
            <a:ext cx="3931920" cy="1005840"/>
          </a:xfrm>
          <a:prstGeom prst="roundRect">
            <a:avLst>
              <a:gd name="adj" fmla="val 9091"/>
            </a:avLst>
          </a:prstGeom>
          <a:solidFill>
            <a:srgbClr val="F8FAFC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46320" y="1389888"/>
            <a:ext cx="914400" cy="274320"/>
          </a:xfrm>
          <a:prstGeom prst="roundRect">
            <a:avLst>
              <a:gd name="adj" fmla="val 20000"/>
            </a:avLst>
          </a:prstGeom>
          <a:solidFill>
            <a:srgbClr val="0284C7"/>
          </a:solidFill>
          <a:ln/>
        </p:spPr>
      </p:sp>
      <p:sp>
        <p:nvSpPr>
          <p:cNvPr id="18" name="Text 16"/>
          <p:cNvSpPr/>
          <p:nvPr/>
        </p:nvSpPr>
        <p:spPr>
          <a:xfrm>
            <a:off x="4846320" y="13898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TOOL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46320" y="1719072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cyclecad shape.cylinder --radius 25 --height 80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cyclecad validate.dfm --format json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cyclecad export.step --output part.step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cyclecad cam.slice --printer ender3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63440" y="2423160"/>
            <a:ext cx="3931920" cy="1097280"/>
          </a:xfrm>
          <a:prstGeom prst="roundRect">
            <a:avLst>
              <a:gd name="adj" fmla="val 8333"/>
            </a:avLst>
          </a:prstGeom>
          <a:solidFill>
            <a:srgbClr val="F8FAFC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46320" y="2532888"/>
            <a:ext cx="914400" cy="27432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/>
        </p:spPr>
      </p:sp>
      <p:sp>
        <p:nvSpPr>
          <p:cNvPr id="22" name="Text 20"/>
          <p:cNvSpPr/>
          <p:nvPr/>
        </p:nvSpPr>
        <p:spPr>
          <a:xfrm>
            <a:off x="4846320" y="25328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846320" y="2852928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/api/execute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"method": "shape.cylinder",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"params": { "radius": 25, "height": 80 } }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{ "id": "part_42", "mesh": "..." }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8640" y="3749040"/>
            <a:ext cx="3840480" cy="868680"/>
          </a:xfrm>
          <a:prstGeom prst="roundRect">
            <a:avLst>
              <a:gd name="adj" fmla="val 10526"/>
            </a:avLst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1520" y="3858768"/>
            <a:ext cx="1097280" cy="256032"/>
          </a:xfrm>
          <a:prstGeom prst="roundRect">
            <a:avLst>
              <a:gd name="adj" fmla="val 21429"/>
            </a:avLst>
          </a:prstGeom>
          <a:solidFill>
            <a:srgbClr val="7C3AED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38587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731520" y="418795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collaboration cursors, streaming agent updates, push notifications for fab job completion.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3749040"/>
            <a:ext cx="3931920" cy="868680"/>
          </a:xfrm>
          <a:prstGeom prst="roundRect">
            <a:avLst>
              <a:gd name="adj" fmla="val 10526"/>
            </a:avLst>
          </a:prstGeom>
          <a:solidFill>
            <a:srgbClr val="F8FAFC"/>
          </a:solidFill>
          <a:ln w="19050">
            <a:solidFill>
              <a:srgbClr val="DB277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46320" y="3858768"/>
            <a:ext cx="1097280" cy="256032"/>
          </a:xfrm>
          <a:prstGeom prst="roundRect">
            <a:avLst>
              <a:gd name="adj" fmla="val 21429"/>
            </a:avLst>
          </a:prstGeom>
          <a:solidFill>
            <a:srgbClr val="DB2777"/>
          </a:solidFill>
          <a:ln/>
        </p:spPr>
      </p:sp>
      <p:sp>
        <p:nvSpPr>
          <p:cNvPr id="30" name="Text 28"/>
          <p:cNvSpPr/>
          <p:nvPr/>
        </p:nvSpPr>
        <p:spPr>
          <a:xfrm>
            <a:off x="4846320" y="38587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WEBHOOKS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4846320" y="418795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shops register webhook endpoints. Platform sends job requests, receives status updates, shipping confirmations.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cycleCAD Architecture  ·  Confidential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$CYCLE Token Engine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8229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Inspired by Claude API token billing — per-operation ledger, tiered pricing, caching discounts.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4114800" cy="1417320"/>
          </a:xfrm>
          <a:prstGeom prst="roundRect">
            <a:avLst>
              <a:gd name="adj" fmla="val 6452"/>
            </a:avLst>
          </a:prstGeom>
          <a:solidFill>
            <a:srgbClr val="F8FAFC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389888"/>
            <a:ext cx="2377440" cy="274320"/>
          </a:xfrm>
          <a:prstGeom prst="roundRect">
            <a:avLst>
              <a:gd name="adj" fmla="val 20000"/>
            </a:avLst>
          </a:prstGeom>
          <a:solidFill>
            <a:srgbClr val="0284C7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3898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 MODEL (inspiration)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1755648"/>
            <a:ext cx="3749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Pay per token consumed (input + output)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40080" y="1929384"/>
            <a:ext cx="3749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Tiered pricing by model (Haiku $1 → Opus $5/M)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2103120"/>
            <a:ext cx="3749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Prompt caching: 10% cost on cache hits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2276856"/>
            <a:ext cx="3749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Batch API: 50% discount for async jobs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0080" y="2450592"/>
            <a:ext cx="3749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Every call returns { tokens, cost } in response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754880" y="1280160"/>
            <a:ext cx="3931920" cy="1417320"/>
          </a:xfrm>
          <a:prstGeom prst="roundRect">
            <a:avLst>
              <a:gd name="adj" fmla="val 6452"/>
            </a:avLst>
          </a:prstGeom>
          <a:solidFill>
            <a:srgbClr val="F8FAFC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37760" y="1389888"/>
            <a:ext cx="2377440" cy="27432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/>
        </p:spPr>
      </p:sp>
      <p:sp>
        <p:nvSpPr>
          <p:cNvPr id="17" name="Text 15"/>
          <p:cNvSpPr/>
          <p:nvPr/>
        </p:nvSpPr>
        <p:spPr>
          <a:xfrm>
            <a:off x="4937760" y="13898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$CYCLE MODEL (implementation)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937760" y="1755648"/>
            <a:ext cx="35661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Pay per operation (download, AI call, CAM job)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937760" y="1929384"/>
            <a:ext cx="35661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Tiered pricing by access level (FREE → 1,000+)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937760" y="2103120"/>
            <a:ext cx="35661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Cached models: reduced repeat-access cost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937760" y="2276856"/>
            <a:ext cx="35661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Batch scan: discounted bulk AI identification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937760" y="2450592"/>
            <a:ext cx="35661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Every call returns { spent, earned, balance }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2880360"/>
            <a:ext cx="4114800" cy="1783080"/>
          </a:xfrm>
          <a:prstGeom prst="roundRect">
            <a:avLst>
              <a:gd name="adj" fmla="val 5128"/>
            </a:avLst>
          </a:prstGeom>
          <a:solidFill>
            <a:srgbClr val="F8FAFC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2990088"/>
            <a:ext cx="2286000" cy="274320"/>
          </a:xfrm>
          <a:prstGeom prst="roundRect">
            <a:avLst>
              <a:gd name="adj" fmla="val 20000"/>
            </a:avLst>
          </a:prstGeom>
          <a:solidFill>
            <a:srgbClr val="D97706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29900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PER-OPERATION TOKEN COSTS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85800" y="3346704"/>
            <a:ext cx="2286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284C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model.download(mesh)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3017520" y="3346704"/>
            <a:ext cx="1371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tokens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85800" y="3506724"/>
            <a:ext cx="2286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284C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model.download(parametric)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3017520" y="3506724"/>
            <a:ext cx="1371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tokens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85800" y="3666744"/>
            <a:ext cx="2286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284C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model.download(full_ip)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3017520" y="3666744"/>
            <a:ext cx="1371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1,000+ tokens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85800" y="3826764"/>
            <a:ext cx="2286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284C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ai.identify(part)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3017520" y="3826764"/>
            <a:ext cx="1371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tokens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85800" y="3986784"/>
            <a:ext cx="2286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284C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ai.designReview(model)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3017520" y="3986784"/>
            <a:ext cx="1371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tokens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85800" y="4146804"/>
            <a:ext cx="2286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284C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cam.slice(model)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3017520" y="4146804"/>
            <a:ext cx="1371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20-35 tokens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85800" y="4306824"/>
            <a:ext cx="2286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284C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cam.cnc_toolpath(model)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3017520" y="4306824"/>
            <a:ext cx="1371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50-100 tokens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85800" y="4466844"/>
            <a:ext cx="2286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284C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fab.submit(job)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3017520" y="4466844"/>
            <a:ext cx="1371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varies (escrow)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754880" y="2880360"/>
            <a:ext cx="3931920" cy="1783080"/>
          </a:xfrm>
          <a:prstGeom prst="roundRect">
            <a:avLst>
              <a:gd name="adj" fmla="val 5128"/>
            </a:avLst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0" y="2990088"/>
            <a:ext cx="2011680" cy="274320"/>
          </a:xfrm>
          <a:prstGeom prst="roundRect">
            <a:avLst>
              <a:gd name="adj" fmla="val 20000"/>
            </a:avLst>
          </a:prstGeom>
          <a:solidFill>
            <a:srgbClr val="7C3AED"/>
          </a:solidFill>
          <a:ln/>
        </p:spPr>
      </p:sp>
      <p:sp>
        <p:nvSpPr>
          <p:cNvPr id="44" name="Text 42"/>
          <p:cNvSpPr/>
          <p:nvPr/>
        </p:nvSpPr>
        <p:spPr>
          <a:xfrm>
            <a:off x="4937760" y="29900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+ PAYMENT RAILS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937760" y="3346704"/>
            <a:ext cx="356616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Double-entry ledger (like Claude Usage API)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4937760" y="3506724"/>
            <a:ext cx="356616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Every API call: debit buyer, credit creator + platform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4937760" y="3666744"/>
            <a:ext cx="356616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Royalty split: 70% Free / 80% Pro / 90% Enterprise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4937760" y="3826764"/>
            <a:ext cx="356616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Escrow for fab jobs (release on delivery)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4937760" y="3986784"/>
            <a:ext cx="356616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Fiat: Stripe Connect (cards, Apple Pay)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4937760" y="4146804"/>
            <a:ext cx="356616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Crypto: USDC/ETH (agents have wallets, not banks)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4937760" y="4306824"/>
            <a:ext cx="356616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Smart contracts for on-chain transparency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4937760" y="4466844"/>
            <a:ext cx="356616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Future: ERC-20 $CYCLE on Ethereum L2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cycleCAD Architecture  ·  Confidential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Marketplace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8229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model has 7 access tiers. AI agents set pricing. Creators earn passive income.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4320" y="1280160"/>
            <a:ext cx="1600200" cy="11430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1389888"/>
            <a:ext cx="960120" cy="256032"/>
          </a:xfrm>
          <a:prstGeom prst="roundRect">
            <a:avLst>
              <a:gd name="adj" fmla="val 21429"/>
            </a:avLst>
          </a:prstGeom>
          <a:solidFill>
            <a:srgbClr val="059669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38988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5760" y="1719072"/>
            <a:ext cx="1417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or agent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model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874520" y="1737360"/>
            <a:ext cx="155448" cy="137160"/>
          </a:xfrm>
          <a:prstGeom prst="rightArrow">
            <a:avLst/>
          </a:prstGeom>
          <a:solidFill>
            <a:srgbClr val="94A3B8"/>
          </a:solidFill>
          <a:ln/>
        </p:spPr>
      </p:sp>
      <p:sp>
        <p:nvSpPr>
          <p:cNvPr id="12" name="Shape 10"/>
          <p:cNvSpPr/>
          <p:nvPr/>
        </p:nvSpPr>
        <p:spPr>
          <a:xfrm>
            <a:off x="2029968" y="1280160"/>
            <a:ext cx="1600200" cy="11430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350008" y="1389888"/>
            <a:ext cx="960120" cy="256032"/>
          </a:xfrm>
          <a:prstGeom prst="roundRect">
            <a:avLst>
              <a:gd name="adj" fmla="val 21429"/>
            </a:avLst>
          </a:prstGeom>
          <a:solidFill>
            <a:srgbClr val="0284C7"/>
          </a:solidFill>
          <a:ln/>
        </p:spPr>
      </p:sp>
      <p:sp>
        <p:nvSpPr>
          <p:cNvPr id="14" name="Text 12"/>
          <p:cNvSpPr/>
          <p:nvPr/>
        </p:nvSpPr>
        <p:spPr>
          <a:xfrm>
            <a:off x="2350008" y="138988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121408" y="1719072"/>
            <a:ext cx="1417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DFM check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Manifold + watertight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30168" y="1737360"/>
            <a:ext cx="155448" cy="137160"/>
          </a:xfrm>
          <a:prstGeom prst="rightArrow">
            <a:avLst/>
          </a:prstGeom>
          <a:solidFill>
            <a:srgbClr val="94A3B8"/>
          </a:solidFill>
          <a:ln/>
        </p:spPr>
      </p:sp>
      <p:sp>
        <p:nvSpPr>
          <p:cNvPr id="17" name="Shape 15"/>
          <p:cNvSpPr/>
          <p:nvPr/>
        </p:nvSpPr>
        <p:spPr>
          <a:xfrm>
            <a:off x="3785616" y="1280160"/>
            <a:ext cx="1600200" cy="11430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05656" y="1389888"/>
            <a:ext cx="960120" cy="256032"/>
          </a:xfrm>
          <a:prstGeom prst="roundRect">
            <a:avLst>
              <a:gd name="adj" fmla="val 21429"/>
            </a:avLst>
          </a:prstGeom>
          <a:solidFill>
            <a:srgbClr val="7C3AED"/>
          </a:solidFill>
          <a:ln/>
        </p:spPr>
      </p:sp>
      <p:sp>
        <p:nvSpPr>
          <p:cNvPr id="19" name="Text 17"/>
          <p:cNvSpPr/>
          <p:nvPr/>
        </p:nvSpPr>
        <p:spPr>
          <a:xfrm>
            <a:off x="4105656" y="138988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877056" y="1719072"/>
            <a:ext cx="1417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tiers + pricing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auto-categorize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385816" y="1737360"/>
            <a:ext cx="155448" cy="137160"/>
          </a:xfrm>
          <a:prstGeom prst="rightArrow">
            <a:avLst/>
          </a:prstGeom>
          <a:solidFill>
            <a:srgbClr val="94A3B8"/>
          </a:solidFill>
          <a:ln/>
        </p:spPr>
      </p:sp>
      <p:sp>
        <p:nvSpPr>
          <p:cNvPr id="22" name="Shape 20"/>
          <p:cNvSpPr/>
          <p:nvPr/>
        </p:nvSpPr>
        <p:spPr>
          <a:xfrm>
            <a:off x="5541264" y="1280160"/>
            <a:ext cx="1600200" cy="11430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61304" y="1389888"/>
            <a:ext cx="960120" cy="256032"/>
          </a:xfrm>
          <a:prstGeom prst="roundRect">
            <a:avLst>
              <a:gd name="adj" fmla="val 21429"/>
            </a:avLst>
          </a:prstGeom>
          <a:solidFill>
            <a:srgbClr val="D97706"/>
          </a:solidFill>
          <a:ln/>
        </p:spPr>
      </p:sp>
      <p:sp>
        <p:nvSpPr>
          <p:cNvPr id="24" name="Text 22"/>
          <p:cNvSpPr/>
          <p:nvPr/>
        </p:nvSpPr>
        <p:spPr>
          <a:xfrm>
            <a:off x="5861304" y="138988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632704" y="1719072"/>
            <a:ext cx="1417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Search, browse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API query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141464" y="1737360"/>
            <a:ext cx="155448" cy="137160"/>
          </a:xfrm>
          <a:prstGeom prst="rightArrow">
            <a:avLst/>
          </a:prstGeom>
          <a:solidFill>
            <a:srgbClr val="94A3B8"/>
          </a:solidFill>
          <a:ln/>
        </p:spPr>
      </p:sp>
      <p:sp>
        <p:nvSpPr>
          <p:cNvPr id="27" name="Shape 25"/>
          <p:cNvSpPr/>
          <p:nvPr/>
        </p:nvSpPr>
        <p:spPr>
          <a:xfrm>
            <a:off x="7296912" y="1280160"/>
            <a:ext cx="1600200" cy="11430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9050">
            <a:solidFill>
              <a:srgbClr val="DB277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16952" y="1389888"/>
            <a:ext cx="960120" cy="256032"/>
          </a:xfrm>
          <a:prstGeom prst="roundRect">
            <a:avLst>
              <a:gd name="adj" fmla="val 21429"/>
            </a:avLst>
          </a:prstGeom>
          <a:solidFill>
            <a:srgbClr val="DB2777"/>
          </a:solidFill>
          <a:ln/>
        </p:spPr>
      </p:sp>
      <p:sp>
        <p:nvSpPr>
          <p:cNvPr id="29" name="Text 27"/>
          <p:cNvSpPr/>
          <p:nvPr/>
        </p:nvSpPr>
        <p:spPr>
          <a:xfrm>
            <a:off x="7616952" y="138988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388352" y="1719072"/>
            <a:ext cx="1417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$CYCLE tokens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delivery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48640" y="2651760"/>
            <a:ext cx="2560320" cy="960120"/>
          </a:xfrm>
          <a:prstGeom prst="roundRect">
            <a:avLst>
              <a:gd name="adj" fmla="val 9524"/>
            </a:avLst>
          </a:prstGeom>
          <a:solidFill>
            <a:srgbClr val="F8FAFC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31520" y="2761488"/>
            <a:ext cx="1188720" cy="256032"/>
          </a:xfrm>
          <a:prstGeom prst="roundRect">
            <a:avLst>
              <a:gd name="adj" fmla="val 21429"/>
            </a:avLst>
          </a:prstGeom>
          <a:solidFill>
            <a:srgbClr val="059669"/>
          </a:solidFill>
          <a:ln/>
        </p:spPr>
      </p:sp>
      <p:sp>
        <p:nvSpPr>
          <p:cNvPr id="33" name="Text 31"/>
          <p:cNvSpPr/>
          <p:nvPr/>
        </p:nvSpPr>
        <p:spPr>
          <a:xfrm>
            <a:off x="731520" y="276148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CREATOR GETS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731520" y="309067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(Free tier)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(Pro €49/mo)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(Enterprise €299/mo)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291840" y="2651760"/>
            <a:ext cx="2560320" cy="960120"/>
          </a:xfrm>
          <a:prstGeom prst="roundRect">
            <a:avLst>
              <a:gd name="adj" fmla="val 9524"/>
            </a:avLst>
          </a:prstGeom>
          <a:solidFill>
            <a:srgbClr val="F8FAFC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474720" y="2761488"/>
            <a:ext cx="1371600" cy="256032"/>
          </a:xfrm>
          <a:prstGeom prst="roundRect">
            <a:avLst>
              <a:gd name="adj" fmla="val 21429"/>
            </a:avLst>
          </a:prstGeom>
          <a:solidFill>
            <a:srgbClr val="0284C7"/>
          </a:solidFill>
          <a:ln/>
        </p:spPr>
      </p:sp>
      <p:sp>
        <p:nvSpPr>
          <p:cNvPr id="37" name="Text 35"/>
          <p:cNvSpPr/>
          <p:nvPr/>
        </p:nvSpPr>
        <p:spPr>
          <a:xfrm>
            <a:off x="3474720" y="276148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GETS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3474720" y="30632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10-30% commission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subscriptions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CAM compute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~15% token spread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035040" y="2651760"/>
            <a:ext cx="2560320" cy="960120"/>
          </a:xfrm>
          <a:prstGeom prst="roundRect">
            <a:avLst>
              <a:gd name="adj" fmla="val 9524"/>
            </a:avLst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217920" y="2761488"/>
            <a:ext cx="1371600" cy="256032"/>
          </a:xfrm>
          <a:prstGeom prst="roundRect">
            <a:avLst>
              <a:gd name="adj" fmla="val 21429"/>
            </a:avLst>
          </a:prstGeom>
          <a:solidFill>
            <a:srgbClr val="7C3AED"/>
          </a:solidFill>
          <a:ln/>
        </p:spPr>
      </p:sp>
      <p:sp>
        <p:nvSpPr>
          <p:cNvPr id="41" name="Text 39"/>
          <p:cNvSpPr/>
          <p:nvPr/>
        </p:nvSpPr>
        <p:spPr>
          <a:xfrm>
            <a:off x="6217920" y="276148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ECONOMY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217920" y="30632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create models 24/7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 tokens autonomously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in USDC (no bank acct)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Swarm of 100 per human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48640" y="3840480"/>
            <a:ext cx="804672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/>
        </p:spPr>
      </p:sp>
      <p:sp>
        <p:nvSpPr>
          <p:cNvPr id="44" name="Shape 42"/>
          <p:cNvSpPr/>
          <p:nvPr/>
        </p:nvSpPr>
        <p:spPr>
          <a:xfrm>
            <a:off x="548640" y="3840480"/>
            <a:ext cx="73152" cy="77724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45" name="Text 43"/>
          <p:cNvSpPr/>
          <p:nvPr/>
        </p:nvSpPr>
        <p:spPr>
          <a:xfrm>
            <a:off x="777240" y="38862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MARKETPLACE SCALE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777240" y="420624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783080" y="42062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10K models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2743200" y="420624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2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749040" y="42062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100K models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4709160" y="420624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3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715000" y="42062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1M+ models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6675120" y="420624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to Creators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680960" y="42062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€56M by Year 5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cycleCAD Architecture  ·  Confidential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CAD → CAM → Connected Fabs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8229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in browser. Slice in browser. Manufacture in the nearest connected fab.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280160"/>
            <a:ext cx="1965960" cy="132588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60120" y="1389888"/>
            <a:ext cx="777240" cy="274320"/>
          </a:xfrm>
          <a:prstGeom prst="roundRect">
            <a:avLst>
              <a:gd name="adj" fmla="val 20000"/>
            </a:avLst>
          </a:prstGeom>
          <a:solidFill>
            <a:srgbClr val="0284C7"/>
          </a:solidFill>
          <a:ln/>
        </p:spPr>
      </p:sp>
      <p:sp>
        <p:nvSpPr>
          <p:cNvPr id="9" name="Text 7"/>
          <p:cNvSpPr/>
          <p:nvPr/>
        </p:nvSpPr>
        <p:spPr>
          <a:xfrm>
            <a:off x="960120" y="138988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5760" y="173736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" y="20116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Parametric CAD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API / Voice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331720" y="1828800"/>
            <a:ext cx="228600" cy="182880"/>
          </a:xfrm>
          <a:prstGeom prst="rightArrow">
            <a:avLst/>
          </a:prstGeom>
          <a:solidFill>
            <a:srgbClr val="94A3B8"/>
          </a:solidFill>
          <a:ln/>
        </p:spPr>
      </p:sp>
      <p:sp>
        <p:nvSpPr>
          <p:cNvPr id="13" name="Shape 11"/>
          <p:cNvSpPr/>
          <p:nvPr/>
        </p:nvSpPr>
        <p:spPr>
          <a:xfrm>
            <a:off x="2560320" y="1280160"/>
            <a:ext cx="1965960" cy="132588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154680" y="1389888"/>
            <a:ext cx="777240" cy="27432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/>
        </p:spPr>
      </p:sp>
      <p:sp>
        <p:nvSpPr>
          <p:cNvPr id="15" name="Text 13"/>
          <p:cNvSpPr/>
          <p:nvPr/>
        </p:nvSpPr>
        <p:spPr>
          <a:xfrm>
            <a:off x="3154680" y="138988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DFM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60320" y="173736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697480" y="20116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DFM Analysis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Estimation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26280" y="1828800"/>
            <a:ext cx="228600" cy="182880"/>
          </a:xfrm>
          <a:prstGeom prst="rightArrow">
            <a:avLst/>
          </a:prstGeom>
          <a:solidFill>
            <a:srgbClr val="94A3B8"/>
          </a:solidFill>
          <a:ln/>
        </p:spPr>
      </p:sp>
      <p:sp>
        <p:nvSpPr>
          <p:cNvPr id="19" name="Shape 17"/>
          <p:cNvSpPr/>
          <p:nvPr/>
        </p:nvSpPr>
        <p:spPr>
          <a:xfrm>
            <a:off x="4754880" y="1280160"/>
            <a:ext cx="1965960" cy="132588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49240" y="1389888"/>
            <a:ext cx="777240" cy="274320"/>
          </a:xfrm>
          <a:prstGeom prst="roundRect">
            <a:avLst>
              <a:gd name="adj" fmla="val 20000"/>
            </a:avLst>
          </a:prstGeom>
          <a:solidFill>
            <a:srgbClr val="D97706"/>
          </a:solidFill>
          <a:ln/>
        </p:spPr>
      </p:sp>
      <p:sp>
        <p:nvSpPr>
          <p:cNvPr id="21" name="Text 19"/>
          <p:cNvSpPr/>
          <p:nvPr/>
        </p:nvSpPr>
        <p:spPr>
          <a:xfrm>
            <a:off x="5349240" y="138988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754880" y="173736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892040" y="20116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 / Nest / Toolpath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G-code Generation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720840" y="1828800"/>
            <a:ext cx="228600" cy="182880"/>
          </a:xfrm>
          <a:prstGeom prst="rightArrow">
            <a:avLst/>
          </a:prstGeom>
          <a:solidFill>
            <a:srgbClr val="94A3B8"/>
          </a:solidFill>
          <a:ln/>
        </p:spPr>
      </p:sp>
      <p:sp>
        <p:nvSpPr>
          <p:cNvPr id="25" name="Shape 23"/>
          <p:cNvSpPr/>
          <p:nvPr/>
        </p:nvSpPr>
        <p:spPr>
          <a:xfrm>
            <a:off x="6949440" y="1280160"/>
            <a:ext cx="1965960" cy="132588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 w="19050">
            <a:solidFill>
              <a:srgbClr val="DB277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543800" y="1389888"/>
            <a:ext cx="777240" cy="274320"/>
          </a:xfrm>
          <a:prstGeom prst="roundRect">
            <a:avLst>
              <a:gd name="adj" fmla="val 20000"/>
            </a:avLst>
          </a:prstGeom>
          <a:solidFill>
            <a:srgbClr val="DB2777"/>
          </a:solidFill>
          <a:ln/>
        </p:spPr>
      </p:sp>
      <p:sp>
        <p:nvSpPr>
          <p:cNvPr id="27" name="Text 25"/>
          <p:cNvSpPr/>
          <p:nvPr/>
        </p:nvSpPr>
        <p:spPr>
          <a:xfrm>
            <a:off x="7543800" y="138988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949440" y="173736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B2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086600" y="20116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to Fab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and Ship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48640" y="2834640"/>
            <a:ext cx="393192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9050">
            <a:solidFill>
              <a:srgbClr val="DB277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31520" y="2944368"/>
            <a:ext cx="2011680" cy="256032"/>
          </a:xfrm>
          <a:prstGeom prst="roundRect">
            <a:avLst>
              <a:gd name="adj" fmla="val 21429"/>
            </a:avLst>
          </a:prstGeom>
          <a:solidFill>
            <a:srgbClr val="DB2777"/>
          </a:solidFill>
          <a:ln/>
        </p:spPr>
      </p:sp>
      <p:sp>
        <p:nvSpPr>
          <p:cNvPr id="32" name="Text 30"/>
          <p:cNvSpPr/>
          <p:nvPr/>
        </p:nvSpPr>
        <p:spPr>
          <a:xfrm>
            <a:off x="731520" y="294436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FABS NETWORK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777240" y="3291840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CNC shops register via webhook API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77240" y="3511296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Receive job requests with G-code + material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77240" y="3730752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Status: queued → cutting → QC → shipped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77240" y="3950208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Auto-routing to nearest capable fab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77240" y="4169664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Earn tokens per completed job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77240" y="4389120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Rating: quality score, lead time, price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663440" y="2834640"/>
            <a:ext cx="393192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46320" y="2944368"/>
            <a:ext cx="2194560" cy="256032"/>
          </a:xfrm>
          <a:prstGeom prst="roundRect">
            <a:avLst>
              <a:gd name="adj" fmla="val 21429"/>
            </a:avLst>
          </a:prstGeom>
          <a:solidFill>
            <a:srgbClr val="D97706"/>
          </a:solidFill>
          <a:ln/>
        </p:spPr>
      </p:sp>
      <p:sp>
        <p:nvSpPr>
          <p:cNvPr id="41" name="Text 39"/>
          <p:cNvSpPr/>
          <p:nvPr/>
        </p:nvSpPr>
        <p:spPr>
          <a:xfrm>
            <a:off x="4846320" y="294436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MANUFACTURING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4892040" y="329184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Print (FDM/SLA/SLS)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498080" y="329184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20-35 tokens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892040" y="351129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Laser Cut (sheet + nesting)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498080" y="351129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10-30 tokens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4892040" y="373075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CNC Mill (3-5 axis)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7498080" y="373075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50-100 tokens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4892040" y="395020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CNC Lathe (turning)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7498080" y="395020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tokens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4892040" y="4169664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Mold (prototype)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7498080" y="4169664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200+ tokens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4892040" y="438912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PCB Manufacturing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7498080" y="43891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30-60 tokens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cycleCAD Architecture  ·  Confidential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Integration — 3-Tier Pipeline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8229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LLMs for power. Local NLP for offline. Every feature works without internet.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280160"/>
            <a:ext cx="2697480" cy="2926080"/>
          </a:xfrm>
          <a:prstGeom prst="roundRect">
            <a:avLst>
              <a:gd name="adj" fmla="val 3390"/>
            </a:avLst>
          </a:prstGeom>
          <a:solidFill>
            <a:srgbClr val="F8FAFC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389888"/>
            <a:ext cx="2148840" cy="274320"/>
          </a:xfrm>
          <a:prstGeom prst="roundRect">
            <a:avLst>
              <a:gd name="adj" fmla="val 20000"/>
            </a:avLst>
          </a:prstGeom>
          <a:solidFill>
            <a:srgbClr val="0284C7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38988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 — CLOUD LLM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2920" y="178308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Gemini Flash (vision + text)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02920" y="207568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Groq (Llama 3.1 8B, fast)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236829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Claude via MCP (orchestration)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02920" y="2660904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GPT-4 via REST (optional)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2920" y="2971800"/>
            <a:ext cx="2423160" cy="9144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3063240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case: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02920" y="32918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identification, design review, text-to-CAD, complex NLP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46120" y="1280160"/>
            <a:ext cx="2697480" cy="2926080"/>
          </a:xfrm>
          <a:prstGeom prst="roundRect">
            <a:avLst>
              <a:gd name="adj" fmla="val 3390"/>
            </a:avLst>
          </a:prstGeom>
          <a:solidFill>
            <a:srgbClr val="F8FAFC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0440" y="1389888"/>
            <a:ext cx="2148840" cy="27432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/>
        </p:spPr>
      </p:sp>
      <p:sp>
        <p:nvSpPr>
          <p:cNvPr id="19" name="Text 17"/>
          <p:cNvSpPr/>
          <p:nvPr/>
        </p:nvSpPr>
        <p:spPr>
          <a:xfrm>
            <a:off x="3520440" y="138988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 — LOCAL AI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383280" y="178308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Web Speech API (voice input)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383280" y="207568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Browser NLP (keyword extraction)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383280" y="236829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Geometry classifier (rule-based)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383280" y="2660904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DFM scorer (heuristic engine)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83280" y="2971800"/>
            <a:ext cx="2423160" cy="9144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25" name="Text 23"/>
          <p:cNvSpPr/>
          <p:nvPr/>
        </p:nvSpPr>
        <p:spPr>
          <a:xfrm>
            <a:off x="3383280" y="3063240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case: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383280" y="32918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commands, basic search, part classification, DFM checks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26480" y="1280160"/>
            <a:ext cx="2697480" cy="2926080"/>
          </a:xfrm>
          <a:prstGeom prst="roundRect">
            <a:avLst>
              <a:gd name="adj" fmla="val 3390"/>
            </a:avLst>
          </a:prstGeom>
          <a:solidFill>
            <a:srgbClr val="F8FAFC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0" y="1389888"/>
            <a:ext cx="2148840" cy="274320"/>
          </a:xfrm>
          <a:prstGeom prst="roundRect">
            <a:avLst>
              <a:gd name="adj" fmla="val 20000"/>
            </a:avLst>
          </a:prstGeom>
          <a:solidFill>
            <a:srgbClr val="D97706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0" y="138988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3 — OFFLINE FALLBACK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263640" y="178308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30+ action intent patterns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263640" y="207568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12 shape type detectors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263640" y="236829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Synonym expansion dictionary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263640" y="2660904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Typo-tolerant matching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263640" y="2971800"/>
            <a:ext cx="2423160" cy="9144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35" name="Text 33"/>
          <p:cNvSpPr/>
          <p:nvPr/>
        </p:nvSpPr>
        <p:spPr>
          <a:xfrm>
            <a:off x="6263640" y="3063240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case: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263640" y="32918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zero internet. Full NLP without API calls.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48640" y="4389120"/>
            <a:ext cx="8046720" cy="274320"/>
          </a:xfrm>
          <a:prstGeom prst="roundRect">
            <a:avLst>
              <a:gd name="adj" fmla="val 20000"/>
            </a:avLst>
          </a:prstGeom>
          <a:solidFill>
            <a:srgbClr val="EFF6FF"/>
          </a:solidFill>
          <a:ln/>
        </p:spPr>
      </p:sp>
      <p:sp>
        <p:nvSpPr>
          <p:cNvPr id="38" name="Text 36"/>
          <p:cNvSpPr/>
          <p:nvPr/>
        </p:nvSpPr>
        <p:spPr>
          <a:xfrm>
            <a:off x="731520" y="43891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Integration: Any LLM that supports Model Context Protocol can orchestrate all 3 tiers via the Agent API.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cycleCAD Architecture  ·  Confidential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Docker Infrastructure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8229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services. One docker-compose.yml. Self-hosted deployment for Enterprise tier.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280160"/>
            <a:ext cx="2697480" cy="2468880"/>
          </a:xfrm>
          <a:prstGeom prst="roundRect">
            <a:avLst>
              <a:gd name="adj" fmla="val 3704"/>
            </a:avLst>
          </a:prstGeom>
          <a:solidFill>
            <a:srgbClr val="F8FAFC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389888"/>
            <a:ext cx="1280160" cy="274320"/>
          </a:xfrm>
          <a:prstGeom prst="roundRect">
            <a:avLst>
              <a:gd name="adj" fmla="val 20000"/>
            </a:avLst>
          </a:prstGeom>
          <a:solidFill>
            <a:srgbClr val="0284C7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13898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ExplodeView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874520" y="138988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1737360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nginx:alpine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2011680"/>
            <a:ext cx="2423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file server for the 3D viewer.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20,900+ lines app.js, 63 features.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 + COOP/COEP headers.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Serves GLB models from /models/.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46120" y="1280160"/>
            <a:ext cx="2697480" cy="2468880"/>
          </a:xfrm>
          <a:prstGeom prst="roundRect">
            <a:avLst>
              <a:gd name="adj" fmla="val 3704"/>
            </a:avLst>
          </a:prstGeom>
          <a:solidFill>
            <a:srgbClr val="F8FAFC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83280" y="1389888"/>
            <a:ext cx="1280160" cy="27432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/>
        </p:spPr>
      </p:sp>
      <p:sp>
        <p:nvSpPr>
          <p:cNvPr id="15" name="Text 13"/>
          <p:cNvSpPr/>
          <p:nvPr/>
        </p:nvSpPr>
        <p:spPr>
          <a:xfrm>
            <a:off x="3383280" y="13898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Converter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754880" y="138988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:8787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383280" y="1737360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3.11 + CadQuery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383280" y="2011680"/>
            <a:ext cx="2423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server. STEP → GLB conversion.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backends: cascadio → CadQuery → OCP.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500MB files. Adaptive deflection.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GLB builder (binary glTF 2.0).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26480" y="1280160"/>
            <a:ext cx="2697480" cy="2468880"/>
          </a:xfrm>
          <a:prstGeom prst="roundRect">
            <a:avLst>
              <a:gd name="adj" fmla="val 3704"/>
            </a:avLst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63640" y="1389888"/>
            <a:ext cx="1280160" cy="274320"/>
          </a:xfrm>
          <a:prstGeom prst="roundRect">
            <a:avLst>
              <a:gd name="adj" fmla="val 20000"/>
            </a:avLst>
          </a:prstGeom>
          <a:solidFill>
            <a:srgbClr val="7C3AED"/>
          </a:solidFill>
          <a:ln/>
        </p:spPr>
      </p:sp>
      <p:sp>
        <p:nvSpPr>
          <p:cNvPr id="21" name="Text 19"/>
          <p:cNvSpPr/>
          <p:nvPr/>
        </p:nvSpPr>
        <p:spPr>
          <a:xfrm>
            <a:off x="6263640" y="13898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cycleCAD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635240" y="138988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:3000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63640" y="1737360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nginx:alpine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263640" y="2011680"/>
            <a:ext cx="2423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CAD modeler. 22 ES modules.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API + MCP server.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Parametric engine + AI chat.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+ token engine.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48640" y="3931920"/>
            <a:ext cx="804672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31520" y="4023360"/>
            <a:ext cx="1828800" cy="228600"/>
          </a:xfrm>
          <a:prstGeom prst="roundRect">
            <a:avLst>
              <a:gd name="adj" fmla="val 24000"/>
            </a:avLst>
          </a:prstGeom>
          <a:solidFill>
            <a:srgbClr val="D97706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40233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OPTIONS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777240" y="4343400"/>
            <a:ext cx="73152" cy="2286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9" name="Text 27"/>
          <p:cNvSpPr/>
          <p:nvPr/>
        </p:nvSpPr>
        <p:spPr>
          <a:xfrm>
            <a:off x="914400" y="4325112"/>
            <a:ext cx="1097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Pages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914400" y="4462272"/>
            <a:ext cx="17373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tier — static, CDN, HTTPS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2788920" y="4343400"/>
            <a:ext cx="73152" cy="22860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32" name="Text 30"/>
          <p:cNvSpPr/>
          <p:nvPr/>
        </p:nvSpPr>
        <p:spPr>
          <a:xfrm>
            <a:off x="2926080" y="4325112"/>
            <a:ext cx="1097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2926080" y="4462272"/>
            <a:ext cx="17373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 — all 3 services, 4GB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800600" y="4343400"/>
            <a:ext cx="73152" cy="2286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5" name="Text 33"/>
          <p:cNvSpPr/>
          <p:nvPr/>
        </p:nvSpPr>
        <p:spPr>
          <a:xfrm>
            <a:off x="4937760" y="4325112"/>
            <a:ext cx="1097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937760" y="4462272"/>
            <a:ext cx="17373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— auto-scaling, multi-region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6812280" y="4343400"/>
            <a:ext cx="73152" cy="228600"/>
          </a:xfrm>
          <a:prstGeom prst="rect">
            <a:avLst/>
          </a:prstGeom>
          <a:solidFill>
            <a:srgbClr val="DB2777"/>
          </a:solidFill>
          <a:ln/>
        </p:spPr>
      </p:sp>
      <p:sp>
        <p:nvSpPr>
          <p:cNvPr id="38" name="Text 36"/>
          <p:cNvSpPr/>
          <p:nvPr/>
        </p:nvSpPr>
        <p:spPr>
          <a:xfrm>
            <a:off x="6949440" y="4325112"/>
            <a:ext cx="1097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B2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(Cloudflare)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949440" y="4462272"/>
            <a:ext cx="17373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CDN — sub-50ms worldwide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cycleCAD Architecture  ·  Confidential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Flow &amp; State Management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8229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state on window.*. Feature tree as source of truth. Undo/redo with 50-state history.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280160"/>
            <a:ext cx="3931920" cy="2240280"/>
          </a:xfrm>
          <a:prstGeom prst="roundRect">
            <a:avLst>
              <a:gd name="adj" fmla="val 4082"/>
            </a:avLst>
          </a:prstGeom>
          <a:solidFill>
            <a:srgbClr val="F8FAFC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389888"/>
            <a:ext cx="1828800" cy="256032"/>
          </a:xfrm>
          <a:prstGeom prst="roundRect">
            <a:avLst>
              <a:gd name="adj" fmla="val 21429"/>
            </a:avLst>
          </a:prstGeom>
          <a:solidFill>
            <a:srgbClr val="0284C7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38988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STATE (window.*)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77240" y="173736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284C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window._scene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834640" y="173736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Three.js scene graph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77240" y="195681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284C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window._camera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834640" y="195681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Perspective camera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777240" y="217627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284C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window._renderer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834640" y="217627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WebGL renderer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77240" y="239572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284C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window.allParts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834640" y="239572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array (399 default)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77240" y="261518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284C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window.ASSEMBLIES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834640" y="261518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assembly definitions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77240" y="28346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284C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window.manifest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834640" y="283464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metadata JSON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77240" y="305409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284C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window.cycleCAD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834640" y="305409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API namespace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327355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284C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window._aiIdentifiedParts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2834640" y="32735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vision database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663440" y="1280160"/>
            <a:ext cx="3931920" cy="2240280"/>
          </a:xfrm>
          <a:prstGeom prst="roundRect">
            <a:avLst>
              <a:gd name="adj" fmla="val 4082"/>
            </a:avLst>
          </a:prstGeom>
          <a:solidFill>
            <a:srgbClr val="F8FAFC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846320" y="1389888"/>
            <a:ext cx="1097280" cy="256032"/>
          </a:xfrm>
          <a:prstGeom prst="roundRect">
            <a:avLst>
              <a:gd name="adj" fmla="val 21429"/>
            </a:avLst>
          </a:prstGeom>
          <a:solidFill>
            <a:srgbClr val="059669"/>
          </a:solidFill>
          <a:ln/>
        </p:spPr>
      </p:sp>
      <p:sp>
        <p:nvSpPr>
          <p:cNvPr id="28" name="Text 26"/>
          <p:cNvSpPr/>
          <p:nvPr/>
        </p:nvSpPr>
        <p:spPr>
          <a:xfrm>
            <a:off x="4846320" y="138988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FLOW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846320" y="1755648"/>
            <a:ext cx="73152" cy="201168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0" name="Text 28"/>
          <p:cNvSpPr/>
          <p:nvPr/>
        </p:nvSpPr>
        <p:spPr>
          <a:xfrm>
            <a:off x="5029200" y="173736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Input  →  Agent API / GUI event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846320" y="2029968"/>
            <a:ext cx="73152" cy="201168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32" name="Text 30"/>
          <p:cNvSpPr/>
          <p:nvPr/>
        </p:nvSpPr>
        <p:spPr>
          <a:xfrm>
            <a:off x="5029200" y="201168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API  →  Operations module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846320" y="2304288"/>
            <a:ext cx="73152" cy="20116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0" y="228600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 →  Three.js scene graph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846320" y="2578608"/>
            <a:ext cx="73152" cy="20116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6" name="Text 34"/>
          <p:cNvSpPr/>
          <p:nvPr/>
        </p:nvSpPr>
        <p:spPr>
          <a:xfrm>
            <a:off x="5029200" y="256032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change  →  Feature tree update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46320" y="2852928"/>
            <a:ext cx="73152" cy="201168"/>
          </a:xfrm>
          <a:prstGeom prst="rect">
            <a:avLst/>
          </a:prstGeom>
          <a:solidFill>
            <a:srgbClr val="DB2777"/>
          </a:solidFill>
          <a:ln/>
        </p:spPr>
      </p:sp>
      <p:sp>
        <p:nvSpPr>
          <p:cNvPr id="38" name="Text 36"/>
          <p:cNvSpPr/>
          <p:nvPr/>
        </p:nvSpPr>
        <p:spPr>
          <a:xfrm>
            <a:off x="5029200" y="283464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tree  →  Undo history push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846320" y="3127248"/>
            <a:ext cx="73152" cy="201168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40" name="Text 38"/>
          <p:cNvSpPr/>
          <p:nvPr/>
        </p:nvSpPr>
        <p:spPr>
          <a:xfrm>
            <a:off x="5029200" y="310896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request  →  Mesh → STL/OBJ/STEP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48640" y="3749040"/>
            <a:ext cx="8046720" cy="9144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31520" y="3840480"/>
            <a:ext cx="1828800" cy="228600"/>
          </a:xfrm>
          <a:prstGeom prst="roundRect">
            <a:avLst>
              <a:gd name="adj" fmla="val 24000"/>
            </a:avLst>
          </a:prstGeom>
          <a:solidFill>
            <a:srgbClr val="D97706"/>
          </a:solidFill>
          <a:ln/>
        </p:spPr>
      </p:sp>
      <p:sp>
        <p:nvSpPr>
          <p:cNvPr id="43" name="Text 41"/>
          <p:cNvSpPr/>
          <p:nvPr/>
        </p:nvSpPr>
        <p:spPr>
          <a:xfrm>
            <a:off x="731520" y="38404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 &amp; CACHING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777240" y="416052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localStorage: 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1965960" y="416052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keys, last model, favorites, theme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4800600" y="416052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IndexedDB: 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5989320" y="416052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GLB model cache (converted STEP files)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777240" y="436168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 state: 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1965960" y="436168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tree, undo history, selection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4800600" y="436168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cycleCAD JSON: 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5989320" y="436168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project save/load with geometry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cycleCAD Architecture  ·  Confidential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Technology Roadmap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8229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monolith to microservices. From browser to edge. From prototype to platform.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280160"/>
            <a:ext cx="2697480" cy="3154680"/>
          </a:xfrm>
          <a:prstGeom prst="roundRect">
            <a:avLst>
              <a:gd name="adj" fmla="val 3390"/>
            </a:avLst>
          </a:prstGeom>
          <a:solidFill>
            <a:srgbClr val="F8FAFC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97280" y="1417320"/>
            <a:ext cx="1234440" cy="320040"/>
          </a:xfrm>
          <a:prstGeom prst="roundRect">
            <a:avLst>
              <a:gd name="adj" fmla="val 17143"/>
            </a:avLst>
          </a:prstGeom>
          <a:solidFill>
            <a:srgbClr val="0284C7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141732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2920" y="182880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Q1-Q2 2026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48640" y="21488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22 ES modules (monolith)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48640" y="244144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Agent API (55 commands)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48640" y="2734056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MCP server + CLI tool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48640" y="302666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STEP import (server-side)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48640" y="331927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ExplodeView merge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3611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Docker Compose deploy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46120" y="1280160"/>
            <a:ext cx="2697480" cy="3154680"/>
          </a:xfrm>
          <a:prstGeom prst="roundRect">
            <a:avLst>
              <a:gd name="adj" fmla="val 3390"/>
            </a:avLst>
          </a:prstGeom>
          <a:solidFill>
            <a:srgbClr val="F8FAFC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977640" y="1417320"/>
            <a:ext cx="1234440" cy="320040"/>
          </a:xfrm>
          <a:prstGeom prst="roundRect">
            <a:avLst>
              <a:gd name="adj" fmla="val 17143"/>
            </a:avLst>
          </a:prstGeom>
          <a:solidFill>
            <a:srgbClr val="059669"/>
          </a:solidFill>
          <a:ln/>
        </p:spPr>
      </p:sp>
      <p:sp>
        <p:nvSpPr>
          <p:cNvPr id="19" name="Text 17"/>
          <p:cNvSpPr/>
          <p:nvPr/>
        </p:nvSpPr>
        <p:spPr>
          <a:xfrm>
            <a:off x="3977640" y="141732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383280" y="182880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Q3-Q4 2026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429000" y="21488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AI Copilot (text-to-CAD)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429000" y="244144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Token engine + marketplace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429000" y="2734056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Connected fabs (webhook API)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429000" y="302666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Real-time collab (CRDT)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429000" y="331927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Crypto payments (USDC/ETH)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429000" y="3611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OpenCascade.js in-browser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126480" y="1280160"/>
            <a:ext cx="2697480" cy="3154680"/>
          </a:xfrm>
          <a:prstGeom prst="roundRect">
            <a:avLst>
              <a:gd name="adj" fmla="val 3390"/>
            </a:avLst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58000" y="1417320"/>
            <a:ext cx="1234440" cy="320040"/>
          </a:xfrm>
          <a:prstGeom prst="roundRect">
            <a:avLst>
              <a:gd name="adj" fmla="val 17143"/>
            </a:avLst>
          </a:prstGeom>
          <a:solidFill>
            <a:srgbClr val="7C3AED"/>
          </a:solidFill>
          <a:ln/>
        </p:spPr>
      </p:sp>
      <p:sp>
        <p:nvSpPr>
          <p:cNvPr id="29" name="Text 27"/>
          <p:cNvSpPr/>
          <p:nvPr/>
        </p:nvSpPr>
        <p:spPr>
          <a:xfrm>
            <a:off x="6858000" y="141732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263640" y="182880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2027+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309360" y="21488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Kubernetes auto-scaling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309360" y="244144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Plugin API (FeatureScript equiv)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309360" y="2734056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Edge compute (Cloudflare)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309360" y="302666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Agent swarm orchestration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309360" y="331927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ERC-20 $CYCLE token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309360" y="3611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Mobile native (React Native)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48640" y="4572000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Vision: Every manufacturing company runs cycleCAD. Every AI agent speaks our API. Every creator earns from their models.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cycleCAD — System Architecture</dc:title>
  <dc:subject>PptxGenJS Presentation</dc:subject>
  <dc:creator>Sachin Kumar</dc:creator>
  <cp:lastModifiedBy>Sachin Kumar</cp:lastModifiedBy>
  <cp:revision>1</cp:revision>
  <dcterms:created xsi:type="dcterms:W3CDTF">2026-03-26T10:31:47Z</dcterms:created>
  <dcterms:modified xsi:type="dcterms:W3CDTF">2026-03-26T10:31:47Z</dcterms:modified>
</cp:coreProperties>
</file>