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5943600" y="-914400"/>
            <a:ext cx="4572000" cy="2743200"/>
          </a:xfrm>
          <a:prstGeom prst="rect">
            <a:avLst/>
          </a:prstGeom>
          <a:solidFill>
            <a:srgbClr val="2E86DE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400800" y="-457200"/>
            <a:ext cx="3657600" cy="2286000"/>
          </a:xfrm>
          <a:prstGeom prst="rect">
            <a:avLst/>
          </a:prstGeom>
          <a:solidFill>
            <a:srgbClr val="D4A843">
              <a:alpha val="8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48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cycleWASH</a:t>
            </a:r>
            <a:pPr indent="0" marL="0">
              <a:buNone/>
            </a:pPr>
            <a:r>
              <a:rPr lang="en-US" sz="14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×  </a:t>
            </a:r>
            <a:pPr indent="0" marL="0">
              <a:buNone/>
            </a:pPr>
            <a:r>
              <a:rPr lang="en-US" sz="14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cycleCAD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the Interface  |  $CYCLE Tokens  |  Circular Economy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3716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cycleCAD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731520" y="21945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Agent-First OS for Manufacturing.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731520" y="27432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was built for humans with a mouse. We built it for AI agents with an API. Agents are the only interface.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31520" y="3474720"/>
            <a:ext cx="1554480" cy="9144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19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31520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Modules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560320" y="3474720"/>
            <a:ext cx="1554480" cy="9144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2560320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18.8K+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2560320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389120" y="3474720"/>
            <a:ext cx="1554480" cy="9144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389120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$0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389120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217920" y="3474720"/>
            <a:ext cx="1554480" cy="9144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217920" y="35661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217920" y="39776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Model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 |  March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CAD requires a screen, a mouse, a keyboard, and years of training. AI agents can't use it. The circular economy can't run on it.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7680960" cy="8686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63040"/>
            <a:ext cx="54864" cy="868680"/>
          </a:xfrm>
          <a:prstGeom prst="rect">
            <a:avLst/>
          </a:prstGeom>
          <a:solidFill>
            <a:srgbClr val="E05555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459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5361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Requires screen, mouse, keyboard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54480" y="1874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agent can't click SolidWorks. An unskilled worker can't use Inventor. The interface IS the bottleneck. 8 billion people, 24M CAD licenses — 99.7% locked out.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2468880"/>
            <a:ext cx="7680960" cy="8686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2468880"/>
            <a:ext cx="54864" cy="868680"/>
          </a:xfrm>
          <a:prstGeom prst="rect">
            <a:avLst/>
          </a:prstGeom>
          <a:solidFill>
            <a:srgbClr val="E05555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65176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54480" y="254203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$680 — $6,000 / year per seat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554480" y="2880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360 $680/yr, OnShape $1,500–$2,500/yr, SolidWorks $4,000–$6,000/yr. The developing world can't afford to design its own products.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31520" y="3474720"/>
            <a:ext cx="7680960" cy="8686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3474720"/>
            <a:ext cx="54864" cy="868680"/>
          </a:xfrm>
          <a:prstGeom prst="rect">
            <a:avLst/>
          </a:prstGeom>
          <a:solidFill>
            <a:srgbClr val="E05555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576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54480" y="354787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Designed for the throwaway economy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554480" y="3886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 helps design for disassembly, repair, or reuse. No wear prediction, no maintenance scheduling. The circular economy has no operating system.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20" name="Text 15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8B humans + billions of AI agents need to design physical things  |  Today's CAD serves 24M people with screens and mice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CAD platform built for AI agents AND humans. MCP server + CLI + API + browser UI.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657600" cy="10515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63040"/>
            <a:ext cx="54864" cy="105156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0020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53619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Agent-First Architecture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08760" y="18745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server, CLI, REST API. AI agents design parts autonomously. Humans use the browser UI when they want to.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54880" y="1463040"/>
            <a:ext cx="3657600" cy="10515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463040"/>
            <a:ext cx="54864" cy="105156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6002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153619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Intent → Product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532120" y="18745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screen required. Speak, type, or send an API call. cycleCAD converts intent into parametric geometry, G-code, and factory output.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31520" y="2743200"/>
            <a:ext cx="3657600" cy="10515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2743200"/>
            <a:ext cx="54864" cy="105156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28163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Circular Economy Engine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508760" y="31546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disassembly, repair, reuse. Maintenance heatmaps, wear timelines, rebuild guides. The OS for sustainable manufacturing.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754880" y="2743200"/>
            <a:ext cx="3657600" cy="10515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54880" y="2743200"/>
            <a:ext cx="54864" cy="105156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288036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32120" y="28163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40+ Analysis Tools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5532120" y="31546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BOM, AI part ID, service mode, section cuts, exploded views — all accessible via API for agent workflows.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731520" y="4114800"/>
            <a:ext cx="7680960" cy="731520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25" name="Text 19"/>
          <p:cNvSpPr/>
          <p:nvPr/>
        </p:nvSpPr>
        <p:spPr>
          <a:xfrm>
            <a:off x="914400" y="41605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skill + CLI + API = any LLM can design physical products through cycleCAD. Claude, GPT, Gemini, Llama — we're the CAD layer for all of them.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 Opportunity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97280" y="1463040"/>
            <a:ext cx="2011680" cy="2011680"/>
          </a:xfrm>
          <a:prstGeom prst="ellipse">
            <a:avLst/>
          </a:prstGeom>
          <a:solidFill>
            <a:srgbClr val="2E86DE">
              <a:alpha val="15000"/>
            </a:srgbClr>
          </a:solidFill>
          <a:ln w="25400">
            <a:solidFill>
              <a:srgbClr val="2E86D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2011680"/>
            <a:ext cx="1645920" cy="1645920"/>
          </a:xfrm>
          <a:prstGeom prst="ellipse">
            <a:avLst/>
          </a:prstGeom>
          <a:solidFill>
            <a:srgbClr val="D4A843">
              <a:alpha val="15000"/>
            </a:srgbClr>
          </a:solidFill>
          <a:ln w="25400">
            <a:solidFill>
              <a:srgbClr val="D4A84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77440" y="2468880"/>
            <a:ext cx="1280160" cy="1280160"/>
          </a:xfrm>
          <a:prstGeom prst="ellipse">
            <a:avLst/>
          </a:prstGeom>
          <a:solidFill>
            <a:srgbClr val="E8963A">
              <a:alpha val="15000"/>
            </a:srgbClr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74904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6DE"/>
                </a:solidFill>
              </a:rPr>
              <a:t>TAM  $25.3B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</a:rPr>
              <a:t>Global CAD Market 2026 (Cognitive Market Research)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4A843"/>
                </a:solidFill>
              </a:rPr>
              <a:t>SAM  $10.5B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</a:rPr>
              <a:t>Mechanical CAD 2024 (Verified Market Reports)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</a:rPr>
              <a:t>SOM  $1.05B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</a:rPr>
              <a:t>Cloud + browser CAD segment (8% CAGR, Grand View Research)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 Data</a:t>
            </a:r>
            <a:endParaRPr lang="en-US" sz="18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82880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120640" y="18013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24.3M active licenses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120640" y="2039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CAD user base across manufacturing, architecture, automotive (2023)</a:t>
            </a:r>
            <a:endParaRPr lang="en-US" sz="8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42316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20640" y="23957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6.8% CAGR to $24.2B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120640" y="26334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CAD software market growing through 2034 (IMARC Group)</a:t>
            </a:r>
            <a:endParaRPr lang="en-US" sz="85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301752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120640" y="2990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Cloud CAD: 8% CAGR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5120640" y="32278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Fastest-growing segment — browser-based displacing desktop installs</a:t>
            </a:r>
            <a:endParaRPr lang="en-US" sz="8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361188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120640" y="3584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CAD: $3.5M+ funded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5120640" y="38221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Aurorin (YC W26 $500K), MecAgent ($3M seed) — investors betting big</a:t>
            </a:r>
            <a:endParaRPr lang="en-US" sz="85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420624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120640" y="41788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221K+ companies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5120640" y="44165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CAD software globally, 155K+ on AutoCAD alone (6sense, 2026)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We've Built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proven products merging into one platform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3657600" cy="32004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371600"/>
            <a:ext cx="3657600" cy="54864"/>
          </a:xfrm>
          <a:prstGeom prst="rect">
            <a:avLst/>
          </a:prstGeom>
          <a:solidFill>
            <a:srgbClr val="2E86D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554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cycleCAD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3D CAD Modeler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31720"/>
            <a:ext cx="182880" cy="182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88720" y="23317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sketch engine + constraint solver</a:t>
            </a:r>
            <a:endParaRPr lang="en-US" sz="10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587752"/>
            <a:ext cx="182880" cy="182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8720" y="258775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Extrude, revolve, sweep, loft, shell</a:t>
            </a:r>
            <a:endParaRPr lang="en-US" sz="10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843784"/>
            <a:ext cx="182880" cy="1828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88720" y="284378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Sheet metal (bend, flange, unfold)</a:t>
            </a:r>
            <a:endParaRPr lang="en-US" sz="10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099816"/>
            <a:ext cx="182880" cy="1828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88720" y="309981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workspace with 6 joint types</a:t>
            </a:r>
            <a:endParaRPr lang="en-US" sz="10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355848"/>
            <a:ext cx="182880" cy="18288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88720" y="335584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 .ipt/.iam native import</a:t>
            </a:r>
            <a:endParaRPr lang="en-US" sz="10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3611880"/>
            <a:ext cx="182880" cy="18288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36118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DXF engineering drawings</a:t>
            </a:r>
            <a:endParaRPr lang="en-US" sz="10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3867912"/>
            <a:ext cx="182880" cy="18288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188720" y="386791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 (Gemini + Groq + offline)</a:t>
            </a:r>
            <a:endParaRPr lang="en-US" sz="10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4123944"/>
            <a:ext cx="182880" cy="18288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188720" y="412394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ES modules, 18.8K+ lines</a:t>
            </a:r>
            <a:endParaRPr lang="en-US" sz="1000" dirty="0"/>
          </a:p>
        </p:txBody>
      </p:sp>
      <p:sp>
        <p:nvSpPr>
          <p:cNvPr id="24" name="Shape 14"/>
          <p:cNvSpPr/>
          <p:nvPr/>
        </p:nvSpPr>
        <p:spPr>
          <a:xfrm>
            <a:off x="4754880" y="1371600"/>
            <a:ext cx="3657600" cy="32004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15"/>
          <p:cNvSpPr/>
          <p:nvPr/>
        </p:nvSpPr>
        <p:spPr>
          <a:xfrm>
            <a:off x="4754880" y="1371600"/>
            <a:ext cx="36576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6" name="Text 16"/>
          <p:cNvSpPr/>
          <p:nvPr/>
        </p:nvSpPr>
        <p:spPr>
          <a:xfrm>
            <a:off x="4937760" y="1554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ExplodeView</a:t>
            </a:r>
            <a:endParaRPr lang="en-US" sz="2000" dirty="0"/>
          </a:p>
        </p:txBody>
      </p:sp>
      <p:sp>
        <p:nvSpPr>
          <p:cNvPr id="27" name="Text 17"/>
          <p:cNvSpPr/>
          <p:nvPr/>
        </p:nvSpPr>
        <p:spPr>
          <a:xfrm>
            <a:off x="493776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Viewer + Embeddable Widget</a:t>
            </a:r>
            <a:endParaRPr lang="en-US" sz="1200" dirty="0"/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7760" y="2331720"/>
            <a:ext cx="182880" cy="182880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5212080" y="23317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part identification (Vision API)</a:t>
            </a:r>
            <a:endParaRPr lang="en-US" sz="1000" dirty="0"/>
          </a:p>
        </p:txBody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37760" y="2587752"/>
            <a:ext cx="182880" cy="182880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5212080" y="258775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BOM with McMaster-Carr pricing</a:t>
            </a:r>
            <a:endParaRPr lang="en-US" sz="1000" dirty="0"/>
          </a:p>
        </p:txBody>
      </p:sp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37760" y="2843784"/>
            <a:ext cx="182880" cy="182880"/>
          </a:xfrm>
          <a:prstGeom prst="rect">
            <a:avLst/>
          </a:prstGeom>
        </p:spPr>
      </p:pic>
      <p:sp>
        <p:nvSpPr>
          <p:cNvPr id="33" name="Text 20"/>
          <p:cNvSpPr/>
          <p:nvPr/>
        </p:nvSpPr>
        <p:spPr>
          <a:xfrm>
            <a:off x="5212080" y="284378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heatmap + wear timeline</a:t>
            </a:r>
            <a:endParaRPr lang="en-US" sz="1000" dirty="0"/>
          </a:p>
        </p:txBody>
      </p:sp>
      <p:pic>
        <p:nvPicPr>
          <p:cNvPr id="34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37760" y="3099816"/>
            <a:ext cx="182880" cy="182880"/>
          </a:xfrm>
          <a:prstGeom prst="rect">
            <a:avLst/>
          </a:prstGeom>
        </p:spPr>
      </p:pic>
      <p:sp>
        <p:nvSpPr>
          <p:cNvPr id="35" name="Text 21"/>
          <p:cNvSpPr/>
          <p:nvPr/>
        </p:nvSpPr>
        <p:spPr>
          <a:xfrm>
            <a:off x="5212080" y="309981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Assembly/disassembly animations</a:t>
            </a:r>
            <a:endParaRPr lang="en-US" sz="1000" dirty="0"/>
          </a:p>
        </p:txBody>
      </p:sp>
      <p:pic>
        <p:nvPicPr>
          <p:cNvPr id="36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937760" y="3355848"/>
            <a:ext cx="182880" cy="182880"/>
          </a:xfrm>
          <a:prstGeom prst="rect">
            <a:avLst/>
          </a:prstGeom>
        </p:spPr>
      </p:pic>
      <p:sp>
        <p:nvSpPr>
          <p:cNvPr id="37" name="Text 22"/>
          <p:cNvSpPr/>
          <p:nvPr/>
        </p:nvSpPr>
        <p:spPr>
          <a:xfrm>
            <a:off x="5212080" y="335584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cuts, measurements, annotations</a:t>
            </a:r>
            <a:endParaRPr lang="en-US" sz="1000" dirty="0"/>
          </a:p>
        </p:txBody>
      </p:sp>
      <p:pic>
        <p:nvPicPr>
          <p:cNvPr id="38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937760" y="3611880"/>
            <a:ext cx="182880" cy="182880"/>
          </a:xfrm>
          <a:prstGeom prst="rect">
            <a:avLst/>
          </a:prstGeom>
        </p:spPr>
      </p:pic>
      <p:sp>
        <p:nvSpPr>
          <p:cNvPr id="39" name="Text 23"/>
          <p:cNvSpPr/>
          <p:nvPr/>
        </p:nvSpPr>
        <p:spPr>
          <a:xfrm>
            <a:off x="5212080" y="36118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mode for field technicians</a:t>
            </a:r>
            <a:endParaRPr lang="en-US" sz="1000" dirty="0"/>
          </a:p>
        </p:txBody>
      </p:sp>
      <p:pic>
        <p:nvPicPr>
          <p:cNvPr id="40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3867912"/>
            <a:ext cx="182880" cy="182880"/>
          </a:xfrm>
          <a:prstGeom prst="rect">
            <a:avLst/>
          </a:prstGeom>
        </p:spPr>
      </p:pic>
      <p:sp>
        <p:nvSpPr>
          <p:cNvPr id="41" name="Text 24"/>
          <p:cNvSpPr/>
          <p:nvPr/>
        </p:nvSpPr>
        <p:spPr>
          <a:xfrm>
            <a:off x="5212080" y="386791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6-language support, 399 parts tested</a:t>
            </a:r>
            <a:endParaRPr lang="en-US" sz="1000" dirty="0"/>
          </a:p>
        </p:txBody>
      </p:sp>
      <p:pic>
        <p:nvPicPr>
          <p:cNvPr id="42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937760" y="4123944"/>
            <a:ext cx="182880" cy="182880"/>
          </a:xfrm>
          <a:prstGeom prst="rect">
            <a:avLst/>
          </a:prstGeom>
        </p:spPr>
      </p:pic>
      <p:sp>
        <p:nvSpPr>
          <p:cNvPr id="43" name="Text 25"/>
          <p:cNvSpPr/>
          <p:nvPr/>
        </p:nvSpPr>
        <p:spPr>
          <a:xfrm>
            <a:off x="5212080" y="412394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 weekly npm downloads, 19K+ lines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Competitive Landscape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011680" cy="11887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011680" cy="45720"/>
          </a:xfrm>
          <a:prstGeom prst="rect">
            <a:avLst/>
          </a:prstGeom>
          <a:solidFill>
            <a:srgbClr val="E0555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070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OnShape (PTC)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447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$1,500–$2,500/yr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691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AI, no Inventor import, no embeddable widget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606040" y="1097280"/>
            <a:ext cx="2011680" cy="11887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606040" y="1097280"/>
            <a:ext cx="2011680" cy="45720"/>
          </a:xfrm>
          <a:prstGeom prst="rect">
            <a:avLst/>
          </a:prstGeom>
          <a:solidFill>
            <a:srgbClr val="E05555"/>
          </a:solidFill>
          <a:ln/>
        </p:spPr>
      </p:sp>
      <p:sp>
        <p:nvSpPr>
          <p:cNvPr id="10" name="Text 8"/>
          <p:cNvSpPr/>
          <p:nvPr/>
        </p:nvSpPr>
        <p:spPr>
          <a:xfrm>
            <a:off x="2697480" y="12070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Fusion 360 (Autodesk)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697480" y="14447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$680/yr + extensions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697480" y="1691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install, killed free features, lock-in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754880" y="1097280"/>
            <a:ext cx="2011680" cy="11887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097280"/>
            <a:ext cx="2011680" cy="45720"/>
          </a:xfrm>
          <a:prstGeom prst="rect">
            <a:avLst/>
          </a:prstGeom>
          <a:solidFill>
            <a:srgbClr val="E05555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2070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SolidWorks (Dassault)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14447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$4,000–$6,000/yr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46320" y="1691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Windows-only, no browser, no AI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903720" y="1097280"/>
            <a:ext cx="2011680" cy="11887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903720" y="1097280"/>
            <a:ext cx="2011680" cy="45720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995160" y="12070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Shapr3D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95160" y="14447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$456/yr ($38/mo)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995160" y="16916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$21.8M raised. iPad-first, Siemens Parasolid. No AI analysis, closed-source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2468880"/>
            <a:ext cx="2011680" cy="11887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2468880"/>
            <a:ext cx="2011680" cy="45720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25786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Aurorin CAD (YC W26)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28163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 raised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" y="3063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Desktop, closed-source, modeling only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606040" y="2468880"/>
            <a:ext cx="2011680" cy="11887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606040" y="2468880"/>
            <a:ext cx="2011680" cy="45720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30" name="Text 28"/>
          <p:cNvSpPr/>
          <p:nvPr/>
        </p:nvSpPr>
        <p:spPr>
          <a:xfrm>
            <a:off x="2697480" y="25786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MecAgent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697480" y="28163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$3M raised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97480" y="3063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only — needs host CAD software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754880" y="2468880"/>
            <a:ext cx="2011680" cy="11887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54880" y="2468880"/>
            <a:ext cx="2011680" cy="45720"/>
          </a:xfrm>
          <a:prstGeom prst="rect">
            <a:avLst/>
          </a:prstGeom>
          <a:solidFill>
            <a:srgbClr val="8B9AB5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257860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Chili3D / FreeCAD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46320" y="28163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846320" y="3063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AI, no analysis, desktop or alpha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31520" y="3931920"/>
            <a:ext cx="7680960" cy="914400"/>
          </a:xfrm>
          <a:prstGeom prst="rect">
            <a:avLst/>
          </a:prstGeom>
          <a:solidFill>
            <a:srgbClr val="1A2010"/>
          </a:solidFill>
          <a:ln/>
        </p:spPr>
      </p:sp>
      <p:pic>
        <p:nvPicPr>
          <p:cNvPr id="39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114800"/>
            <a:ext cx="411480" cy="411480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146304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cycleCAD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1463040" y="42976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Browser-Native  |  AI-Powered  |  Inventor Import  |  Embeddable Widget  |  Platform OS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1463040" y="45262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tool that combines modeling + viewing + AI analysis in one browser platform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Feature Comparison</a:t>
            </a:r>
            <a:endParaRPr lang="en-US" sz="3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86D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cycleCAD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9A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OnShape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9A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Shapr3D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9A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Fusion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9A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Aurorin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8B9A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FreeCAD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Browser-based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Tier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part identification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 BOM + pricing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 import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heatmap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/ iPad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 animations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Text-to-CAD (AI)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89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A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Collaboration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89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A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= Full support    ~ = Partial    ✗ = Not available    Planned = On roadmap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We Win — Head to Head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5087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05840"/>
            <a:ext cx="3657600" cy="45720"/>
          </a:xfrm>
          <a:prstGeom prst="rect">
            <a:avLst/>
          </a:prstGeom>
          <a:solidFill>
            <a:srgbClr val="2E86DE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1155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vs. OnShape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OnShape costs $1,500/yr, forces public designs on free tier, stores your IP on PTC's servers. Zero AI analysis tools.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 cheaper, AI-powered analysis, Inventor import, maintenance heatmaps, service mode, embeddable widget.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3657600" cy="15087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05840"/>
            <a:ext cx="3657600" cy="45720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1155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vs. Aurorin CAD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1417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Impressive AI modeling speed, but desktop-only, closed-source, and only does modeling. No viewing or analysis.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92040" y="19202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Browser-native, ExplodeView (viewer + embeddable widget) with 40+ analysis tools, tested with complex cycleWASH machines.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31520" y="2697480"/>
            <a:ext cx="3657600" cy="15087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697480"/>
            <a:ext cx="3657600" cy="45720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2807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96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vs. MecAgent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108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for SolidWorks/Inventor — requires a $545-$4K host app. Good text-to-CAD, but $3M raised for just a plugin.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36118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the CAD tool. Same AI features built directly in. No host software needed. Fraction of the cost.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0" y="2697480"/>
            <a:ext cx="3657600" cy="15087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2697480"/>
            <a:ext cx="365760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0" name="Text 18"/>
          <p:cNvSpPr/>
          <p:nvPr/>
        </p:nvSpPr>
        <p:spPr>
          <a:xfrm>
            <a:off x="4892040" y="2807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vs. Chili3D + FreeCAD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3108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Chili3D has real OCCT kernel but is alpha with no AI. FreeCAD is mature but desktop-only, clunky UI, no browser.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92040" y="36118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platform: model + view + analyze + export. 19 modules, AI chatbot, mobile viewer, modern UI.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31520" y="4389120"/>
            <a:ext cx="7680960" cy="502920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41655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competitor combines: parametric modeling + Inventor import + AI part ID + smart BOM + maintenance tools + mobile viewer + embeddable widget.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ExplodeView Analysis Tools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713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viewer + embeddable widget with 40+ analysis tools — merging into cycleCAD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50976"/>
                <a:gridCol w="950976"/>
                <a:gridCol w="950976"/>
                <a:gridCol w="950976"/>
                <a:gridCol w="950976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E86D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 Feature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cycleCAD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9A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OnShape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9A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Fusion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9A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MecAgent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B9AB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Chili3D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D5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part identification (geometry)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Vision identification (Gemini)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AI scan (all parts)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 BOM + McMaster-Carr pricing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heatmap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wear timeline (5yr Gantt)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mode (field tech workflow)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Assembly/disassembly animation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assembly instructions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language part search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QR code per part (deep-link)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report export (HTML)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4A8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0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24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✓ in the cycleCAD column is a ✗ for every competitor. This is our moat.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Copilot — MecAgent Killer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713232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MecAgent charges for as a plugin, cycleCAD includes natively — at a fraction of the cost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3657600" cy="6858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45720" cy="685800"/>
          </a:xfrm>
          <a:prstGeom prst="rect">
            <a:avLst/>
          </a:prstGeom>
          <a:solidFill>
            <a:srgbClr val="8B6FC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173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Text-to-CAD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371600" y="16276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 a 50mm gear" → sketch + extrude + pattern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54880" y="1280160"/>
            <a:ext cx="3657600" cy="6858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280160"/>
            <a:ext cx="45720" cy="685800"/>
          </a:xfrm>
          <a:prstGeom prst="rect">
            <a:avLst/>
          </a:prstGeom>
          <a:solidFill>
            <a:srgbClr val="8B6FC0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9496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NL Editing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394960" y="16276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 the hole 2mm bigger" → finds feature, updates, rebuilds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31520" y="2148840"/>
            <a:ext cx="3657600" cy="6858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31520" y="2148840"/>
            <a:ext cx="45720" cy="685800"/>
          </a:xfrm>
          <a:prstGeom prst="rect">
            <a:avLst/>
          </a:prstGeom>
          <a:solidFill>
            <a:srgbClr val="8B6FC0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8600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Smart Autocomplete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371600" y="2496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next operation from your workflow context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754880" y="2148840"/>
            <a:ext cx="3657600" cy="6858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54880" y="2148840"/>
            <a:ext cx="45720" cy="685800"/>
          </a:xfrm>
          <a:prstGeom prst="rect">
            <a:avLst/>
          </a:prstGeom>
          <a:solidFill>
            <a:srgbClr val="8B6FC0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28600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94960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DFM Check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5394960" y="2496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thin walls, missing draft, unmachineable features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731520" y="3017520"/>
            <a:ext cx="3657600" cy="6858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31520" y="3017520"/>
            <a:ext cx="45720" cy="685800"/>
          </a:xfrm>
          <a:prstGeom prst="rect">
            <a:avLst/>
          </a:prstGeom>
          <a:solidFill>
            <a:srgbClr val="8B6FC0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154680"/>
            <a:ext cx="320040" cy="3200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71600" y="3063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Cost Estimation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371600" y="33649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CNC $12 vs 3D print $3 vs injection $0.80 at 10K units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4754880" y="3017520"/>
            <a:ext cx="3657600" cy="6858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4754880" y="3017520"/>
            <a:ext cx="45720" cy="685800"/>
          </a:xfrm>
          <a:prstGeom prst="rect">
            <a:avLst/>
          </a:prstGeom>
          <a:solidFill>
            <a:srgbClr val="8B6FC0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15468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394960" y="3063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Photo → Part ID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5394960" y="33649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→ AI identifies → McMaster match → order</a:t>
            </a:r>
            <a:endParaRPr lang="en-US" sz="950" dirty="0"/>
          </a:p>
        </p:txBody>
      </p:sp>
      <p:sp>
        <p:nvSpPr>
          <p:cNvPr id="34" name="Text 26"/>
          <p:cNvSpPr/>
          <p:nvPr/>
        </p:nvSpPr>
        <p:spPr>
          <a:xfrm>
            <a:off x="73152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Multi-LLM Backend (auto-fallback)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731520" y="4206240"/>
            <a:ext cx="1828800" cy="6400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731520" y="4206240"/>
            <a:ext cx="1828800" cy="36576"/>
          </a:xfrm>
          <a:prstGeom prst="rect">
            <a:avLst/>
          </a:prstGeom>
          <a:solidFill>
            <a:srgbClr val="2E86DE"/>
          </a:solidFill>
          <a:ln/>
        </p:spPr>
      </p:sp>
      <p:sp>
        <p:nvSpPr>
          <p:cNvPr id="37" name="Text 29"/>
          <p:cNvSpPr/>
          <p:nvPr/>
        </p:nvSpPr>
        <p:spPr>
          <a:xfrm>
            <a:off x="731520" y="4297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Gemini Flash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731520" y="4526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+ fast inference</a:t>
            </a:r>
            <a:endParaRPr lang="en-US" sz="800" dirty="0"/>
          </a:p>
        </p:txBody>
      </p:sp>
      <p:sp>
        <p:nvSpPr>
          <p:cNvPr id="39" name="Shape 31"/>
          <p:cNvSpPr/>
          <p:nvPr/>
        </p:nvSpPr>
        <p:spPr>
          <a:xfrm>
            <a:off x="2834640" y="4206240"/>
            <a:ext cx="1828800" cy="6400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2834640" y="4206240"/>
            <a:ext cx="18288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1" name="Text 33"/>
          <p:cNvSpPr/>
          <p:nvPr/>
        </p:nvSpPr>
        <p:spPr>
          <a:xfrm>
            <a:off x="2834640" y="4297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Groq (Llama 3)</a:t>
            </a:r>
            <a:endParaRPr lang="en-US" sz="1000" dirty="0"/>
          </a:p>
        </p:txBody>
      </p:sp>
      <p:sp>
        <p:nvSpPr>
          <p:cNvPr id="42" name="Text 34"/>
          <p:cNvSpPr/>
          <p:nvPr/>
        </p:nvSpPr>
        <p:spPr>
          <a:xfrm>
            <a:off x="2834640" y="4526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Ultra-low latency</a:t>
            </a:r>
            <a:endParaRPr lang="en-US" sz="800" dirty="0"/>
          </a:p>
        </p:txBody>
      </p:sp>
      <p:sp>
        <p:nvSpPr>
          <p:cNvPr id="43" name="Shape 35"/>
          <p:cNvSpPr/>
          <p:nvPr/>
        </p:nvSpPr>
        <p:spPr>
          <a:xfrm>
            <a:off x="4937760" y="4206240"/>
            <a:ext cx="1828800" cy="6400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4" name="Shape 36"/>
          <p:cNvSpPr/>
          <p:nvPr/>
        </p:nvSpPr>
        <p:spPr>
          <a:xfrm>
            <a:off x="4937760" y="4206240"/>
            <a:ext cx="1828800" cy="36576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45" name="Text 37"/>
          <p:cNvSpPr/>
          <p:nvPr/>
        </p:nvSpPr>
        <p:spPr>
          <a:xfrm>
            <a:off x="4937760" y="4297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</a:t>
            </a:r>
            <a:endParaRPr lang="en-US" sz="1000" dirty="0"/>
          </a:p>
        </p:txBody>
      </p:sp>
      <p:sp>
        <p:nvSpPr>
          <p:cNvPr id="46" name="Text 38"/>
          <p:cNvSpPr/>
          <p:nvPr/>
        </p:nvSpPr>
        <p:spPr>
          <a:xfrm>
            <a:off x="4937760" y="4526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reasoning</a:t>
            </a:r>
            <a:endParaRPr lang="en-US" sz="800" dirty="0"/>
          </a:p>
        </p:txBody>
      </p:sp>
      <p:sp>
        <p:nvSpPr>
          <p:cNvPr id="47" name="Shape 39"/>
          <p:cNvSpPr/>
          <p:nvPr/>
        </p:nvSpPr>
        <p:spPr>
          <a:xfrm>
            <a:off x="7040880" y="4206240"/>
            <a:ext cx="1828800" cy="6400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8" name="Shape 40"/>
          <p:cNvSpPr/>
          <p:nvPr/>
        </p:nvSpPr>
        <p:spPr>
          <a:xfrm>
            <a:off x="7040880" y="4206240"/>
            <a:ext cx="1828800" cy="36576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49" name="Text 41"/>
          <p:cNvSpPr/>
          <p:nvPr/>
        </p:nvSpPr>
        <p:spPr>
          <a:xfrm>
            <a:off x="7040880" y="42976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96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Offline NLP</a:t>
            </a:r>
            <a:endParaRPr lang="en-US" sz="1000" dirty="0"/>
          </a:p>
        </p:txBody>
      </p:sp>
      <p:sp>
        <p:nvSpPr>
          <p:cNvPr id="50" name="Text 42"/>
          <p:cNvSpPr/>
          <p:nvPr/>
        </p:nvSpPr>
        <p:spPr>
          <a:xfrm>
            <a:off x="7040880" y="4526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without internet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Traction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828800" cy="16459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234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1,500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npm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ExplodeView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834640" y="1097280"/>
            <a:ext cx="1828800" cy="16459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834640" y="1234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38K+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834640" y="1828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3464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937760" y="1097280"/>
            <a:ext cx="1828800" cy="16459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937760" y="1234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E896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473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Parts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cycleWASH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040880" y="1097280"/>
            <a:ext cx="1828800" cy="16459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040880" y="12344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040880" y="1828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040880" y="2331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Milestones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14400" y="3566160"/>
            <a:ext cx="137160" cy="137160"/>
          </a:xfrm>
          <a:prstGeom prst="ellipse">
            <a:avLst/>
          </a:prstGeom>
          <a:solidFill>
            <a:srgbClr val="2E86DE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80" y="3703320"/>
            <a:ext cx="0" cy="22860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80160" y="35021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2025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468880" y="350215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ExplodeView launched — 3D viewer + embeddable widget (1,500 weekly npm downloads)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14400" y="3931920"/>
            <a:ext cx="137160" cy="137160"/>
          </a:xfrm>
          <a:prstGeom prst="ellipse">
            <a:avLst/>
          </a:prstGeom>
          <a:solidFill>
            <a:srgbClr val="2E86DE"/>
          </a:solidFill>
          <a:ln/>
        </p:spPr>
      </p:sp>
      <p:sp>
        <p:nvSpPr>
          <p:cNvPr id="25" name="Shape 23"/>
          <p:cNvSpPr/>
          <p:nvPr/>
        </p:nvSpPr>
        <p:spPr>
          <a:xfrm>
            <a:off x="982980" y="4069080"/>
            <a:ext cx="0" cy="22860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80160" y="38679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Day 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68880" y="386791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cycleCAD built from scratch — 19 modules, 18.8K lines, parametric modeler, Inventor import, AI chatbot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4297680"/>
            <a:ext cx="137160" cy="137160"/>
          </a:xfrm>
          <a:prstGeom prst="ellipse">
            <a:avLst/>
          </a:prstGeom>
          <a:solidFill>
            <a:srgbClr val="2E86DE"/>
          </a:solidFill>
          <a:ln/>
        </p:spPr>
      </p:sp>
      <p:sp>
        <p:nvSpPr>
          <p:cNvPr id="29" name="Shape 27"/>
          <p:cNvSpPr/>
          <p:nvPr/>
        </p:nvSpPr>
        <p:spPr>
          <a:xfrm>
            <a:off x="982980" y="4434840"/>
            <a:ext cx="0" cy="22860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80160" y="42336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Day 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468880" y="423367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viewer, project browser, rebuild guides, competitive analysis, investor deck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14400" y="4663440"/>
            <a:ext cx="137160" cy="137160"/>
          </a:xfrm>
          <a:prstGeom prst="ellipse">
            <a:avLst/>
          </a:prstGeom>
          <a:solidFill>
            <a:srgbClr val="2E86DE"/>
          </a:solidFill>
          <a:ln/>
        </p:spPr>
      </p:sp>
      <p:sp>
        <p:nvSpPr>
          <p:cNvPr id="33" name="Text 31"/>
          <p:cNvSpPr/>
          <p:nvPr/>
        </p:nvSpPr>
        <p:spPr>
          <a:xfrm>
            <a:off x="1280160" y="4599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Day 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468880" y="4599432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API (46 commands), agent demo, brand positioning, landing page, npm v0.1.7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Business Model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$CYCLE — the token that mirrors manufacturing. Every operation costs tokens. Every contribution earns them.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0" cy="32004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411480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4630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$CYCLE Works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1965960"/>
            <a:ext cx="320040" cy="320040"/>
          </a:xfrm>
          <a:prstGeom prst="ellipse">
            <a:avLst/>
          </a:prstGeom>
          <a:solidFill>
            <a:srgbClr val="2E86DE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9659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" y="19476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Buy or earn $CYCLE tokens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43000" y="2148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Purchased on exchange, or earned by creating value on the platform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85800" y="22860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2560320"/>
            <a:ext cx="320040" cy="320040"/>
          </a:xfrm>
          <a:prstGeom prst="ellipse">
            <a:avLst/>
          </a:prstGeom>
          <a:solidFill>
            <a:srgbClr val="3AAFA9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560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43000" y="254203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Spend tokens to manufacture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43000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design, validation, STEP export, G-code, or factory routing consumes tokens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85800" y="28803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3154680"/>
            <a:ext cx="320040" cy="32004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43000" y="31363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Earn tokens by contributing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337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reusable parts, validate others' work, contribute repair data, recycle — value in = tokens out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85800" y="34747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5800" y="3749040"/>
            <a:ext cx="320040" cy="320040"/>
          </a:xfrm>
          <a:prstGeom prst="ellipse">
            <a:avLst/>
          </a:prstGeom>
          <a:solidFill>
            <a:srgbClr val="8B6FC0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7490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62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43000" y="37307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Tokens circulate like atoms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43000" y="3931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more things get manufactured, more tokens flow. The economy grows with every cycle of design → make → repair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846320" y="1371600"/>
            <a:ext cx="3840480" cy="14173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846320" y="1371600"/>
            <a:ext cx="3840480" cy="54864"/>
          </a:xfrm>
          <a:prstGeom prst="rect">
            <a:avLst/>
          </a:prstGeom>
          <a:solidFill>
            <a:srgbClr val="3AAFA9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AFA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🪙  CONSUME $CYCLE</a:t>
            </a:r>
            <a:endParaRPr lang="en-US" sz="1300" dirty="0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874520"/>
            <a:ext cx="128016" cy="128016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5257800" y="184708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pay per design operation (sketch, extrude, boolean...)</a:t>
            </a:r>
            <a:endParaRPr lang="en-US" sz="900" dirty="0"/>
          </a:p>
        </p:txBody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093976"/>
            <a:ext cx="128016" cy="128016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5257800" y="206654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&amp; analysis (DFM check, tolerance, cost estimate)</a:t>
            </a:r>
            <a:endParaRPr lang="en-US" sz="900" dirty="0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313432"/>
            <a:ext cx="128016" cy="12801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5257800" y="228600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(STEP, G-code, DXF) &amp; factory routing</a:t>
            </a:r>
            <a:endParaRPr lang="en-US" sz="900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532888"/>
            <a:ext cx="128016" cy="128016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5257800" y="2505456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agent fleets buy bulk token packages</a:t>
            </a:r>
            <a:endParaRPr lang="en-US" sz="900" dirty="0"/>
          </a:p>
        </p:txBody>
      </p:sp>
      <p:sp>
        <p:nvSpPr>
          <p:cNvPr id="37" name="Shape 31"/>
          <p:cNvSpPr/>
          <p:nvPr/>
        </p:nvSpPr>
        <p:spPr>
          <a:xfrm>
            <a:off x="4846320" y="2926080"/>
            <a:ext cx="3840480" cy="14173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4846320" y="2926080"/>
            <a:ext cx="3840480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9" name="Text 33"/>
          <p:cNvSpPr/>
          <p:nvPr/>
        </p:nvSpPr>
        <p:spPr>
          <a:xfrm>
            <a:off x="4846320" y="3017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⛏️  EARN $CYCLE</a:t>
            </a:r>
            <a:endParaRPr lang="en-US" sz="1300" dirty="0"/>
          </a:p>
        </p:txBody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3429000"/>
            <a:ext cx="128016" cy="12801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5257800" y="3401568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reusable parametric parts others can use</a:t>
            </a:r>
            <a:endParaRPr lang="en-US" sz="900" dirty="0"/>
          </a:p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648456"/>
            <a:ext cx="128016" cy="128016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5257800" y="3621024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certify designs (structural, DFM, tolerance)</a:t>
            </a:r>
            <a:endParaRPr lang="en-US" sz="900" dirty="0"/>
          </a:p>
        </p:txBody>
      </p:sp>
      <p:pic>
        <p:nvPicPr>
          <p:cNvPr id="44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0" y="3867912"/>
            <a:ext cx="128016" cy="128016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5257800" y="384048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Contribute repair data &amp; maintenance schedules</a:t>
            </a:r>
            <a:endParaRPr lang="en-US" sz="900" dirty="0"/>
          </a:p>
        </p:txBody>
      </p:sp>
      <p:pic>
        <p:nvPicPr>
          <p:cNvPr id="4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0" y="4087368"/>
            <a:ext cx="128016" cy="128016"/>
          </a:xfrm>
          <a:prstGeom prst="rect">
            <a:avLst/>
          </a:prstGeom>
        </p:spPr>
      </p:pic>
      <p:sp>
        <p:nvSpPr>
          <p:cNvPr id="47" name="Text 37"/>
          <p:cNvSpPr/>
          <p:nvPr/>
        </p:nvSpPr>
        <p:spPr>
          <a:xfrm>
            <a:off x="5257800" y="4059936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economy: recycle, redesign, extend product life</a:t>
            </a:r>
            <a:endParaRPr lang="en-US" sz="900" dirty="0"/>
          </a:p>
        </p:txBody>
      </p:sp>
      <p:sp>
        <p:nvSpPr>
          <p:cNvPr id="48" name="Shape 38"/>
          <p:cNvSpPr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solidFill>
            <a:srgbClr val="1A2D5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9" name="Shape 39"/>
          <p:cNvSpPr/>
          <p:nvPr/>
        </p:nvSpPr>
        <p:spPr>
          <a:xfrm>
            <a:off x="457200" y="4617720"/>
            <a:ext cx="822960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50" name="Text 40"/>
          <p:cNvSpPr/>
          <p:nvPr/>
        </p:nvSpPr>
        <p:spPr>
          <a:xfrm>
            <a:off x="640080" y="463600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 xml:space="preserve">♻️  THE FLYWHEEL:  </a:t>
            </a:r>
            <a:pPr indent="0" marL="0">
              <a:buNone/>
            </a:pPr>
            <a:r>
              <a:rPr lang="en-US" sz="95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agents design → more tokens consumed → more factories produce → more tokens minted → economy grows every cycle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Technology &amp; Moat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2E86DE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261872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143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Zero-Dependency Architecture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508760" y="144475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ES modules, CDN-only. No build step, no npm install, no bundler. Loads instantly from any URL.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31520" y="2011680"/>
            <a:ext cx="7680960" cy="77724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011680"/>
            <a:ext cx="54864" cy="777240"/>
          </a:xfrm>
          <a:prstGeom prst="rect">
            <a:avLst/>
          </a:prstGeom>
          <a:solidFill>
            <a:srgbClr val="2E86DE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176272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2057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Inventor File Parser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508760" y="235915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browser-based tool that reads .ipt/.iam natively. OLE2/CFB binary parser built from scratch. 26 feature types, 100% success on 342 real files.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31520" y="2926080"/>
            <a:ext cx="7680960" cy="77724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2926080"/>
            <a:ext cx="54864" cy="777240"/>
          </a:xfrm>
          <a:prstGeom prst="rect">
            <a:avLst/>
          </a:prstGeom>
          <a:solidFill>
            <a:srgbClr val="2E86DE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090672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2971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Multi-LLM AI Layer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508760" y="327355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+ Groq (Llama 3.1) + offline NLP fallback. Works without internet. AI part ID, vision analysis, smart BOM — no competitor has this stack.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31520" y="3840480"/>
            <a:ext cx="7680960" cy="77724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31520" y="3840480"/>
            <a:ext cx="54864" cy="777240"/>
          </a:xfrm>
          <a:prstGeom prst="rect">
            <a:avLst/>
          </a:prstGeom>
          <a:solidFill>
            <a:srgbClr val="2E86DE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005072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08760" y="3886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Real-World Validation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508760" y="418795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with complex cycleWASH machines — hundreds of parts, multiple assemblies, full production Inventor projects. Not a demo, a real product.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68680" y="1234440"/>
            <a:ext cx="182880" cy="182880"/>
          </a:xfrm>
          <a:prstGeom prst="ellipse">
            <a:avLst/>
          </a:prstGeom>
          <a:solidFill>
            <a:srgbClr val="3AAFA9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1417320"/>
            <a:ext cx="0" cy="5029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97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AFA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468880" y="1106424"/>
            <a:ext cx="731520" cy="182880"/>
          </a:xfrm>
          <a:prstGeom prst="rect">
            <a:avLst/>
          </a:prstGeom>
          <a:solidFill>
            <a:srgbClr val="3AAFA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280160" y="13533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Platform Launch (Week 1 — DONE)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80160" y="157276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modules, 18.8K lines, Inventor import, AI tools, mobile viewer, npm published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2011680"/>
            <a:ext cx="182880" cy="182880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2194560"/>
            <a:ext cx="0" cy="5029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80160" y="18745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Q2 2026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468880" y="1883664"/>
            <a:ext cx="731520" cy="182880"/>
          </a:xfrm>
          <a:prstGeom prst="rect">
            <a:avLst/>
          </a:prstGeom>
          <a:solidFill>
            <a:srgbClr val="D4A84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280160" y="213055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Import + ExplodeView Merge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80160" y="23500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OpenCascade.js WASM, real B-rep booleans, merge viewer into cycleCAD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68680" y="2788920"/>
            <a:ext cx="182880" cy="182880"/>
          </a:xfrm>
          <a:prstGeom prst="ellipse">
            <a:avLst/>
          </a:prstGeom>
          <a:solidFill>
            <a:srgbClr val="8B6FC0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2971800"/>
            <a:ext cx="0" cy="5029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80160" y="26517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Q3 2026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468880" y="2660904"/>
            <a:ext cx="731520" cy="182880"/>
          </a:xfrm>
          <a:prstGeom prst="rect">
            <a:avLst/>
          </a:prstGeom>
          <a:solidFill>
            <a:srgbClr val="8B6FC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280160" y="290779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Copilot — Manufacturing's Common Language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80160" y="3127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Text-to-CAD, NL editing, smart autocomplete, cost estimation, DFM check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68680" y="3566160"/>
            <a:ext cx="182880" cy="182880"/>
          </a:xfrm>
          <a:prstGeom prst="ellipse">
            <a:avLst/>
          </a:prstGeom>
          <a:solidFill>
            <a:srgbClr val="2E86DE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3749040"/>
            <a:ext cx="0" cy="502920"/>
          </a:xfrm>
          <a:prstGeom prst="line">
            <a:avLst/>
          </a:prstGeom>
          <a:noFill/>
          <a:ln w="1905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80160" y="34290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Q4 2026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468880" y="3438144"/>
            <a:ext cx="731520" cy="182880"/>
          </a:xfrm>
          <a:prstGeom prst="rect">
            <a:avLst/>
          </a:prstGeom>
          <a:solidFill>
            <a:srgbClr val="2E86D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280160" y="36850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$CYCLE Token Launch + Collaboration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80160" y="390448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economy, AI agent API, real-time multi-user, git-style versioning, cloud storage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68680" y="4343400"/>
            <a:ext cx="182880" cy="1828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8" name="Text 26"/>
          <p:cNvSpPr/>
          <p:nvPr/>
        </p:nvSpPr>
        <p:spPr>
          <a:xfrm>
            <a:off x="1280160" y="4206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96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Q1 2027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68880" y="4215384"/>
            <a:ext cx="731520" cy="182880"/>
          </a:xfrm>
          <a:prstGeom prst="rect">
            <a:avLst/>
          </a:prstGeom>
          <a:solidFill>
            <a:srgbClr val="E8963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A16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280160" y="446227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Enterprise + Plugin API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280160" y="46817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Self-hosted, SSO, plugin marketplace, REST API, manufacturing integrations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18288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97280"/>
            <a:ext cx="54864" cy="1828800"/>
          </a:xfrm>
          <a:prstGeom prst="rect">
            <a:avLst/>
          </a:prstGeom>
          <a:solidFill>
            <a:srgbClr val="2E86DE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7160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011680" y="1280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Sachin Kumar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201168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  ·  sachin.kumar@cyclewash.com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011680" y="201168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B5"/>
                </a:solidFill>
              </a:rPr>
              <a:t xml:space="preserve">Founder of cycleWASH — built and shipped real bicycle washing machines used in production. </a:t>
            </a:r>
            <a:pPr indent="0" marL="0">
              <a:buNone/>
            </a:pPr>
            <a:r>
              <a:rPr lang="en-US" sz="1100" dirty="0">
                <a:solidFill>
                  <a:srgbClr val="8B9AB5"/>
                </a:solidFill>
              </a:rPr>
              <a:t xml:space="preserve">Deep domain expertise in mechanical engineering and industrial equipment. </a:t>
            </a:r>
            <a:pPr indent="0" marL="0">
              <a:buNone/>
            </a:pPr>
            <a:r>
              <a:rPr lang="en-US" sz="1100" b="1" dirty="0">
                <a:solidFill>
                  <a:srgbClr val="F0F0E8"/>
                </a:solidFill>
              </a:rPr>
              <a:t>Built both cycleCAD and ExplodeView from scratch — 38K+ lines of JavaScript, zero dependencies.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3200400"/>
            <a:ext cx="7680960" cy="13716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3200400"/>
            <a:ext cx="54864" cy="137160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3832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337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cycleWASH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1828800" y="3611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 behind cycleCAD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828800" y="3977640"/>
            <a:ext cx="6217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cycleWASH manufactures automated bicycle washing machines — complex industrial hardware with hundreds of parts and multiple assemblies. These machines are the real-world testbed for cycleCAD. Every feature was built to solve actual engineering problems.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Agent-First OS for Manufacturing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has no common language. We built the OS that AI agents speak through — from design to end of life.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96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TODAY: DISCONNECTED ISLANDS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88720" cy="457200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737360" y="16002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74520" y="1600200"/>
            <a:ext cx="1188720" cy="457200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9" name="Text 7"/>
          <p:cNvSpPr/>
          <p:nvPr/>
        </p:nvSpPr>
        <p:spPr>
          <a:xfrm>
            <a:off x="1874520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63240" y="16002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0" y="1600200"/>
            <a:ext cx="1188720" cy="457200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Analysis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389120" y="16002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26280" y="1600200"/>
            <a:ext cx="1188720" cy="457200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Scanning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15000" y="16002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52160" y="1600200"/>
            <a:ext cx="1188720" cy="457200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18" name="Text 16"/>
          <p:cNvSpPr/>
          <p:nvPr/>
        </p:nvSpPr>
        <p:spPr>
          <a:xfrm>
            <a:off x="5852160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040880" y="16002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178040" y="1600200"/>
            <a:ext cx="1188720" cy="457200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21" name="Text 19"/>
          <p:cNvSpPr/>
          <p:nvPr/>
        </p:nvSpPr>
        <p:spPr>
          <a:xfrm>
            <a:off x="7178040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Drawings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23317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cycleCAD: ONE OS, ONE LANGUAGE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37160" y="2697480"/>
            <a:ext cx="1234440" cy="13716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37160" y="2697480"/>
            <a:ext cx="1234440" cy="45720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25" name="Text 23"/>
          <p:cNvSpPr/>
          <p:nvPr/>
        </p:nvSpPr>
        <p:spPr>
          <a:xfrm>
            <a:off x="137160" y="28346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Intent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82880" y="315468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need a bracket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4 bolt holes"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371600" y="3017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08760" y="2697480"/>
            <a:ext cx="1234440" cy="13716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508760" y="2697480"/>
            <a:ext cx="1234440" cy="45720"/>
          </a:xfrm>
          <a:prstGeom prst="rect">
            <a:avLst/>
          </a:prstGeom>
          <a:solidFill>
            <a:srgbClr val="2E86DE"/>
          </a:solidFill>
          <a:ln/>
        </p:spPr>
      </p:sp>
      <p:sp>
        <p:nvSpPr>
          <p:cNvPr id="30" name="Text 28"/>
          <p:cNvSpPr/>
          <p:nvPr/>
        </p:nvSpPr>
        <p:spPr>
          <a:xfrm>
            <a:off x="1508760" y="28346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Design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554480" y="315468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CAD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743200" y="3017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2880360" y="2697480"/>
            <a:ext cx="1234440" cy="13716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880360" y="2697480"/>
            <a:ext cx="1234440" cy="45720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35" name="Text 33"/>
          <p:cNvSpPr/>
          <p:nvPr/>
        </p:nvSpPr>
        <p:spPr>
          <a:xfrm>
            <a:off x="2880360" y="28346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96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Validate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926080" y="315468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DFM, cost, tolerance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+ simulation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114800" y="3017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4251960" y="2697480"/>
            <a:ext cx="1234440" cy="13716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251960" y="2697480"/>
            <a:ext cx="123444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0" name="Text 38"/>
          <p:cNvSpPr/>
          <p:nvPr/>
        </p:nvSpPr>
        <p:spPr>
          <a:xfrm>
            <a:off x="4251960" y="28346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Manufacture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297680" y="315468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G-code, DXF, STEP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to factory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486400" y="3017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5623560" y="2697480"/>
            <a:ext cx="1234440" cy="13716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5623560" y="2697480"/>
            <a:ext cx="1234440" cy="45720"/>
          </a:xfrm>
          <a:prstGeom prst="rect">
            <a:avLst/>
          </a:prstGeom>
          <a:solidFill>
            <a:srgbClr val="3AAFA9"/>
          </a:solidFill>
          <a:ln/>
        </p:spPr>
      </p:sp>
      <p:sp>
        <p:nvSpPr>
          <p:cNvPr id="45" name="Text 43"/>
          <p:cNvSpPr/>
          <p:nvPr/>
        </p:nvSpPr>
        <p:spPr>
          <a:xfrm>
            <a:off x="5623560" y="28346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AAFA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0" y="315468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produced,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assembled, delivered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858000" y="30175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A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6995160" y="2697480"/>
            <a:ext cx="1234440" cy="137160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995160" y="2697480"/>
            <a:ext cx="1234440" cy="45720"/>
          </a:xfrm>
          <a:prstGeom prst="rect">
            <a:avLst/>
          </a:prstGeom>
          <a:solidFill>
            <a:srgbClr val="E05555"/>
          </a:solidFill>
          <a:ln/>
        </p:spPr>
      </p:sp>
      <p:sp>
        <p:nvSpPr>
          <p:cNvPr id="50" name="Text 48"/>
          <p:cNvSpPr/>
          <p:nvPr/>
        </p:nvSpPr>
        <p:spPr>
          <a:xfrm>
            <a:off x="6995160" y="28346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555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End of Life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040880" y="315468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Repair, recycle,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redesign — ♻️ loop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31520" y="4297680"/>
            <a:ext cx="7680960" cy="640080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53" name="Text 51"/>
          <p:cNvSpPr/>
          <p:nvPr/>
        </p:nvSpPr>
        <p:spPr>
          <a:xfrm>
            <a:off x="914400" y="4315968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GUI. No mouse. No training. AI agents are the only interface. Every step is an API call. Every call costs $CYCLE.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Agents Are the Interface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uses cycleCAD — but nobody opens it. Your AI agent designs through our API.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2468880" cy="12801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463040"/>
            <a:ext cx="45720" cy="1280160"/>
          </a:xfrm>
          <a:prstGeom prst="rect">
            <a:avLst/>
          </a:prstGeom>
          <a:solidFill>
            <a:srgbClr val="2E86DE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6002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5544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Any AI Agent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14400" y="1965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GPT, Claude, Gemini, Llama — any LLM designs through cycleCAD's API. The agent IS the interface.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468880" cy="12801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383280" y="1463040"/>
            <a:ext cx="45720" cy="1280160"/>
          </a:xfrm>
          <a:prstGeom prst="rect">
            <a:avLst/>
          </a:prstGeom>
          <a:solidFill>
            <a:srgbClr val="E8963A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6002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77640" y="15544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96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Field Technician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566160" y="1965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need a replacement bracket." Their agent designs it, validates DFM, sends G-code to the printer.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035040" y="1463040"/>
            <a:ext cx="2468880" cy="12801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035040" y="1463040"/>
            <a:ext cx="45720" cy="1280160"/>
          </a:xfrm>
          <a:prstGeom prst="rect">
            <a:avLst/>
          </a:prstGeom>
          <a:solidFill>
            <a:srgbClr val="8B6FC0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0020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629400" y="15544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 Manager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217920" y="19659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 it 10% lighter." Their agent runs topology optimization, presents three options.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731520" y="2971800"/>
            <a:ext cx="2468880" cy="12801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2971800"/>
            <a:ext cx="45720" cy="128016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10896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2588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Factory Floor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91440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detect wear. An agent designs the replacement, validates, routes G-code. No human involved.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3383280" y="2971800"/>
            <a:ext cx="2468880" cy="12801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383280" y="2971800"/>
            <a:ext cx="45720" cy="1280160"/>
          </a:xfrm>
          <a:prstGeom prst="rect">
            <a:avLst/>
          </a:prstGeom>
          <a:solidFill>
            <a:srgbClr val="D4A843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3108960"/>
            <a:ext cx="320040" cy="3200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97764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Swarms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356616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Hundreds of agents in parallel — designing, validating, manufacturing, repairing. 24/7.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6035040" y="2971800"/>
            <a:ext cx="2468880" cy="12801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035040" y="2971800"/>
            <a:ext cx="45720" cy="1280160"/>
          </a:xfrm>
          <a:prstGeom prst="rect">
            <a:avLst/>
          </a:prstGeom>
          <a:solidFill>
            <a:srgbClr val="E05555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31089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62940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555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Circular Economy</a:t>
            </a:r>
            <a:endParaRPr lang="en-US" sz="1200" dirty="0"/>
          </a:p>
        </p:txBody>
      </p:sp>
      <p:sp>
        <p:nvSpPr>
          <p:cNvPr id="33" name="Text 25"/>
          <p:cNvSpPr/>
          <p:nvPr/>
        </p:nvSpPr>
        <p:spPr>
          <a:xfrm>
            <a:off x="6217920" y="3474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End-of-life agent scans a product, identifies reusable parts, redesigns what's worn, routes recycling.</a:t>
            </a:r>
            <a:endParaRPr lang="en-US" sz="950" dirty="0"/>
          </a:p>
        </p:txBody>
      </p:sp>
      <p:sp>
        <p:nvSpPr>
          <p:cNvPr id="34" name="Shape 26"/>
          <p:cNvSpPr/>
          <p:nvPr/>
        </p:nvSpPr>
        <p:spPr>
          <a:xfrm>
            <a:off x="731520" y="4526280"/>
            <a:ext cx="7680960" cy="457200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35" name="Text 27"/>
          <p:cNvSpPr/>
          <p:nvPr/>
        </p:nvSpPr>
        <p:spPr>
          <a:xfrm>
            <a:off x="731520" y="4526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CAD: 6.5M humans with a mouse  →  cycleCAD: billions of AI agents with an API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Financial Projections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Pre-money valuation: $6M  |  $1.5M seed at 20% dilution  |  Post-money: $7.5M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828800" cy="320040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31720" y="1371600"/>
            <a:ext cx="1188720" cy="320040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7" name="Text 5"/>
          <p:cNvSpPr/>
          <p:nvPr/>
        </p:nvSpPr>
        <p:spPr>
          <a:xfrm>
            <a:off x="233172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Y1 (2026)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66160" y="1371600"/>
            <a:ext cx="1188720" cy="320040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9" name="Text 7"/>
          <p:cNvSpPr/>
          <p:nvPr/>
        </p:nvSpPr>
        <p:spPr>
          <a:xfrm>
            <a:off x="356616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Y2 (2027)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00600" y="1371600"/>
            <a:ext cx="1188720" cy="320040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Y3 (2028)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371600"/>
            <a:ext cx="1188720" cy="320040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13" name="Text 11"/>
          <p:cNvSpPr/>
          <p:nvPr/>
        </p:nvSpPr>
        <p:spPr>
          <a:xfrm>
            <a:off x="603504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Y4 (2029)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269480" y="1371600"/>
            <a:ext cx="1188720" cy="320040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15" name="Text 13"/>
          <p:cNvSpPr/>
          <p:nvPr/>
        </p:nvSpPr>
        <p:spPr>
          <a:xfrm>
            <a:off x="7269480" y="13716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Y5 (2030)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1755648"/>
            <a:ext cx="182880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17556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Users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331720" y="1755648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19" name="Text 17"/>
          <p:cNvSpPr/>
          <p:nvPr/>
        </p:nvSpPr>
        <p:spPr>
          <a:xfrm>
            <a:off x="2331720" y="17556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66160" y="1755648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21" name="Text 19"/>
          <p:cNvSpPr/>
          <p:nvPr/>
        </p:nvSpPr>
        <p:spPr>
          <a:xfrm>
            <a:off x="3566160" y="17556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0600" y="1755648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17556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1755648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0" y="17556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12M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269480" y="1755648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27" name="Text 25"/>
          <p:cNvSpPr/>
          <p:nvPr/>
        </p:nvSpPr>
        <p:spPr>
          <a:xfrm>
            <a:off x="7269480" y="175564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2066544"/>
            <a:ext cx="182880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20665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Buyers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331720" y="2066544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31" name="Text 29"/>
          <p:cNvSpPr/>
          <p:nvPr/>
        </p:nvSpPr>
        <p:spPr>
          <a:xfrm>
            <a:off x="2331720" y="20665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566160" y="2066544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33" name="Text 31"/>
          <p:cNvSpPr/>
          <p:nvPr/>
        </p:nvSpPr>
        <p:spPr>
          <a:xfrm>
            <a:off x="3566160" y="20665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00600" y="2066544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35" name="Text 33"/>
          <p:cNvSpPr/>
          <p:nvPr/>
        </p:nvSpPr>
        <p:spPr>
          <a:xfrm>
            <a:off x="4800600" y="20665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035040" y="2066544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37" name="Text 35"/>
          <p:cNvSpPr/>
          <p:nvPr/>
        </p:nvSpPr>
        <p:spPr>
          <a:xfrm>
            <a:off x="6035040" y="20665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69480" y="2066544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39" name="Text 37"/>
          <p:cNvSpPr/>
          <p:nvPr/>
        </p:nvSpPr>
        <p:spPr>
          <a:xfrm>
            <a:off x="7269480" y="20665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2M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2377440"/>
            <a:ext cx="182880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2377440"/>
            <a:ext cx="1828800" cy="29260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Agents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331720" y="2377440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43" name="Text 41"/>
          <p:cNvSpPr/>
          <p:nvPr/>
        </p:nvSpPr>
        <p:spPr>
          <a:xfrm>
            <a:off x="2331720" y="23774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566160" y="2377440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45" name="Text 43"/>
          <p:cNvSpPr/>
          <p:nvPr/>
        </p:nvSpPr>
        <p:spPr>
          <a:xfrm>
            <a:off x="3566160" y="23774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00600" y="2377440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47" name="Text 45"/>
          <p:cNvSpPr/>
          <p:nvPr/>
        </p:nvSpPr>
        <p:spPr>
          <a:xfrm>
            <a:off x="4800600" y="23774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035040" y="2377440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49" name="Text 47"/>
          <p:cNvSpPr/>
          <p:nvPr/>
        </p:nvSpPr>
        <p:spPr>
          <a:xfrm>
            <a:off x="6035040" y="23774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269480" y="2377440"/>
            <a:ext cx="1188720" cy="292608"/>
          </a:xfrm>
          <a:prstGeom prst="rect">
            <a:avLst/>
          </a:prstGeom>
          <a:solidFill>
            <a:srgbClr val="122240"/>
          </a:solidFill>
          <a:ln/>
        </p:spPr>
      </p:sp>
      <p:sp>
        <p:nvSpPr>
          <p:cNvPr id="51" name="Text 49"/>
          <p:cNvSpPr/>
          <p:nvPr/>
        </p:nvSpPr>
        <p:spPr>
          <a:xfrm>
            <a:off x="7269480" y="23774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57200" y="2688336"/>
            <a:ext cx="1828800" cy="292608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26883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ARR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2331720" y="2688336"/>
            <a:ext cx="1188720" cy="292608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55" name="Text 53"/>
          <p:cNvSpPr/>
          <p:nvPr/>
        </p:nvSpPr>
        <p:spPr>
          <a:xfrm>
            <a:off x="2331720" y="26883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$0.7M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566160" y="2688336"/>
            <a:ext cx="1188720" cy="292608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57" name="Text 55"/>
          <p:cNvSpPr/>
          <p:nvPr/>
        </p:nvSpPr>
        <p:spPr>
          <a:xfrm>
            <a:off x="3566160" y="26883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$10M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800600" y="2688336"/>
            <a:ext cx="1188720" cy="292608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59" name="Text 57"/>
          <p:cNvSpPr/>
          <p:nvPr/>
        </p:nvSpPr>
        <p:spPr>
          <a:xfrm>
            <a:off x="4800600" y="26883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$80M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6035040" y="2688336"/>
            <a:ext cx="1188720" cy="292608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61" name="Text 59"/>
          <p:cNvSpPr/>
          <p:nvPr/>
        </p:nvSpPr>
        <p:spPr>
          <a:xfrm>
            <a:off x="6035040" y="26883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$350M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7269480" y="2688336"/>
            <a:ext cx="1188720" cy="292608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63" name="Text 61"/>
          <p:cNvSpPr/>
          <p:nvPr/>
        </p:nvSpPr>
        <p:spPr>
          <a:xfrm>
            <a:off x="7269480" y="26883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$1.4B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274320" y="288036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Margin: 88% → 94%  |  Growth: 14x → 8x → 4x  |  Net Margin Y5: 48%  |  Comparable: Canva ($40B), Figma ($20B)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31520" y="3246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ARR Trajectory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731520" y="35204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Y1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1051560" y="3547872"/>
            <a:ext cx="109728" cy="164592"/>
          </a:xfrm>
          <a:prstGeom prst="rect">
            <a:avLst/>
          </a:prstGeom>
          <a:solidFill>
            <a:srgbClr val="D4A843">
              <a:alpha val="80000"/>
            </a:srgbClr>
          </a:solidFill>
          <a:ln/>
        </p:spPr>
      </p:sp>
      <p:sp>
        <p:nvSpPr>
          <p:cNvPr id="68" name="Text 66"/>
          <p:cNvSpPr/>
          <p:nvPr/>
        </p:nvSpPr>
        <p:spPr>
          <a:xfrm>
            <a:off x="1234440" y="35204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$0.7M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731520" y="3776472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Y2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1051560" y="3803904"/>
            <a:ext cx="109728" cy="164592"/>
          </a:xfrm>
          <a:prstGeom prst="rect">
            <a:avLst/>
          </a:prstGeom>
          <a:solidFill>
            <a:srgbClr val="D4A843">
              <a:alpha val="80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1234440" y="37764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$10M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731520" y="4032504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Y3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1051560" y="4059936"/>
            <a:ext cx="182880" cy="164592"/>
          </a:xfrm>
          <a:prstGeom prst="rect">
            <a:avLst/>
          </a:prstGeom>
          <a:solidFill>
            <a:srgbClr val="D4A843">
              <a:alpha val="80000"/>
            </a:srgbClr>
          </a:solidFill>
          <a:ln/>
        </p:spPr>
      </p:sp>
      <p:sp>
        <p:nvSpPr>
          <p:cNvPr id="74" name="Text 72"/>
          <p:cNvSpPr/>
          <p:nvPr/>
        </p:nvSpPr>
        <p:spPr>
          <a:xfrm>
            <a:off x="1307592" y="40325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$80M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731520" y="4288536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Y4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1051560" y="4315968"/>
            <a:ext cx="800100" cy="164592"/>
          </a:xfrm>
          <a:prstGeom prst="rect">
            <a:avLst/>
          </a:prstGeom>
          <a:solidFill>
            <a:srgbClr val="D4A843">
              <a:alpha val="80000"/>
            </a:srgbClr>
          </a:solidFill>
          <a:ln/>
        </p:spPr>
      </p:sp>
      <p:sp>
        <p:nvSpPr>
          <p:cNvPr id="77" name="Text 75"/>
          <p:cNvSpPr/>
          <p:nvPr/>
        </p:nvSpPr>
        <p:spPr>
          <a:xfrm>
            <a:off x="1924812" y="42885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$350M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731520" y="454456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Y5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1051560" y="4572000"/>
            <a:ext cx="3200400" cy="164592"/>
          </a:xfrm>
          <a:prstGeom prst="rect">
            <a:avLst/>
          </a:prstGeom>
          <a:solidFill>
            <a:srgbClr val="D4A843">
              <a:alpha val="80000"/>
            </a:srgbClr>
          </a:solidFill>
          <a:ln/>
        </p:spPr>
      </p:sp>
      <p:sp>
        <p:nvSpPr>
          <p:cNvPr id="80" name="Text 78"/>
          <p:cNvSpPr/>
          <p:nvPr/>
        </p:nvSpPr>
        <p:spPr>
          <a:xfrm>
            <a:off x="4325112" y="454456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$1.4B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5669280" y="32461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Valuation Path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5669280" y="3566160"/>
            <a:ext cx="109728" cy="109728"/>
          </a:xfrm>
          <a:prstGeom prst="ellipse">
            <a:avLst/>
          </a:prstGeom>
          <a:solidFill>
            <a:srgbClr val="8B9AB5"/>
          </a:solidFill>
          <a:ln/>
        </p:spPr>
      </p:sp>
      <p:sp>
        <p:nvSpPr>
          <p:cNvPr id="83" name="Text 81"/>
          <p:cNvSpPr/>
          <p:nvPr/>
        </p:nvSpPr>
        <p:spPr>
          <a:xfrm>
            <a:off x="5870448" y="35204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(now)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7315200" y="352044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$7.5M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5669280" y="3877056"/>
            <a:ext cx="109728" cy="109728"/>
          </a:xfrm>
          <a:prstGeom prst="ellipse">
            <a:avLst/>
          </a:prstGeom>
          <a:solidFill>
            <a:srgbClr val="2E86DE"/>
          </a:solidFill>
          <a:ln/>
        </p:spPr>
      </p:sp>
      <p:sp>
        <p:nvSpPr>
          <p:cNvPr id="86" name="Text 84"/>
          <p:cNvSpPr/>
          <p:nvPr/>
        </p:nvSpPr>
        <p:spPr>
          <a:xfrm>
            <a:off x="5870448" y="38313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(Y2)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7315200" y="383133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$80–120M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5669280" y="4187952"/>
            <a:ext cx="109728" cy="109728"/>
          </a:xfrm>
          <a:prstGeom prst="ellipse">
            <a:avLst/>
          </a:prstGeom>
          <a:solidFill>
            <a:srgbClr val="8B6FC0"/>
          </a:solidFill>
          <a:ln/>
        </p:spPr>
      </p:sp>
      <p:sp>
        <p:nvSpPr>
          <p:cNvPr id="89" name="Text 87"/>
          <p:cNvSpPr/>
          <p:nvPr/>
        </p:nvSpPr>
        <p:spPr>
          <a:xfrm>
            <a:off x="5870448" y="414223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B (Y3)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7315200" y="414223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$500M–1B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669280" y="4498848"/>
            <a:ext cx="109728" cy="109728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92" name="Text 90"/>
          <p:cNvSpPr/>
          <p:nvPr/>
        </p:nvSpPr>
        <p:spPr>
          <a:xfrm>
            <a:off x="5870448" y="445312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IPO (Y5)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7315200" y="445312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$10B+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Unit Economics &amp; Path to Profit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economics: free tier drives adoption, Pro €49/mo + Enterprise €299/mo drive revenue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11680" cy="10972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2011680" cy="45720"/>
          </a:xfrm>
          <a:prstGeom prst="rect">
            <a:avLst/>
          </a:prstGeom>
          <a:solidFill>
            <a:srgbClr val="2E86D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08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Tier ARR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€588/yr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€49/mo per Pro subscriber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06040" y="1371600"/>
            <a:ext cx="2011680" cy="10972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06040" y="1371600"/>
            <a:ext cx="2011680" cy="45720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11" name="Text 9"/>
          <p:cNvSpPr/>
          <p:nvPr/>
        </p:nvSpPr>
        <p:spPr>
          <a:xfrm>
            <a:off x="2606040" y="1508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ACV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06040" y="1737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€3,588/yr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06040" y="21488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€299/mo per Enterprise subscriber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1371600"/>
            <a:ext cx="2011680" cy="10972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1371600"/>
            <a:ext cx="2011680" cy="45720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0" y="1508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(Blended)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1737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96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754880" y="21488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PLG + community + AI demos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903720" y="1371600"/>
            <a:ext cx="2011680" cy="109728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03720" y="1371600"/>
            <a:ext cx="201168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1" name="Text 19"/>
          <p:cNvSpPr/>
          <p:nvPr/>
        </p:nvSpPr>
        <p:spPr>
          <a:xfrm>
            <a:off x="6903720" y="15087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LTV:CAC Ratio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903720" y="17373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120:1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903720" y="21488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yr retention, expanding seats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1520" y="2743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Path to Profitability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22960" y="3255264"/>
            <a:ext cx="146304" cy="146304"/>
          </a:xfrm>
          <a:prstGeom prst="ellipse">
            <a:avLst/>
          </a:prstGeom>
          <a:solidFill>
            <a:srgbClr val="E05555"/>
          </a:solidFill>
          <a:ln/>
        </p:spPr>
      </p:sp>
      <p:sp>
        <p:nvSpPr>
          <p:cNvPr id="26" name="Shape 24"/>
          <p:cNvSpPr/>
          <p:nvPr/>
        </p:nvSpPr>
        <p:spPr>
          <a:xfrm>
            <a:off x="886968" y="3401568"/>
            <a:ext cx="18288" cy="201168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27" name="Text 25"/>
          <p:cNvSpPr/>
          <p:nvPr/>
        </p:nvSpPr>
        <p:spPr>
          <a:xfrm>
            <a:off x="1097280" y="32004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555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55448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Viral launch + Pro tier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74904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50K users, $0.7M ARR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26480" y="3200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0555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$100K/mo burn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3602736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32" name="Shape 30"/>
          <p:cNvSpPr/>
          <p:nvPr/>
        </p:nvSpPr>
        <p:spPr>
          <a:xfrm>
            <a:off x="886968" y="3749040"/>
            <a:ext cx="18288" cy="201168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33" name="Text 31"/>
          <p:cNvSpPr/>
          <p:nvPr/>
        </p:nvSpPr>
        <p:spPr>
          <a:xfrm>
            <a:off x="1097280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554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Enterprise + Series 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749040" y="35478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500K users, $10M ARR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0" y="35478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Cash-flow positive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22960" y="3950208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38" name="Shape 36"/>
          <p:cNvSpPr/>
          <p:nvPr/>
        </p:nvSpPr>
        <p:spPr>
          <a:xfrm>
            <a:off x="886968" y="4096512"/>
            <a:ext cx="18288" cy="201168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39" name="Text 37"/>
          <p:cNvSpPr/>
          <p:nvPr/>
        </p:nvSpPr>
        <p:spPr>
          <a:xfrm>
            <a:off x="1097280" y="3895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Y3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554480" y="38953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Hypergrowth + Series B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749040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3M users, $80M ARR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126480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$28M net income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22960" y="4297680"/>
            <a:ext cx="146304" cy="146304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44" name="Shape 42"/>
          <p:cNvSpPr/>
          <p:nvPr/>
        </p:nvSpPr>
        <p:spPr>
          <a:xfrm>
            <a:off x="886968" y="4443984"/>
            <a:ext cx="18288" cy="201168"/>
          </a:xfrm>
          <a:prstGeom prst="rect">
            <a:avLst/>
          </a:prstGeom>
          <a:solidFill>
            <a:srgbClr val="1A2D50"/>
          </a:solidFill>
          <a:ln/>
        </p:spPr>
      </p:sp>
      <p:sp>
        <p:nvSpPr>
          <p:cNvPr id="45" name="Text 43"/>
          <p:cNvSpPr/>
          <p:nvPr/>
        </p:nvSpPr>
        <p:spPr>
          <a:xfrm>
            <a:off x="1097280" y="4242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Y4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1554480" y="424281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 leader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3749040" y="42428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12M users, $350M ARR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26480" y="42428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$145M net income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22960" y="4645152"/>
            <a:ext cx="146304" cy="146304"/>
          </a:xfrm>
          <a:prstGeom prst="ellipse">
            <a:avLst/>
          </a:prstGeom>
          <a:solidFill>
            <a:srgbClr val="3AAFA9"/>
          </a:solidFill>
          <a:ln/>
        </p:spPr>
      </p:sp>
      <p:sp>
        <p:nvSpPr>
          <p:cNvPr id="50" name="Text 48"/>
          <p:cNvSpPr/>
          <p:nvPr/>
        </p:nvSpPr>
        <p:spPr>
          <a:xfrm>
            <a:off x="1097280" y="45902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AFA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Y5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554480" y="45902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IPO-ready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749040" y="45902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 users, $1.4B ARR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126480" y="45902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$670M net income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solidFill>
            <a:srgbClr val="1A2010"/>
          </a:solidFill>
          <a:ln/>
        </p:spPr>
      </p:sp>
      <p:sp>
        <p:nvSpPr>
          <p:cNvPr id="55" name="Text 53"/>
          <p:cNvSpPr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marginal cost per free user (CDN-served)  |  94% gross margin at scale  |  $1.4B ARR by Y5  |  48% net margin  |  Canva-class trajectory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6400800" y="-457200"/>
            <a:ext cx="3657600" cy="2743200"/>
          </a:xfrm>
          <a:prstGeom prst="rect">
            <a:avLst/>
          </a:prstGeom>
          <a:solidFill>
            <a:srgbClr val="2E86DE">
              <a:alpha val="9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Ask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$1.5M Seed Round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97280" y="20116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Pre-money: $6M  |  Post-money: $7.5M  |  20% dilution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Use of Funds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017520"/>
            <a:ext cx="3657600" cy="77724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3017520"/>
            <a:ext cx="54864" cy="777240"/>
          </a:xfrm>
          <a:prstGeom prst="rect">
            <a:avLst/>
          </a:prstGeom>
          <a:solidFill>
            <a:srgbClr val="2E86D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9067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40%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00200" y="3090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Engineering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600200" y="34015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OpenCascade integration, AI copilot, real-time collab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3017520"/>
            <a:ext cx="3657600" cy="77724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3017520"/>
            <a:ext cx="54864" cy="7772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309067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25%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532120" y="3090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Growth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532120" y="34015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community, content marketing, partnerships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1520" y="3977640"/>
            <a:ext cx="3657600" cy="77724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3977640"/>
            <a:ext cx="54864" cy="777240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05079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96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600200" y="4050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Infrastructure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600200" y="43616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hosting, CI/CD, managed AI endpoints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3977640"/>
            <a:ext cx="3657600" cy="77724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977640"/>
            <a:ext cx="54864" cy="777240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26" name="Text 24"/>
          <p:cNvSpPr/>
          <p:nvPr/>
        </p:nvSpPr>
        <p:spPr>
          <a:xfrm>
            <a:off x="4846320" y="4050792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15%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532120" y="4050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Operations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32120" y="43616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Legal, compliance, enterprise sales pipeline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5943600" y="-914400"/>
            <a:ext cx="4572000" cy="2743200"/>
          </a:xfrm>
          <a:prstGeom prst="rect">
            <a:avLst/>
          </a:prstGeom>
          <a:solidFill>
            <a:srgbClr val="2E86DE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1200000">
            <a:off x="6400800" y="-457200"/>
            <a:ext cx="3657600" cy="2286000"/>
          </a:xfrm>
          <a:prstGeom prst="rect">
            <a:avLst/>
          </a:prstGeom>
          <a:solidFill>
            <a:srgbClr val="D4A843">
              <a:alpha val="8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cycleWASH</a:t>
            </a:r>
            <a:pPr indent="0" marL="0">
              <a:buNone/>
            </a:pPr>
            <a:r>
              <a:rPr lang="en-US" sz="14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×  </a:t>
            </a:r>
            <a:pPr indent="0" marL="0">
              <a:buNone/>
            </a:pPr>
            <a:r>
              <a:rPr lang="en-US" sz="14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cycleCAD</a:t>
            </a:r>
            <a:endParaRPr lang="en-US" sz="1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00584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005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0F0E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cycleCAD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31520" y="1920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E86D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Agent-First OS for Manufacturing.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31520" y="2423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built for AI agents. Agents are the only interface. From intent through end of life.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1520" y="2926080"/>
            <a:ext cx="4572000" cy="1645920"/>
          </a:xfrm>
          <a:prstGeom prst="rect">
            <a:avLst/>
          </a:prstGeom>
          <a:solidFill>
            <a:srgbClr val="122240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05840" y="3108960"/>
            <a:ext cx="4023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F0E8"/>
                </a:solidFill>
              </a:rPr>
              <a:t>Sachin Kumar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8B9AB5"/>
                </a:solidFill>
              </a:rPr>
              <a:t>Founder &amp; CEO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2E86DE"/>
                </a:solidFill>
              </a:rPr>
              <a:t>sachin.kumar@cyclewash.com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8B9AB5"/>
                </a:solidFill>
              </a:rPr>
              <a:t>cyclecad.com  |  github.com/vvlars-cmd/cyclecad</a:t>
            </a:r>
            <a:endParaRPr lang="en-US" sz="1600" dirty="0"/>
          </a:p>
          <a:p>
            <a:pPr indent="0" marL="0">
              <a:buNone/>
            </a:pPr>
            <a:r>
              <a:rPr lang="en-US" sz="1100" dirty="0">
                <a:solidFill>
                  <a:srgbClr val="8B9AB5"/>
                </a:solidFill>
              </a:rPr>
              <a:t>npm: cyclecad  |  npm: explodeview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152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designs through us. Every operation costs $CYCLE. Every cycle creates value. Machines creating machines.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cycleCAD — Investor Pitch Deck</dc:title>
  <dc:subject>PptxGenJS Presentation</dc:subject>
  <dc:creator>cycleCAD / cycleWASH</dc:creator>
  <cp:lastModifiedBy>cycleCAD / cycleWASH</cp:lastModifiedBy>
  <cp:revision>1</cp:revision>
  <dcterms:created xsi:type="dcterms:W3CDTF">2026-03-24T21:48:12Z</dcterms:created>
  <dcterms:modified xsi:type="dcterms:W3CDTF">2026-03-24T21:48:12Z</dcterms:modified>
</cp:coreProperties>
</file>