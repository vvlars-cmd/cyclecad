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cycleCAD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284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OS for Manufacturing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learning curve. Describe what you want — AI agents build it in seconds.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and agents work in parallel. Prototypes to 3D print instantly. Real money out.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|  €1.5M  |  Pre-revenue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0" y="4023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728" cy="68580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252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requires years of training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156362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SolidWorks, Inventor, CATIA — all demand 6-12 months to learn. 99% of people with great product ideas can't model them.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965960"/>
            <a:ext cx="109728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19842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costs thousands per year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229514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SolidWorks €4K+, Fusion 360 €545, OnShape €1,500. Budgets gatekeep innovation for SMEs and individuals.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109728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2715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earn nothing from their work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02666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GrabCAD has 7M+ free models. Engineers share designs and receive zero compensation.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29000"/>
            <a:ext cx="109728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44728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 bolt-on, not built-in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375818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MecAgent is a plugin for SolidWorks. Fusion copilots assist. Nobody built CAD for AI agents from the ground up.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160520"/>
            <a:ext cx="109728" cy="6858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1788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Design-to-manufacturing is broken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60120" y="448970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→ CAM → CNC requires incompatible tools, manual exports, and expensive specialist software.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CAD company charges you to create. cycleCAD pays you.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46304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600200"/>
            <a:ext cx="640080" cy="320040"/>
          </a:xfrm>
          <a:prstGeom prst="roundRect">
            <a:avLst>
              <a:gd name="adj" fmla="val 17143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6002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5448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Human : 100 Agents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2011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you want — 100 AI agents build it in parallel. Iterative collaboration: agents draft, you refine, agents improve. Zero CAD skills needed.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46304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92040" y="1600200"/>
            <a:ext cx="640080" cy="320040"/>
          </a:xfrm>
          <a:prstGeom prst="roundRect">
            <a:avLst>
              <a:gd name="adj" fmla="val 17143"/>
            </a:avLst>
          </a:prstGeom>
          <a:solidFill>
            <a:srgbClr val="0284C7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16002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69280" y="15727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Marketplace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20116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models, set prices in $CYCLE tokens. Earn 70-90% royalties on downloads, agent use, and derivatives.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10896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246120"/>
            <a:ext cx="640080" cy="320040"/>
          </a:xfrm>
          <a:prstGeom prst="roundRect">
            <a:avLst>
              <a:gd name="adj" fmla="val 17143"/>
            </a:avLst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2461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55448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→ Connected Fabs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3657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in seconds → 3D print instantly. Final CNC manufacturing in connected fabs on the cycleCAD network.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3108960"/>
            <a:ext cx="3840480" cy="141732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92040" y="3246120"/>
            <a:ext cx="640080" cy="320040"/>
          </a:xfrm>
          <a:prstGeom prst="roundRect">
            <a:avLst>
              <a:gd name="adj" fmla="val 17143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32461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66928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Money Out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937760" y="3657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100 $CYCLE = €1 cash. Stripe or crypto payouts. Passive income from models you already have on your hard drive.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Anyone Can Build a Model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learning curve. 1 human directs 100 agents. Iterative collaboration — agents draft, you refine, agents improve.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2743200" cy="352044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135331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353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AI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Chat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97280" y="219456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194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463040" y="21762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a mounting bracket, 80mm wide, 4 holes for M8 bolts"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97280" y="269748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2697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463040" y="26791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agents work in parallel — geometry, DFM, cost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97280" y="32004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3200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463040" y="31821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refine: "thicker, add fillets" → agents iterate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097280" y="370332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3703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463040" y="36850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STEP in seconds. 3D print instantly.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4251960"/>
            <a:ext cx="2468880" cy="91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297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Anyone. Students, founders, factory workers, designers.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291840" y="1234440"/>
            <a:ext cx="2743200" cy="352044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31920" y="135331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7C3AED"/>
          </a:solidFill>
          <a:ln/>
        </p:spPr>
      </p:sp>
      <p:sp>
        <p:nvSpPr>
          <p:cNvPr id="27" name="Text 25"/>
          <p:cNvSpPr/>
          <p:nvPr/>
        </p:nvSpPr>
        <p:spPr>
          <a:xfrm>
            <a:off x="3931920" y="1353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HUMAN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2900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023360" y="219456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23360" y="2194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89120" y="21762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receives task: "Design conveyor roller assembly"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023360" y="269748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3" name="Text 31"/>
          <p:cNvSpPr/>
          <p:nvPr/>
        </p:nvSpPr>
        <p:spPr>
          <a:xfrm>
            <a:off x="4023360" y="2697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89120" y="26791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 of 100 agents: search marketplace, design, validate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32004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6" name="Text 34"/>
          <p:cNvSpPr/>
          <p:nvPr/>
        </p:nvSpPr>
        <p:spPr>
          <a:xfrm>
            <a:off x="4023360" y="3200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0" y="31821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improvement loop until DFM score = 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023360" y="370332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</p:sp>
      <p:sp>
        <p:nvSpPr>
          <p:cNvPr id="39" name="Text 37"/>
          <p:cNvSpPr/>
          <p:nvPr/>
        </p:nvSpPr>
        <p:spPr>
          <a:xfrm>
            <a:off x="4023360" y="3703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389120" y="36850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finished assembly — earns tokens on sales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29000" y="4251960"/>
            <a:ext cx="2468880" cy="91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4297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swarms running 24/7, building &amp; selling on autopilot.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17920" y="1234440"/>
            <a:ext cx="2743200" cy="352044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58000" y="1353312"/>
            <a:ext cx="1463040" cy="292608"/>
          </a:xfrm>
          <a:prstGeom prst="roundRect">
            <a:avLst>
              <a:gd name="adj" fmla="val 18750"/>
            </a:avLst>
          </a:prstGeom>
          <a:solidFill>
            <a:srgbClr val="D97706"/>
          </a:solidFill>
          <a:ln/>
        </p:spPr>
      </p:sp>
      <p:sp>
        <p:nvSpPr>
          <p:cNvPr id="45" name="Text 43"/>
          <p:cNvSpPr/>
          <p:nvPr/>
        </p:nvSpPr>
        <p:spPr>
          <a:xfrm>
            <a:off x="6858000" y="13533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550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Templates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949440" y="219456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48" name="Text 46"/>
          <p:cNvSpPr/>
          <p:nvPr/>
        </p:nvSpPr>
        <p:spPr>
          <a:xfrm>
            <a:off x="6949440" y="2194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0" y="217627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template: bracket, gear, enclosure, nozzle...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949440" y="269748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51" name="Text 49"/>
          <p:cNvSpPr/>
          <p:nvPr/>
        </p:nvSpPr>
        <p:spPr>
          <a:xfrm>
            <a:off x="6949440" y="26974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0" y="26791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parameters: size, material, hole pattern, thickness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949440" y="32004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54" name="Text 52"/>
          <p:cNvSpPr/>
          <p:nvPr/>
        </p:nvSpPr>
        <p:spPr>
          <a:xfrm>
            <a:off x="6949440" y="3200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315200" y="318211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auto-validates: strength, printability, cost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949440" y="370332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57" name="Text 55"/>
          <p:cNvSpPr/>
          <p:nvPr/>
        </p:nvSpPr>
        <p:spPr>
          <a:xfrm>
            <a:off x="6949440" y="37033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315200" y="36850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or publish your variant to the marketplace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55080" y="4251960"/>
            <a:ext cx="2468880" cy="91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0" name="Text 58"/>
          <p:cNvSpPr/>
          <p:nvPr/>
        </p:nvSpPr>
        <p:spPr>
          <a:xfrm>
            <a:off x="6355080" y="4297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Non-engineers who need production-ready parts fast.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Opportunity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CAD software market growing 20.9% CAGR, reaching €126B by 2030.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1371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1508760"/>
            <a:ext cx="1005840" cy="320040"/>
          </a:xfrm>
          <a:prstGeom prst="roundRect">
            <a:avLst>
              <a:gd name="adj" fmla="val 17143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5087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1965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€25.3B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CAD Market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66160" y="1371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508760"/>
            <a:ext cx="1005840" cy="320040"/>
          </a:xfrm>
          <a:prstGeom prst="roundRect">
            <a:avLst>
              <a:gd name="adj" fmla="val 17143"/>
            </a:avLst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15087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66160" y="1965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€7.7B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56616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CAD (30.4%)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1371600"/>
            <a:ext cx="2468880" cy="2103120"/>
          </a:xfrm>
          <a:prstGeom prst="roundRect">
            <a:avLst>
              <a:gd name="adj" fmla="val 521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1508760"/>
            <a:ext cx="1005840" cy="320040"/>
          </a:xfrm>
          <a:prstGeom prst="roundRect">
            <a:avLst>
              <a:gd name="adj" fmla="val 17143"/>
            </a:avLst>
          </a:prstGeom>
          <a:solidFill>
            <a:srgbClr val="059669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0" y="15087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9360" y="1965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€770M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30936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+ OSS CAD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3840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marketplace creates a new revenue layer on top of CAD — like Shutterstock for engineering.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Marketplace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revenue streams for every creator — from downloads to enterprise procurement.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371600"/>
            <a:ext cx="73152" cy="56692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3898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Downloads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6459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pay tokens for STEP / STL / GLB files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406640" y="1481328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0284C7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14813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70-90%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2029968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029968"/>
            <a:ext cx="73152" cy="5669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0482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Usage Fees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23042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Micro-royalties when AI agents reference your model as a component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406640" y="2139696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use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688336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688336"/>
            <a:ext cx="73152" cy="56692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70662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Derivative Royalties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29626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 sales when someone forks and modifies your original design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406640" y="2798064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7406640" y="279806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346704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3346704"/>
            <a:ext cx="73152" cy="56692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33649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Licensing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14400" y="362102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earned every time someone generates a parametric variant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406640" y="3456432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059669"/>
          </a:solidFill>
          <a:ln/>
        </p:spPr>
      </p:sp>
      <p:sp>
        <p:nvSpPr>
          <p:cNvPr id="30" name="Text 28"/>
          <p:cNvSpPr/>
          <p:nvPr/>
        </p:nvSpPr>
        <p:spPr>
          <a:xfrm>
            <a:off x="7406640" y="34564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gen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4005072"/>
            <a:ext cx="7863840" cy="566928"/>
          </a:xfrm>
          <a:prstGeom prst="roundRect">
            <a:avLst>
              <a:gd name="adj" fmla="val 967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005072"/>
            <a:ext cx="73152" cy="566928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4023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14400" y="427939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buy bulk token packages for their engineering teams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406640" y="4114800"/>
            <a:ext cx="914400" cy="320040"/>
          </a:xfrm>
          <a:prstGeom prst="roundRect">
            <a:avLst>
              <a:gd name="adj" fmla="val 17143"/>
            </a:avLst>
          </a:prstGeom>
          <a:solidFill>
            <a:srgbClr val="0284C7"/>
          </a:solidFill>
          <a:ln/>
        </p:spPr>
      </p:sp>
      <p:sp>
        <p:nvSpPr>
          <p:cNvPr id="36" name="Text 34"/>
          <p:cNvSpPr/>
          <p:nvPr/>
        </p:nvSpPr>
        <p:spPr>
          <a:xfrm>
            <a:off x="7406640" y="4114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$CYCLE Token Economy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after Claude API billing — per-operation ledger, tiered pricing, caching discounts. But creators earn.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2377440" cy="292608"/>
          </a:xfrm>
          <a:prstGeom prst="roundRect">
            <a:avLst>
              <a:gd name="adj" fmla="val 18750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463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(LIKE CLAUDE)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18745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Every API call has a token cost (like Claude input/output tokens)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1214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Every call returns: { tokens_spent, tokens_earned, balance 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Cached model access = discounted (like Claude prompt caching)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61518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Batch operations = bulk discount (like Claude Batch API)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286207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Double-entry ledger: debit buyer → credit creator + platform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137160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37760" y="1463040"/>
            <a:ext cx="2377440" cy="292608"/>
          </a:xfrm>
          <a:prstGeom prst="roundRect">
            <a:avLst>
              <a:gd name="adj" fmla="val 18750"/>
            </a:avLst>
          </a:prstGeom>
          <a:solidFill>
            <a:srgbClr val="059669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1463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CLAUDE DOESN'T HAVE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37760" y="1874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Two-way economy: spend AND earn (Claude is spend-only)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212140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Creator royalties: 70-90% on every transaction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236829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Derivative fees: 15% when someone forks your model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26151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Crypto payments: agents pay in USDC (no bank needed)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37760" y="286207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Cash out: 100 tokens = €1 to bank or crypto wallet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" y="3520440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284C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5204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" y="38404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 = 100 tokens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/ USDC / ETH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23160" y="3794760"/>
            <a:ext cx="228600" cy="18288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8" name="Shape 26"/>
          <p:cNvSpPr/>
          <p:nvPr/>
        </p:nvSpPr>
        <p:spPr>
          <a:xfrm>
            <a:off x="2651760" y="342900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3520440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35204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88920" y="38404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Per-operation cost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Models · CAM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17720" y="3794760"/>
            <a:ext cx="228600" cy="18288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0" y="342900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94960" y="3520440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059669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0" y="35204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83480" y="38404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70-90% royalty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ledger credit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12280" y="3794760"/>
            <a:ext cx="228600" cy="18288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8" name="Shape 36"/>
          <p:cNvSpPr/>
          <p:nvPr/>
        </p:nvSpPr>
        <p:spPr>
          <a:xfrm>
            <a:off x="7040880" y="342900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589520" y="3520440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D97706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352044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OUT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178040" y="38404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tokens = €1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or crypto wallet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Text-to-CAD + Full CAM Pipeline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6-step pipeline with 8 CAM operations, 15+ machine profiles, 30+ tool presets.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524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1051560" cy="256032"/>
          </a:xfrm>
          <a:prstGeom prst="roundRect">
            <a:avLst>
              <a:gd name="adj" fmla="val 17857"/>
            </a:avLst>
          </a:prstGeom>
          <a:solidFill>
            <a:srgbClr val="0284C7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3716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Understand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8912" y="16916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intent from text, sketches, reference images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691640" y="1828800"/>
            <a:ext cx="73152" cy="13716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783080" y="128016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0240" y="1371600"/>
            <a:ext cx="1051560" cy="256032"/>
          </a:xfrm>
          <a:prstGeom prst="roundRect">
            <a:avLst>
              <a:gd name="adj" fmla="val 17857"/>
            </a:avLst>
          </a:prstGeom>
          <a:solidFill>
            <a:srgbClr val="7C3AED"/>
          </a:solidFill>
          <a:ln/>
        </p:spPr>
      </p:sp>
      <p:sp>
        <p:nvSpPr>
          <p:cNvPr id="14" name="Text 12"/>
          <p:cNvSpPr/>
          <p:nvPr/>
        </p:nvSpPr>
        <p:spPr>
          <a:xfrm>
            <a:off x="1920240" y="13716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Plan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56232" y="16916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3+ design alternatives, DFM scoring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108960" y="1828800"/>
            <a:ext cx="73152" cy="13716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128016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1371600"/>
            <a:ext cx="1051560" cy="256032"/>
          </a:xfrm>
          <a:prstGeom prst="roundRect">
            <a:avLst>
              <a:gd name="adj" fmla="val 17857"/>
            </a:avLst>
          </a:prstGeom>
          <a:solidFill>
            <a:srgbClr val="D97706"/>
          </a:solidFill>
          <a:ln/>
        </p:spPr>
      </p:sp>
      <p:sp>
        <p:nvSpPr>
          <p:cNvPr id="19" name="Text 17"/>
          <p:cNvSpPr/>
          <p:nvPr/>
        </p:nvSpPr>
        <p:spPr>
          <a:xfrm>
            <a:off x="3337560" y="13716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Generate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73552" y="16916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parametric model in cycleCAD engine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26280" y="1828800"/>
            <a:ext cx="73152" cy="13716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2" name="Shape 20"/>
          <p:cNvSpPr/>
          <p:nvPr/>
        </p:nvSpPr>
        <p:spPr>
          <a:xfrm>
            <a:off x="4617720" y="128016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1371600"/>
            <a:ext cx="1051560" cy="256032"/>
          </a:xfrm>
          <a:prstGeom prst="roundRect">
            <a:avLst>
              <a:gd name="adj" fmla="val 17857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13716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90872" y="16916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FEA, cost, manufacturability, assembly checks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43600" y="1828800"/>
            <a:ext cx="73152" cy="13716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7" name="Shape 25"/>
          <p:cNvSpPr/>
          <p:nvPr/>
        </p:nvSpPr>
        <p:spPr>
          <a:xfrm>
            <a:off x="6035040" y="128016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2200" y="1371600"/>
            <a:ext cx="1051560" cy="256032"/>
          </a:xfrm>
          <a:prstGeom prst="roundRect">
            <a:avLst>
              <a:gd name="adj" fmla="val 17857"/>
            </a:avLst>
          </a:prstGeom>
          <a:solidFill>
            <a:srgbClr val="DB2777"/>
          </a:solidFill>
          <a:ln/>
        </p:spPr>
      </p:sp>
      <p:sp>
        <p:nvSpPr>
          <p:cNvPr id="29" name="Text 27"/>
          <p:cNvSpPr/>
          <p:nvPr/>
        </p:nvSpPr>
        <p:spPr>
          <a:xfrm>
            <a:off x="6172200" y="13716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Fix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08192" y="16916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iterates design based on feedback (auto-loop)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60920" y="1828800"/>
            <a:ext cx="73152" cy="13716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52360" y="128016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89520" y="1371600"/>
            <a:ext cx="1051560" cy="256032"/>
          </a:xfrm>
          <a:prstGeom prst="roundRect">
            <a:avLst>
              <a:gd name="adj" fmla="val 17857"/>
            </a:avLst>
          </a:prstGeom>
          <a:solidFill>
            <a:srgbClr val="DC2626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1371600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Simplify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525512" y="169164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redundant features, optimize for cost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40080" y="2651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CAM Operations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40080" y="30175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30723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284C7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" y="3072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8992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560320" y="30175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51760" y="30723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7C3AED"/>
          </a:solidFill>
          <a:ln/>
        </p:spPr>
      </p:sp>
      <p:sp>
        <p:nvSpPr>
          <p:cNvPr id="43" name="Text 41"/>
          <p:cNvSpPr/>
          <p:nvPr/>
        </p:nvSpPr>
        <p:spPr>
          <a:xfrm>
            <a:off x="2651760" y="3072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999232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80560" y="30175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0" y="30723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D97706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3072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919472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400800" y="30175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92240" y="30723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59669"/>
          </a:solidFill>
          <a:ln/>
        </p:spPr>
      </p:sp>
      <p:sp>
        <p:nvSpPr>
          <p:cNvPr id="51" name="Text 49"/>
          <p:cNvSpPr/>
          <p:nvPr/>
        </p:nvSpPr>
        <p:spPr>
          <a:xfrm>
            <a:off x="6492240" y="3072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839712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40080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31520" y="35295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DB2777"/>
          </a:solidFill>
          <a:ln/>
        </p:spPr>
      </p:sp>
      <p:sp>
        <p:nvSpPr>
          <p:cNvPr id="55" name="Text 53"/>
          <p:cNvSpPr/>
          <p:nvPr/>
        </p:nvSpPr>
        <p:spPr>
          <a:xfrm>
            <a:off x="731520" y="3529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078992" y="3474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560320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51760" y="35295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DC2626"/>
          </a:solidFill>
          <a:ln/>
        </p:spPr>
      </p:sp>
      <p:sp>
        <p:nvSpPr>
          <p:cNvPr id="59" name="Text 57"/>
          <p:cNvSpPr/>
          <p:nvPr/>
        </p:nvSpPr>
        <p:spPr>
          <a:xfrm>
            <a:off x="2651760" y="3529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2999232" y="3474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80560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72000" y="35295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0284C7"/>
          </a:solidFill>
          <a:ln/>
        </p:spPr>
      </p:sp>
      <p:sp>
        <p:nvSpPr>
          <p:cNvPr id="63" name="Text 61"/>
          <p:cNvSpPr/>
          <p:nvPr/>
        </p:nvSpPr>
        <p:spPr>
          <a:xfrm>
            <a:off x="4572000" y="3529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4919472" y="3474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6400800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92240" y="352958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7C3AED"/>
          </a:solidFill>
          <a:ln/>
        </p:spPr>
      </p:sp>
      <p:sp>
        <p:nvSpPr>
          <p:cNvPr id="67" name="Text 65"/>
          <p:cNvSpPr/>
          <p:nvPr/>
        </p:nvSpPr>
        <p:spPr>
          <a:xfrm>
            <a:off x="6492240" y="35295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839712" y="3474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40080" y="397764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Machine Profiles  |  30+ Tool Presets  |  G-code for CNC/FDM/Laser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40080" y="42245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Fanuc · Haas · Siemens · Mazak · Prusa · Creality · VLS Laser · Synth Tube Bender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 → CAM → Connected Fabs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in seconds. 3D print instantly. Final CNC in connected fabrication shops on the cycleCAD network.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08760"/>
            <a:ext cx="1463040" cy="320040"/>
          </a:xfrm>
          <a:prstGeom prst="roundRect">
            <a:avLst>
              <a:gd name="adj" fmla="val 17143"/>
            </a:avLst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011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FDM / SLA / SLS</a:t>
            </a:r>
            <a:endParaRPr lang="en-US" sz="11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Auto-slice, supports</a:t>
            </a:r>
            <a:endParaRPr lang="en-US" sz="11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G-code export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154680"/>
            <a:ext cx="1280160" cy="320040"/>
          </a:xfrm>
          <a:prstGeom prst="roundRect">
            <a:avLst>
              <a:gd name="adj" fmla="val 17143"/>
            </a:avLst>
          </a:prstGeom>
          <a:solidFill>
            <a:srgbClr val="F8FAFC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546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20-35 tokens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06040" y="137160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80360" y="1508760"/>
            <a:ext cx="1463040" cy="320040"/>
          </a:xfrm>
          <a:prstGeom prst="roundRect">
            <a:avLst>
              <a:gd name="adj" fmla="val 17143"/>
            </a:avLst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288036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Cut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0" y="2011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unfold, nesting</a:t>
            </a:r>
            <a:endParaRPr lang="en-US" sz="11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Kerf compensation</a:t>
            </a:r>
            <a:endParaRPr lang="en-US" sz="11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DXF export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971800" y="3154680"/>
            <a:ext cx="1280160" cy="320040"/>
          </a:xfrm>
          <a:prstGeom prst="roundRect">
            <a:avLst>
              <a:gd name="adj" fmla="val 17143"/>
            </a:avLst>
          </a:prstGeom>
          <a:solidFill>
            <a:srgbClr val="F8FAFC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31546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10-30 tokens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37160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08760"/>
            <a:ext cx="1463040" cy="320040"/>
          </a:xfrm>
          <a:prstGeom prst="roundRect">
            <a:avLst>
              <a:gd name="adj" fmla="val 17143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 Mill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2011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3-axis to 5-axis</a:t>
            </a:r>
            <a:endParaRPr lang="en-US" sz="11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Feeds, speeds, collision</a:t>
            </a:r>
            <a:endParaRPr lang="en-US" sz="11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Fanuc/Haas/Siemens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20640" y="3154680"/>
            <a:ext cx="1280160" cy="320040"/>
          </a:xfrm>
          <a:prstGeom prst="roundRect">
            <a:avLst>
              <a:gd name="adj" fmla="val 17143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0640" y="31546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50-100 tokens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03720" y="137160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78040" y="1508760"/>
            <a:ext cx="1463040" cy="320040"/>
          </a:xfrm>
          <a:prstGeom prst="roundRect">
            <a:avLst>
              <a:gd name="adj" fmla="val 17143"/>
            </a:avLst>
          </a:prstGeom>
          <a:solidFill>
            <a:srgbClr val="0284C7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 Lathe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40880" y="2011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Turning, threading</a:t>
            </a:r>
            <a:endParaRPr lang="en-US" sz="11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Grooving, parting</a:t>
            </a:r>
            <a:endParaRPr lang="en-US" sz="11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tooling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269480" y="3154680"/>
            <a:ext cx="1280160" cy="320040"/>
          </a:xfrm>
          <a:prstGeom prst="roundRect">
            <a:avLst>
              <a:gd name="adj" fmla="val 17143"/>
            </a:avLst>
          </a:prstGeom>
          <a:solidFill>
            <a:srgbClr val="F8FAFC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69480" y="31546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tokens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3794760"/>
            <a:ext cx="7863840" cy="822960"/>
          </a:xfrm>
          <a:prstGeom prst="roundRect">
            <a:avLst>
              <a:gd name="adj" fmla="val 8889"/>
            </a:avLst>
          </a:prstGeom>
          <a:solidFill>
            <a:srgbClr val="ECFDF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38221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Fabs Network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22960" y="413308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 shops, 3D print farms, and laser cutting services join the cycleCAD network. Users click "Manufacture" → job routes to nearest fab → parts ship direct. Fabs earn tokens per job.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Subscription Plans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697480" cy="365760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71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31520" y="2514600"/>
            <a:ext cx="2148840" cy="91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6517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CAD modeling engine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88950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(50 calls/day)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312724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marketplace listings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336499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export (STL/OBJ)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360273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free tokens/month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84048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royalty rate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37560" y="1188720"/>
            <a:ext cx="2697480" cy="365760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31750">
            <a:solidFill>
              <a:srgbClr val="0284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77640" y="1078992"/>
            <a:ext cx="1417320" cy="274320"/>
          </a:xfrm>
          <a:prstGeom prst="roundRect">
            <a:avLst>
              <a:gd name="adj" fmla="val 20000"/>
            </a:avLst>
          </a:prstGeom>
          <a:solidFill>
            <a:srgbClr val="0284C7"/>
          </a:solidFill>
          <a:ln/>
        </p:spPr>
      </p:sp>
      <p:sp>
        <p:nvSpPr>
          <p:cNvPr id="19" name="Text 17"/>
          <p:cNvSpPr/>
          <p:nvPr/>
        </p:nvSpPr>
        <p:spPr>
          <a:xfrm>
            <a:off x="3977640" y="10789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337560" y="1371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37560" y="1691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€49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3337560" y="21945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  (€588/yr)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611880" y="2514600"/>
            <a:ext cx="2148840" cy="91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4" name="Text 22"/>
          <p:cNvSpPr/>
          <p:nvPr/>
        </p:nvSpPr>
        <p:spPr>
          <a:xfrm>
            <a:off x="3566160" y="26517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Free 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66160" y="288950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AI agent calls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66160" y="312724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marketplace listings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566160" y="336499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/ Inventor import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566160" y="360273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CAM pipeline access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384048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tokens/month incl.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66160" y="407822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royalty rate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5661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payouts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1188720"/>
            <a:ext cx="2697480" cy="365760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1371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217920" y="1691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€299</a:t>
            </a:r>
            <a:endParaRPr lang="en-US" sz="3400" dirty="0"/>
          </a:p>
        </p:txBody>
      </p:sp>
      <p:sp>
        <p:nvSpPr>
          <p:cNvPr id="35" name="Text 33"/>
          <p:cNvSpPr/>
          <p:nvPr/>
        </p:nvSpPr>
        <p:spPr>
          <a:xfrm>
            <a:off x="6217920" y="21945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  (€3,588/yr)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492240" y="2514600"/>
            <a:ext cx="2148840" cy="9144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37" name="Text 35"/>
          <p:cNvSpPr/>
          <p:nvPr/>
        </p:nvSpPr>
        <p:spPr>
          <a:xfrm>
            <a:off x="6446520" y="26517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Pro 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46520" y="288950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/ SSO / SCIM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46520" y="312724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internal marketplace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46520" y="336499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 tokens/month incl.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46520" y="360273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royalty rate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46520" y="384048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payouts (no min)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46520" y="407822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 training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+ dedicated support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Revenue Split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earn when creators earn. Subscriptions + marketplace commission + CAM compute + token spread.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786384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Type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846320" y="12801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Gets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0" y="12801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Gets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1627632"/>
            <a:ext cx="7863840" cy="33832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1627632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model sale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6320" y="1627632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1627632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1965960"/>
            <a:ext cx="78638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1965960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tier model sale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46320" y="1965960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196596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304288"/>
            <a:ext cx="7863840" cy="33832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304288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model sale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846320" y="230428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2304288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2642616"/>
            <a:ext cx="78638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2642616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Derivative model sale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46320" y="2642616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55-75%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83680" y="2642616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+ 15% original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2980944"/>
            <a:ext cx="7863840" cy="33832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2980944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micro-royalty (per use)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46320" y="2980944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60-80%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0" y="2980944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20-40%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3319272"/>
            <a:ext cx="7863840" cy="33832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319272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compute jobs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46320" y="3319272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3319272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" y="3657600"/>
            <a:ext cx="7863840" cy="33832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6" name="Text 34"/>
          <p:cNvSpPr/>
          <p:nvPr/>
        </p:nvSpPr>
        <p:spPr>
          <a:xfrm>
            <a:off x="777240" y="3657600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CAM-ready marketplace model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46320" y="3657600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70-90%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583680" y="3657600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10-30%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0080" y="3995928"/>
            <a:ext cx="7863840" cy="33832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3995928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(Pro / Enterprise)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846320" y="39959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83680" y="3995928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recurring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" y="4334256"/>
            <a:ext cx="7863840" cy="33832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4334256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buy/sell spread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46320" y="4334256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583680" y="4334256"/>
            <a:ext cx="1920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~15% margin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Projections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Conservative: 5% monthly user growth, 8% Pro conversion, 1% Enterprise.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786384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34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26280" y="1234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0" y="1234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78040" y="123444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1581912"/>
            <a:ext cx="78638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5819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Users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00400" y="15819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6280" y="15819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25,000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52160" y="15819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78040" y="158191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500,000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1929384"/>
            <a:ext cx="7863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19293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Subscribers (8%)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200400" y="19293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19293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852160" y="19293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78040" y="19293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2276856"/>
            <a:ext cx="78638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27685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(1%)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200400" y="22768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22768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852160" y="22768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78040" y="22768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2624328"/>
            <a:ext cx="7863840" cy="34747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26243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Revenue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200400" y="26243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€415K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26280" y="26243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€2.1M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852160" y="26243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€8.3M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78040" y="26243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€41.4M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2971800"/>
            <a:ext cx="7863840" cy="34747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29718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Commission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200400" y="29718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€96K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26280" y="29718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€720K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29718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€3.6M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178040" y="2971800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€24M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40080" y="3319272"/>
            <a:ext cx="7863840" cy="34747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33192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Compute Revenue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200400" y="331927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€36K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526280" y="331927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€360K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852160" y="331927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€2.4M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178040" y="331927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€18M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40080" y="3666744"/>
            <a:ext cx="7863840" cy="34747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50" name="Text 48"/>
          <p:cNvSpPr/>
          <p:nvPr/>
        </p:nvSpPr>
        <p:spPr>
          <a:xfrm>
            <a:off x="777240" y="36667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Spread Revenue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200400" y="366674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€24K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526280" y="366674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€180K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852160" y="366674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€900K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178040" y="366674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€6M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40080" y="4014216"/>
            <a:ext cx="7863840" cy="347472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56" name="Shape 54"/>
          <p:cNvSpPr/>
          <p:nvPr/>
        </p:nvSpPr>
        <p:spPr>
          <a:xfrm>
            <a:off x="640080" y="4014216"/>
            <a:ext cx="7863840" cy="18288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57" name="Text 55"/>
          <p:cNvSpPr/>
          <p:nvPr/>
        </p:nvSpPr>
        <p:spPr>
          <a:xfrm>
            <a:off x="777240" y="401421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PLATFORM ARR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3200400" y="401421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€571K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526280" y="401421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€3.4M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5852160" y="401421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€15.2M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178040" y="401421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€89.4M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640080" y="4361688"/>
            <a:ext cx="7863840" cy="347472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63" name="Text 61"/>
          <p:cNvSpPr/>
          <p:nvPr/>
        </p:nvSpPr>
        <p:spPr>
          <a:xfrm>
            <a:off x="777240" y="43616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to Creators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3200400" y="43616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€224K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526280" y="43616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€1.7M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5852160" y="43616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€8.4M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178040" y="43616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€56M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Economics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80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4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€588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ARPU / year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06040" y="118872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06040" y="1280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€3,588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06040" y="1874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ARPU / year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280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~85%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1874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Gross Margin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903720" y="118872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280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&gt;50x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03720" y="1874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/ CAC Target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&lt; €5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4360" y="29718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+ open source + AI virality = organic growth. Every marketplace model is an SEO landing page. Creator referral bonuses (5% on referral sales).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265176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LTV: €1,176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92040" y="29718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24-month avg retention at €49/mo, plus growing marketplace commission. Enterprise LTV: €10,764 at 36-month retention.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Gross Margin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4360" y="40233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 ~90% (hosting). Marketplace ~95% (ledger). CAM ~60% (compute). Token float provides additional income on unspent balances.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54880" y="370332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 by Month 14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92040" y="40233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at ~2,000 Pro subscribers + marketplace volume. €1.5M seed gives 18-month runway with margin to spare.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Landscape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is the only platform with model economy, token payouts, Agent API, MCP server, and real industrial use case.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786384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34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651760" y="1234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023360" y="1234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CadXStudio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94960" y="1234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OnShape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766560" y="12344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360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1581912"/>
            <a:ext cx="786384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58191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Text-to-CAD + CAM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51760" y="1581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023360" y="1581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94960" y="1581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766560" y="1581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1874520"/>
            <a:ext cx="786384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1874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Model Economy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51760" y="1874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023360" y="1874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394960" y="1874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766560" y="18745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2167128"/>
            <a:ext cx="786384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1671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 Earn Money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651760" y="21671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70-90%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023360" y="21671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394960" y="21671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66560" y="21671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" y="2459736"/>
            <a:ext cx="786384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24597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1:100 Human-Agent Ratio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651760" y="245973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023360" y="245973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394960" y="245973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766560" y="245973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40080" y="2752344"/>
            <a:ext cx="786384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275234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 (55 commands)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651760" y="27523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023360" y="27523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94960" y="27523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766560" y="27523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40080" y="3044952"/>
            <a:ext cx="786384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30449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Exposed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2651760" y="304495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023360" y="304495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94960" y="304495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766560" y="304495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0080" y="3337560"/>
            <a:ext cx="7863840" cy="29260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0" name="Text 48"/>
          <p:cNvSpPr/>
          <p:nvPr/>
        </p:nvSpPr>
        <p:spPr>
          <a:xfrm>
            <a:off x="777240" y="3337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Fabs Network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651760" y="33375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023360" y="33375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394960" y="33375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766560" y="33375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40080" y="3630168"/>
            <a:ext cx="786384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77240" y="3630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ExplodeView 3D Analysis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2651760" y="36301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023360" y="36301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394960" y="36301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766560" y="36301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40080" y="3922776"/>
            <a:ext cx="7863840" cy="29260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2" name="Text 60"/>
          <p:cNvSpPr/>
          <p:nvPr/>
        </p:nvSpPr>
        <p:spPr>
          <a:xfrm>
            <a:off x="777240" y="392277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2651760" y="3922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4023360" y="3922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5394960" y="3922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766560" y="3922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40080" y="4215384"/>
            <a:ext cx="786384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777240" y="4215384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+ Open Source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2651760" y="42153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Yes/Yes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023360" y="42153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Yes/No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5394960" y="42153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Yes/No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766560" y="42153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No/No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40080" y="4507992"/>
            <a:ext cx="7863840" cy="292608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74" name="Text 72"/>
          <p:cNvSpPr/>
          <p:nvPr/>
        </p:nvSpPr>
        <p:spPr>
          <a:xfrm>
            <a:off x="777240" y="45079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2651760" y="45079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4023360" y="45079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$0-€49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394960" y="45079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€1,500/yr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766560" y="45079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€545/yr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&amp; Roadmap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4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1,625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npm Downloads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118872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06040" y="12344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26K+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0604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18872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2344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03720" y="118872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2344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0372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/ MCP Server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2468880"/>
            <a:ext cx="109728" cy="34747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2468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  (Q2 2026)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383280" y="24688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import, ExplodeView merge, real B-rep booleans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2907792"/>
            <a:ext cx="109728" cy="34747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  (Q3 2026)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383280" y="290779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Copilot, text-to-CAD, DFM analysis, cost estimation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346704"/>
            <a:ext cx="109728" cy="347472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3467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  (Q4 2026)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83280" y="334670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Marketplace, $CYCLE token, creator payouts (fiat + crypto)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3785616"/>
            <a:ext cx="109728" cy="3474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78561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  (Q1 2027)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383280" y="378561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pipeline, Connected Fabs network, Pro + Enterprise launch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224528"/>
            <a:ext cx="109728" cy="347472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2245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E  (Q2 2027)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383280" y="422452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 marketplace, enterprise procurement, 1:100 agent swarms at scale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118872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1887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€1.5M Seed Round  —  18-month runway  —  Target profitability month 14  —  Path to €15M ARR Year 3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9659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057400"/>
            <a:ext cx="731520" cy="365760"/>
          </a:xfrm>
          <a:prstGeom prst="roundRect">
            <a:avLst>
              <a:gd name="adj" fmla="val 15000"/>
            </a:avLst>
          </a:prstGeom>
          <a:solidFill>
            <a:srgbClr val="0284C7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057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91640" y="1984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22402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B-rep kernel, CAM pipeline, marketplace backend, token engine, mobile apps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24328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715768"/>
            <a:ext cx="731520" cy="3657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7157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26426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ML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91640" y="289864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training, text-to-CAD, DFM analysis, vision models, NLP parser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82696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374136"/>
            <a:ext cx="731520" cy="365760"/>
          </a:xfrm>
          <a:prstGeom prst="roundRect">
            <a:avLst>
              <a:gd name="adj" fmla="val 15000"/>
            </a:avLst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3741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91640" y="33009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91640" y="35570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acquisition, enterprise sales, DevRel, community, partnerships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941064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032504"/>
            <a:ext cx="731520" cy="36576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0325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691640" y="39593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691640" y="4215384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legal, compliance, crypto licensing, token economy setup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548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human. 100 agents. Building in parallel.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11887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OS for</a:t>
            </a:r>
            <a:endParaRPr lang="en-US" sz="4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Manufacturing.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learning curve. Prototypes in seconds.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fabs for final production. Creators getting paid.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sachin@cyclewash.de  |  cyclecad.com  |  github.com/vvlars-cmd/cyclecad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intelligence. Massive models in real time. Everyone can contribute.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Parity &amp; Beyond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822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meets or exceeds all major CAD platforms across 15+ categories.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234440"/>
            <a:ext cx="786384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34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474720" y="123444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0" y="123444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CadXStudio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52160" y="123444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OnShape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40880" y="123444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360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1581912"/>
            <a:ext cx="7863840" cy="25603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5819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Text-to-CAD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0" y="15819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663440" y="15819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852160" y="15819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040880" y="15819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1837944"/>
            <a:ext cx="7863840" cy="25603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183794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Pipeline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0" y="18379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663440" y="18379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52160" y="18379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040880" y="18379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40080" y="2093976"/>
            <a:ext cx="7863840" cy="25603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0939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G-code Export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74720" y="209397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663440" y="209397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852160" y="209397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040880" y="209397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40080" y="2350008"/>
            <a:ext cx="7863840" cy="25603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23500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View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474720" y="23500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663440" y="23500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852160" y="23500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040880" y="23500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40080" y="2606040"/>
            <a:ext cx="7863840" cy="25603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Sketcher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74720" y="26060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63440" y="26060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852160" y="26060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040880" y="260604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40080" y="2862072"/>
            <a:ext cx="7863840" cy="25603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28620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Economy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74720" y="286207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663440" y="286207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52160" y="286207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040880" y="286207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40080" y="3118104"/>
            <a:ext cx="7863840" cy="25603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50" name="Text 48"/>
          <p:cNvSpPr/>
          <p:nvPr/>
        </p:nvSpPr>
        <p:spPr>
          <a:xfrm>
            <a:off x="777240" y="311810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474720" y="311810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663440" y="311810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5852160" y="311810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7040880" y="311810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40080" y="3374136"/>
            <a:ext cx="7863840" cy="256032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56" name="Text 54"/>
          <p:cNvSpPr/>
          <p:nvPr/>
        </p:nvSpPr>
        <p:spPr>
          <a:xfrm>
            <a:off x="777240" y="337413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474720" y="337413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4663440" y="337413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5852160" y="337413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7040880" y="337413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40080" y="3630168"/>
            <a:ext cx="7863840" cy="2560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2" name="Text 60"/>
          <p:cNvSpPr/>
          <p:nvPr/>
        </p:nvSpPr>
        <p:spPr>
          <a:xfrm>
            <a:off x="777240" y="36301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3474720" y="36301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663440" y="36301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852160" y="36301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7040880" y="36301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640080" y="3886200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777240" y="3886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ExplodeView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3474720" y="38862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4663440" y="38862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852160" y="38862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040880" y="38862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640080" y="4142232"/>
            <a:ext cx="7863840" cy="2560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74" name="Text 72"/>
          <p:cNvSpPr/>
          <p:nvPr/>
        </p:nvSpPr>
        <p:spPr>
          <a:xfrm>
            <a:off x="777240" y="41422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Profiles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3474720" y="414223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4663440" y="414223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52160" y="414223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040880" y="414223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640080" y="4398264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Text 78"/>
          <p:cNvSpPr/>
          <p:nvPr/>
        </p:nvSpPr>
        <p:spPr>
          <a:xfrm>
            <a:off x="777240" y="439826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Presets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3474720" y="43982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4663440" y="43982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52160" y="43982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7040880" y="43982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40080" y="4654296"/>
            <a:ext cx="7863840" cy="2560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6" name="Text 84"/>
          <p:cNvSpPr/>
          <p:nvPr/>
        </p:nvSpPr>
        <p:spPr>
          <a:xfrm>
            <a:off x="77724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Earnings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3474720" y="46542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70-90%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663440" y="46542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52160" y="46542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7040880" y="46542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640080" y="4910328"/>
            <a:ext cx="7863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777240" y="4910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3474720" y="49103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4663440" y="49103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852160" y="49103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7040880" y="491032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640080" y="5166360"/>
            <a:ext cx="7863840" cy="25603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8" name="Text 96"/>
          <p:cNvSpPr/>
          <p:nvPr/>
        </p:nvSpPr>
        <p:spPr>
          <a:xfrm>
            <a:off x="777240" y="51663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Native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3474720" y="516636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4663440" y="516636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5852160" y="516636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7040880" y="516636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777240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 ·  Confidential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cycleCAD — Investor Pitch Deck v3</dc:title>
  <dc:subject>PptxGenJS Presentation</dc:subject>
  <dc:creator>Sachin Kumar</dc:creator>
  <cp:lastModifiedBy>Sachin Kumar</cp:lastModifiedBy>
  <cp:revision>1</cp:revision>
  <dcterms:created xsi:type="dcterms:W3CDTF">2026-03-26T19:53:58Z</dcterms:created>
  <dcterms:modified xsi:type="dcterms:W3CDTF">2026-03-26T19:53:58Z</dcterms:modified>
</cp:coreProperties>
</file>