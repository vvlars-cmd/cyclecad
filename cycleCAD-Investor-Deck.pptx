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cycleCAD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28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OS for Manufacturing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learning curve. Describe what you want — AI agents build it in seconds.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and agents work in parallel. Prototypes to 3D print instantly. Real money out.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|  €1.5M  |  Pre-revenue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0" y="4023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 ·  Confidential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09728" cy="68580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2527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requires years of training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5636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SolidWorks, Inventor, CATIA — all demand 6-12 months to learn. 99% of people with great product ideas can't model them.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109728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9842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costs thousands per year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29514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SolidWorks €4K+, Fusion 360 €545, OnShape €1,500. Budgets gatekeep innovation for SMEs and individuals.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697480"/>
            <a:ext cx="109728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7157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earn nothing from their work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302666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GrabCAD has 7M+ free models. Engineers share designs and receive zero compensation.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109728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4472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 bolt-on, not built-in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37581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MecAgent is a plugin for SolidWorks. Fusion copilots assist. Nobody built CAD for AI agents from the ground up.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160520"/>
            <a:ext cx="109728" cy="6858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1788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Design-to-manufacturing is broken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448970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→ CAM → CNC requires incompatible tools, manual exports, and expensive specialist software.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 ·  Confidential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CAD company charges you to create. cycleCAD pays you.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384048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600200"/>
            <a:ext cx="640080" cy="320040"/>
          </a:xfrm>
          <a:prstGeom prst="roundRect">
            <a:avLst>
              <a:gd name="adj" fmla="val 17143"/>
            </a:avLst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00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54480" y="1572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Human : 100 Agents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0116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you want — 100 AI agents build it in parallel. Iterative collaboration: agents draft, you refine, agents improve. Zero CAD skills needed.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463040"/>
            <a:ext cx="384048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600200"/>
            <a:ext cx="640080" cy="320040"/>
          </a:xfrm>
          <a:prstGeom prst="roundRect">
            <a:avLst>
              <a:gd name="adj" fmla="val 17143"/>
            </a:avLst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600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0" y="1572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Marketplace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20116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models, set prices in $CYCLE tokens. Earn 70-90% royalties on downloads, agent use, and derivatives.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108960"/>
            <a:ext cx="384048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246120"/>
            <a:ext cx="640080" cy="320040"/>
          </a:xfrm>
          <a:prstGeom prst="roundRect">
            <a:avLst>
              <a:gd name="adj" fmla="val 17143"/>
            </a:avLst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2461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54480" y="32186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→ Connected Fabs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3657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in seconds → 3D print instantly. Final CNC manufacturing in connected fabs on the cycleCAD network.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108960"/>
            <a:ext cx="384048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92040" y="3246120"/>
            <a:ext cx="640080" cy="320040"/>
          </a:xfrm>
          <a:prstGeom prst="roundRect">
            <a:avLst>
              <a:gd name="adj" fmla="val 17143"/>
            </a:avLst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32461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69280" y="32186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Money Out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937760" y="3657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100 $CYCLE = €1 cash. Stripe or crypto payouts. Passive income from models you already have on your hard drive.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 ·  Confidential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Anyone Can Build a Model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learning curve. 1 human directs 100 agents. Iterative collaboration — agents draft, you refine, agents improve.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743200" cy="352044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35331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3533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+ AI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737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/ Chat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97280" y="219456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194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63040" y="21762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 a mounting bracket, 80mm wide, 4 holes for M8 bolts"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97280" y="269748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2697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63040" y="26791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agents work in parallel — geometry, DFM, cost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97280" y="320040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63040" y="31821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refine: "thicker, add fillets" → agents iterate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97280" y="370332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3703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63040" y="36850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STEP in seconds. 3D print instantly.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4251960"/>
            <a:ext cx="246888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297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Anyone. Students, founders, factory workers, designers.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91840" y="1234440"/>
            <a:ext cx="2743200" cy="352044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31920" y="135331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3931920" y="13533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HUMAN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29000" y="1737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23360" y="219456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4023360" y="2194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89120" y="21762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receives task: "Design conveyor roller assembly"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023360" y="269748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4023360" y="2697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389120" y="26791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of 100 agents: search marketplace, design, validate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023360" y="320040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4023360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389120" y="31821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improvement loop until DFM score = 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023360" y="370332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9" name="Text 37"/>
          <p:cNvSpPr/>
          <p:nvPr/>
        </p:nvSpPr>
        <p:spPr>
          <a:xfrm>
            <a:off x="4023360" y="3703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389120" y="36850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finished assembly — earns tokens on sales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29000" y="4251960"/>
            <a:ext cx="246888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2" name="Text 40"/>
          <p:cNvSpPr/>
          <p:nvPr/>
        </p:nvSpPr>
        <p:spPr>
          <a:xfrm>
            <a:off x="3429000" y="4297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swarms running 24/7, building &amp; selling on autopilot.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217920" y="1234440"/>
            <a:ext cx="2743200" cy="352044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58000" y="135331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D97706"/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0" y="13533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55080" y="1737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Templates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949440" y="219456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8" name="Text 46"/>
          <p:cNvSpPr/>
          <p:nvPr/>
        </p:nvSpPr>
        <p:spPr>
          <a:xfrm>
            <a:off x="6949440" y="2194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315200" y="21762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template: bracket, gear, enclosure, nozzle...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949440" y="269748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51" name="Text 49"/>
          <p:cNvSpPr/>
          <p:nvPr/>
        </p:nvSpPr>
        <p:spPr>
          <a:xfrm>
            <a:off x="6949440" y="2697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315200" y="26791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parameters: size, material, hole pattern, thickness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949440" y="320040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54" name="Text 52"/>
          <p:cNvSpPr/>
          <p:nvPr/>
        </p:nvSpPr>
        <p:spPr>
          <a:xfrm>
            <a:off x="6949440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315200" y="31821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auto-validates: strength, printability, cost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949440" y="370332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57" name="Text 55"/>
          <p:cNvSpPr/>
          <p:nvPr/>
        </p:nvSpPr>
        <p:spPr>
          <a:xfrm>
            <a:off x="6949440" y="3703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315200" y="36850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or publish your variant to the marketplace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355080" y="4251960"/>
            <a:ext cx="246888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0" name="Text 58"/>
          <p:cNvSpPr/>
          <p:nvPr/>
        </p:nvSpPr>
        <p:spPr>
          <a:xfrm>
            <a:off x="6355080" y="4297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Non-engineers who need production-ready parts fast.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 ·  Confidential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CAD software market growing 20.9% CAGR, reaching €126B by 2030.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1508760"/>
            <a:ext cx="1005840" cy="320040"/>
          </a:xfrm>
          <a:prstGeom prst="roundRect">
            <a:avLst>
              <a:gd name="adj" fmla="val 17143"/>
            </a:avLst>
          </a:prstGeom>
          <a:solidFill>
            <a:srgbClr val="0284C7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508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965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€25.3B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822960" y="2743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CAD Market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66160" y="137160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508760"/>
            <a:ext cx="1005840" cy="320040"/>
          </a:xfrm>
          <a:prstGeom prst="roundRect">
            <a:avLst>
              <a:gd name="adj" fmla="val 17143"/>
            </a:avLst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508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1965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€7.7B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3566160" y="2743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CAD (30.4%)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137160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0" y="1508760"/>
            <a:ext cx="1005840" cy="320040"/>
          </a:xfrm>
          <a:prstGeom prst="roundRect">
            <a:avLst>
              <a:gd name="adj" fmla="val 17143"/>
            </a:avLst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1508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1965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€770M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309360" y="2743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+ OSS CAD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840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marketplace creates a new revenue layer on top of CAD — like Shutterstock for engineering.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 ·  Confidential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Marketplace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revenue streams for every creator — from downloads to enterprise procurement.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786384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371600"/>
            <a:ext cx="73152" cy="56692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389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Downloads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645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pay tokens for STEP / STL / GLB files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06640" y="1481328"/>
            <a:ext cx="914400" cy="320040"/>
          </a:xfrm>
          <a:prstGeom prst="roundRect">
            <a:avLst>
              <a:gd name="adj" fmla="val 17143"/>
            </a:avLst>
          </a:prstGeom>
          <a:solidFill>
            <a:srgbClr val="0284C7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0" y="14813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70-90%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029968"/>
            <a:ext cx="7863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029968"/>
            <a:ext cx="73152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0482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Usage Fees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2304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Micro-royalties when AI agents reference your model as a component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06640" y="2139696"/>
            <a:ext cx="914400" cy="320040"/>
          </a:xfrm>
          <a:prstGeom prst="roundRect">
            <a:avLst>
              <a:gd name="adj" fmla="val 17143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213969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688336"/>
            <a:ext cx="786384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2688336"/>
            <a:ext cx="73152" cy="5669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27066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 Royalties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29626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of sales when someone forks and modifies your original design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406640" y="2798064"/>
            <a:ext cx="914400" cy="320040"/>
          </a:xfrm>
          <a:prstGeom prst="roundRect">
            <a:avLst>
              <a:gd name="adj" fmla="val 17143"/>
            </a:avLst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7406640" y="279806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346704"/>
            <a:ext cx="7863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3346704"/>
            <a:ext cx="73152" cy="5669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3364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Licensing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36210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earned every time someone generates a parametric variant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406640" y="3456432"/>
            <a:ext cx="914400" cy="320040"/>
          </a:xfrm>
          <a:prstGeom prst="roundRect">
            <a:avLst>
              <a:gd name="adj" fmla="val 17143"/>
            </a:avLst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7406640" y="34564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gen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4005072"/>
            <a:ext cx="786384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4005072"/>
            <a:ext cx="73152" cy="56692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4023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Procurement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4400" y="4279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buy bulk token packages for their engineering teams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406640" y="4114800"/>
            <a:ext cx="914400" cy="320040"/>
          </a:xfrm>
          <a:prstGeom prst="roundRect">
            <a:avLst>
              <a:gd name="adj" fmla="val 17143"/>
            </a:avLst>
          </a:prstGeom>
          <a:solidFill>
            <a:srgbClr val="0284C7"/>
          </a:solidFill>
          <a:ln/>
        </p:spPr>
      </p:sp>
      <p:sp>
        <p:nvSpPr>
          <p:cNvPr id="36" name="Text 34"/>
          <p:cNvSpPr/>
          <p:nvPr/>
        </p:nvSpPr>
        <p:spPr>
          <a:xfrm>
            <a:off x="7406640" y="4114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 ·  Confidential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$CYCLE Token Economy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after Claude API billing — per-operation ledger, tiered pricing, caching discounts. But creators earn.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63040"/>
            <a:ext cx="2377440" cy="292608"/>
          </a:xfrm>
          <a:prstGeom prst="roundRect">
            <a:avLst>
              <a:gd name="adj" fmla="val 18750"/>
            </a:avLst>
          </a:prstGeom>
          <a:solidFill>
            <a:srgbClr val="0284C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63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(LIKE CLAUDE)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Every API call has a token cost (like Claude input/output tokens)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1214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Every call returns: { tokens_spent, tokens_earned, balance 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3682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Cached model access = discounted (like Claude prompt caching)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6151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Batch operations = bulk discount (like Claude Batch API)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8620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Double-entry ledger: debit buyer → credit creator + platform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37160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1463040"/>
            <a:ext cx="2377440" cy="292608"/>
          </a:xfrm>
          <a:prstGeom prst="roundRect">
            <a:avLst>
              <a:gd name="adj" fmla="val 18750"/>
            </a:avLst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463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CLAUDE DOESN'T HAVE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18745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Two-way economy: spend AND earn (Claude is spend-only)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1214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Creator royalties: 70-90% on every transaction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236829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Derivative fees: 15% when someone forks your model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26151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Crypto payments: agents pay in USDC (no bank needed)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8620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Cash out: 100 tokens = €1 to bank or crypto wallet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42900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" y="3520440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0284C7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5204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38404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 = 100 tokens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/ USDC / ETH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23160" y="3794760"/>
            <a:ext cx="228600" cy="182880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28" name="Shape 26"/>
          <p:cNvSpPr/>
          <p:nvPr/>
        </p:nvSpPr>
        <p:spPr>
          <a:xfrm>
            <a:off x="2651760" y="342900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3520440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0" y="35204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88920" y="38404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Per-operation cost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Models · CAM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17720" y="3794760"/>
            <a:ext cx="228600" cy="182880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33" name="Shape 31"/>
          <p:cNvSpPr/>
          <p:nvPr/>
        </p:nvSpPr>
        <p:spPr>
          <a:xfrm>
            <a:off x="4846320" y="342900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94960" y="3520440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059669"/>
          </a:solidFill>
          <a:ln/>
        </p:spPr>
      </p:sp>
      <p:sp>
        <p:nvSpPr>
          <p:cNvPr id="35" name="Text 33"/>
          <p:cNvSpPr/>
          <p:nvPr/>
        </p:nvSpPr>
        <p:spPr>
          <a:xfrm>
            <a:off x="5394960" y="35204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83480" y="38404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70-90% royalty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ledger credit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12280" y="3794760"/>
            <a:ext cx="228600" cy="182880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38" name="Shape 36"/>
          <p:cNvSpPr/>
          <p:nvPr/>
        </p:nvSpPr>
        <p:spPr>
          <a:xfrm>
            <a:off x="7040880" y="342900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89520" y="3520440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D97706"/>
          </a:solidFill>
          <a:ln/>
        </p:spPr>
      </p:sp>
      <p:sp>
        <p:nvSpPr>
          <p:cNvPr id="40" name="Text 38"/>
          <p:cNvSpPr/>
          <p:nvPr/>
        </p:nvSpPr>
        <p:spPr>
          <a:xfrm>
            <a:off x="7589520" y="35204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OUT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78040" y="38404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tokens = €1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or crypto wallet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 ·  Confidential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Granular Access Levels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set per-feature pricing. Progressive unlock — lower tier spend counts toward higher tiers.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325880"/>
            <a:ext cx="7863840" cy="34747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3258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Tier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13258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0" y="13258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Buyer Gets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1700784"/>
            <a:ext cx="7863840" cy="39319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700784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75564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17556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566160" y="1700784"/>
            <a:ext cx="4754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render, bounding box, part count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093976"/>
            <a:ext cx="786384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093976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14600" y="214884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0284C7"/>
          </a:solidFill>
          <a:ln/>
        </p:spPr>
      </p:sp>
      <p:sp>
        <p:nvSpPr>
          <p:cNvPr id="19" name="Text 17"/>
          <p:cNvSpPr/>
          <p:nvPr/>
        </p:nvSpPr>
        <p:spPr>
          <a:xfrm>
            <a:off x="2514600" y="21488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566160" y="2093976"/>
            <a:ext cx="4754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BOM, materials, weight, assembly tree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2487168"/>
            <a:ext cx="7863840" cy="39319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2487168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14600" y="2542032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0284C7"/>
          </a:solidFill>
          <a:ln/>
        </p:spPr>
      </p:sp>
      <p:sp>
        <p:nvSpPr>
          <p:cNvPr id="24" name="Text 22"/>
          <p:cNvSpPr/>
          <p:nvPr/>
        </p:nvSpPr>
        <p:spPr>
          <a:xfrm>
            <a:off x="2514600" y="25420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66160" y="2487168"/>
            <a:ext cx="4754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dims, tolerances, feature parameters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2880360"/>
            <a:ext cx="786384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2880360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Export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14600" y="2935224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2514600" y="29352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566160" y="2880360"/>
            <a:ext cx="4754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/ OBJ / GLB triangulated mesh download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3273552"/>
            <a:ext cx="7863840" cy="39319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3273552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328416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2514600" y="33284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566160" y="3273552"/>
            <a:ext cx="4754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 file with editable feature tree + history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3666744"/>
            <a:ext cx="786384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3666744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CAM-Ready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514600" y="372160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DB2777"/>
          </a:solidFill>
          <a:ln/>
        </p:spPr>
      </p:sp>
      <p:sp>
        <p:nvSpPr>
          <p:cNvPr id="39" name="Text 37"/>
          <p:cNvSpPr/>
          <p:nvPr/>
        </p:nvSpPr>
        <p:spPr>
          <a:xfrm>
            <a:off x="2514600" y="37216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566160" y="3666744"/>
            <a:ext cx="4754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pre-generated CNC/laser/3D print toolpaths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" y="4059936"/>
            <a:ext cx="7863840" cy="39319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2" name="Text 40"/>
          <p:cNvSpPr/>
          <p:nvPr/>
        </p:nvSpPr>
        <p:spPr>
          <a:xfrm>
            <a:off x="777240" y="4059936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IP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514600" y="411480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/>
        </p:spPr>
      </p:sp>
      <p:sp>
        <p:nvSpPr>
          <p:cNvPr id="44" name="Text 42"/>
          <p:cNvSpPr/>
          <p:nvPr/>
        </p:nvSpPr>
        <p:spPr>
          <a:xfrm>
            <a:off x="2514600" y="4114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566160" y="4059936"/>
            <a:ext cx="4754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license + derivative rights + source parametrics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 ·  Confidential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 → CAM → Connected Fabs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in seconds. 3D print instantly. Final CNC in connected fabrication shops on the cycleCAD network.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08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0116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FDM / SLA / SLS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Auto-slice, supports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G-code export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15468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54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20-35 tokens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6040" y="137160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80360" y="150876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2880360" y="1508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Cut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20116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unfold, nesting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Kerf compensation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DXF export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71800" y="315468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3154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10-30 tokens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37160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150876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508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 Mill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20116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3-axis to 5-axis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Feeds, speeds, collision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Fanuc/Haas/Siemens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20640" y="315468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3154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50-100 tokens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03720" y="137160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78040" y="150876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0284C7"/>
          </a:solidFill>
          <a:ln/>
        </p:spPr>
      </p:sp>
      <p:sp>
        <p:nvSpPr>
          <p:cNvPr id="27" name="Text 25"/>
          <p:cNvSpPr/>
          <p:nvPr/>
        </p:nvSpPr>
        <p:spPr>
          <a:xfrm>
            <a:off x="7178040" y="1508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 Lathe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40880" y="20116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Turning, threading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Grooving, parting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tooling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269480" y="315468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F8FAFC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3154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tokens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3794760"/>
            <a:ext cx="7863840" cy="82296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3822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Fabs Network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2960" y="413308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 shops, 3D print farms, and laser cutting services join the cycleCAD network. Users click "Manufacture" → job routes to nearest fab → parts ship direct. Fabs earn tokens per job.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 ·  Confidential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Subscription Plans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2514600"/>
            <a:ext cx="214884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5176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CAD modeling engine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88950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(50 calls/day)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312724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marketplace listings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36499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export (STL/OBJ)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360273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free tokens/month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84048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royalty rate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37560" y="118872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F8FAFC"/>
          </a:solidFill>
          <a:ln w="31750">
            <a:solidFill>
              <a:srgbClr val="0284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77640" y="1078992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0284C7"/>
          </a:solidFill>
          <a:ln/>
        </p:spPr>
      </p:sp>
      <p:sp>
        <p:nvSpPr>
          <p:cNvPr id="19" name="Text 17"/>
          <p:cNvSpPr/>
          <p:nvPr/>
        </p:nvSpPr>
        <p:spPr>
          <a:xfrm>
            <a:off x="3977640" y="10789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37560" y="13716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37560" y="16916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€49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3337560" y="219456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 (€588/yr)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11880" y="2514600"/>
            <a:ext cx="214884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4" name="Text 22"/>
          <p:cNvSpPr/>
          <p:nvPr/>
        </p:nvSpPr>
        <p:spPr>
          <a:xfrm>
            <a:off x="3566160" y="265176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Free +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66160" y="288950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AI agent calls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66160" y="312724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marketplace listings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66160" y="336499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/ Inventor import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66160" y="360273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CAM pipeline access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66160" y="384048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tokens/month incl.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566160" y="407822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royalty rate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566160" y="431596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payouts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118872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13716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17920" y="16916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€299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6217920" y="219456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 (€3,588/yr)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92240" y="2514600"/>
            <a:ext cx="214884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265176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Pro +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46520" y="288950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/ SSO / SCIM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46520" y="312724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internal marketplace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46520" y="336499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tokens/month incl.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46520" y="360273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royalty rate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46520" y="384048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payouts (no min)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46520" y="407822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 training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46520" y="431596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+ dedicated support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 ·  Confidential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Revenue Split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earn when creators earn. Subscriptions + marketplace commission + CAM compute + token spread.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280160"/>
            <a:ext cx="7863840" cy="3200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Type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4632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Gets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0" y="1280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Gets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1627632"/>
            <a:ext cx="786384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627632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model sale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1627632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1627632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1965960"/>
            <a:ext cx="7863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1965960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tier model sale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1965960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1965960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304288"/>
            <a:ext cx="786384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2304288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model sale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230428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2304288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2642616"/>
            <a:ext cx="7863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2642616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 model sale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0" y="2642616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55-75%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2642616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+ 15% original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2980944"/>
            <a:ext cx="786384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2980944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micro-royalty (per use)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46320" y="2980944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60-80%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2980944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20-40%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3319272"/>
            <a:ext cx="7863840" cy="33832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3319272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compute jobs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46320" y="3319272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0" y="3319272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3657600"/>
            <a:ext cx="786384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" y="3657600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CAM-ready marketplace model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46320" y="3657600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70-90%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83680" y="3657600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10-30%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" y="3995928"/>
            <a:ext cx="7863840" cy="33832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" y="3995928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(Pro / Enterprise)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46320" y="399592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83680" y="3995928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recurring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" y="4334256"/>
            <a:ext cx="7863840" cy="33832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4" name="Text 42"/>
          <p:cNvSpPr/>
          <p:nvPr/>
        </p:nvSpPr>
        <p:spPr>
          <a:xfrm>
            <a:off x="777240" y="4334256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buy/sell spread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46320" y="4334256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83680" y="4334256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 margin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 ·  Confidential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Projections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Conservative: 5% monthly user growth, 8% Pro conversion, 1% Enterprise.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7863840" cy="3200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0" y="12344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26280" y="12344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52160" y="12344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78040" y="12344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1581912"/>
            <a:ext cx="786384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15819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Users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00400" y="15819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6280" y="15819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15819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78040" y="15819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1929384"/>
            <a:ext cx="78638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19293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Subscribers (8%)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00400" y="192938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26280" y="192938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52160" y="192938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78040" y="192938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2276856"/>
            <a:ext cx="786384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227685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(1%)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00400" y="227685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26280" y="227685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52160" y="227685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78040" y="227685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2624328"/>
            <a:ext cx="7863840" cy="34747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26243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Revenue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00400" y="26243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€415K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26280" y="26243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€2.1M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852160" y="26243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€8.3M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78040" y="26243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€41.4M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2971800"/>
            <a:ext cx="7863840" cy="34747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29718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Commission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00400" y="29718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€96K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26280" y="29718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€720K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852160" y="29718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€3.6M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178040" y="29718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€24M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0080" y="3319272"/>
            <a:ext cx="7863840" cy="34747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4" name="Text 42"/>
          <p:cNvSpPr/>
          <p:nvPr/>
        </p:nvSpPr>
        <p:spPr>
          <a:xfrm>
            <a:off x="777240" y="33192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Compute Revenue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200400" y="33192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€36K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26280" y="33192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€360K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852160" y="33192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€2.4M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178040" y="33192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€18M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0080" y="3666744"/>
            <a:ext cx="7863840" cy="34747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0" name="Text 48"/>
          <p:cNvSpPr/>
          <p:nvPr/>
        </p:nvSpPr>
        <p:spPr>
          <a:xfrm>
            <a:off x="777240" y="36667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Spread Revenue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3200400" y="366674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€24K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26280" y="366674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€180K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852160" y="366674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€900K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178040" y="366674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€6M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40080" y="4014216"/>
            <a:ext cx="7863840" cy="34747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56" name="Shape 54"/>
          <p:cNvSpPr/>
          <p:nvPr/>
        </p:nvSpPr>
        <p:spPr>
          <a:xfrm>
            <a:off x="640080" y="4014216"/>
            <a:ext cx="7863840" cy="182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7" name="Text 55"/>
          <p:cNvSpPr/>
          <p:nvPr/>
        </p:nvSpPr>
        <p:spPr>
          <a:xfrm>
            <a:off x="777240" y="40142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PLATFORM ARR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3200400" y="401421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€571K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526280" y="401421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€3.4M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5852160" y="401421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€15.2M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7178040" y="401421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€89.4M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640080" y="4361688"/>
            <a:ext cx="7863840" cy="34747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63" name="Text 61"/>
          <p:cNvSpPr/>
          <p:nvPr/>
        </p:nvSpPr>
        <p:spPr>
          <a:xfrm>
            <a:off x="777240" y="43616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to Creators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3200400" y="436168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€224K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526280" y="436168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€1.7M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852160" y="436168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€8.4M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178040" y="436168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€56M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 ·  Confidential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Economics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€588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ARPU / year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06040" y="118872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280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€3,588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0604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ARPU / year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280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~85%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5488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Gross Margin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03720" y="118872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1280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&gt;50x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90372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/ CAC Target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&lt; €5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2971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+ open source + AI virality = organic growth. Every marketplace model is an SEO landing page. Creator referral bonuses (5% on referral sales).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6517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LTV: €1,176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2971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24-month avg retention at €49/mo, plus growing marketplace commission. Enterprise LTV: €10,764 at 36-month retention.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7033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Gross Margin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" y="4023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~90% (hosting). Marketplace ~95% (ledger). CAM ~60% (compute). Token float provides additional income on unspent balances.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37033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by Month 14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4023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at ~2,000 Pro subscribers + marketplace volume. €1.5M seed gives 18-month runway with margin to spare.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 ·  Confidential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has a model economy or crypto payouts. This is the moat.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7863840" cy="3200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34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17520" y="1234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0" y="1234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OnShape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60720" y="1234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360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0" y="1234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GrabCAD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1581912"/>
            <a:ext cx="7863840" cy="3200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15819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1:100 Human-Agent Ratio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17520" y="158191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0" y="158191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158191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0" y="158191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1901952"/>
            <a:ext cx="7863840" cy="3200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19019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Model Economy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017520" y="19019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0" y="19019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60720" y="19019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32320" y="19019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2221992"/>
            <a:ext cx="7863840" cy="3200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22219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Earn Money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017520" y="22219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70-90%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89120" y="22219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0" y="22219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32320" y="22219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2542032"/>
            <a:ext cx="7863840" cy="3200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25420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Fabs Network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017520" y="25420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89120" y="25420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60720" y="25420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32320" y="25420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" y="2862072"/>
            <a:ext cx="7863840" cy="3200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28620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Learning Curve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017520" y="28620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389120" y="28620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60720" y="28620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132320" y="28620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" y="3182112"/>
            <a:ext cx="78638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777240" y="31821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Agent-First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017520" y="318211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389120" y="318211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760720" y="318211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132320" y="318211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40080" y="3502152"/>
            <a:ext cx="786384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0" name="Text 48"/>
          <p:cNvSpPr/>
          <p:nvPr/>
        </p:nvSpPr>
        <p:spPr>
          <a:xfrm>
            <a:off x="777240" y="35021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Marketplace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3017520" y="35021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389120" y="35021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760720" y="35021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132320" y="35021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only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40080" y="3822192"/>
            <a:ext cx="78638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777240" y="38221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→ CAM → Ship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3017520" y="38221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389120" y="38221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760720" y="38221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132320" y="38221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40080" y="4142232"/>
            <a:ext cx="786384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2" name="Text 60"/>
          <p:cNvSpPr/>
          <p:nvPr/>
        </p:nvSpPr>
        <p:spPr>
          <a:xfrm>
            <a:off x="777240" y="41422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+ Open Source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3017520" y="41422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Yes/Yes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389120" y="41422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Yes/No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760720" y="41422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No/No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132320" y="41422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Yes/No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40080" y="4462272"/>
            <a:ext cx="78638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66"/>
          <p:cNvSpPr/>
          <p:nvPr/>
        </p:nvSpPr>
        <p:spPr>
          <a:xfrm>
            <a:off x="777240" y="44622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3017520" y="44622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4389120" y="44622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€1,500/yr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5760720" y="44622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€545/yr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7132320" y="44622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 ·  Confidential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Traction &amp; Roadmap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npm Downloads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1887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234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40K+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0604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234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5488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Shipped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03720" y="11887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1234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399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90372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Parts (Demo)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2468880"/>
            <a:ext cx="109728" cy="34747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24688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  (Q2 2026)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83280" y="24688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import, ExplodeView merge, real B-rep booleans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2907792"/>
            <a:ext cx="109728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29077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  (Q3 2026)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83280" y="29077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Copilot, text-to-CAD, DFM analysis, cost estimation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346704"/>
            <a:ext cx="109728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3467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  (Q4 2026)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383280" y="334670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Marketplace, $CYCLE token, creator payouts (fiat + crypto)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3785616"/>
            <a:ext cx="109728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37856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  (Q1 2027)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383280" y="378561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pipeline, Connected Fabs network, Pro + Enterprise launch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224528"/>
            <a:ext cx="109728" cy="347472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42245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E  (Q2 2027)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383280" y="422452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marketplace, enterprise procurement, 1:100 agent swarms at scale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 ·  Confidential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786384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887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€1.5M Seed Round  —  18-month runway  —  Target profitability month 14  —  Path to €15M ARR Year 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786384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057400"/>
            <a:ext cx="731520" cy="365760"/>
          </a:xfrm>
          <a:prstGeom prst="roundRect">
            <a:avLst>
              <a:gd name="adj" fmla="val 15000"/>
            </a:avLst>
          </a:prstGeom>
          <a:solidFill>
            <a:srgbClr val="0284C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057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91640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22402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B-rep kernel, CAM pipeline, marketplace backend, token engine, mobile apps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624328"/>
            <a:ext cx="786384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715768"/>
            <a:ext cx="731520" cy="36576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157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91640" y="26426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91640" y="2898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training, text-to-CAD, DFM analysis, vision models, NLP parser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282696"/>
            <a:ext cx="786384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374136"/>
            <a:ext cx="73152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37413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91640" y="33009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91640" y="35570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acquisition, enterprise sales, DevRel, community, partnerships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941064"/>
            <a:ext cx="786384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032504"/>
            <a:ext cx="731520" cy="36576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0325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91640" y="3959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91640" y="421538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legal, compliance, crypto licensing, token economy setup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human. 100 agents. Building in parallel.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1887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OS for</a:t>
            </a:r>
            <a:endParaRPr lang="en-US" sz="4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Manufacturing.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learning curve. Prototypes in seconds.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fabs for final production. Creators getting paid.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sachin@cyclewash.de  |  cyclecad.com  |  github.com/vvlars-cmd/cyclecad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intelligence. Massive models in real time. Everyone can contribute.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 ·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cycleCAD — Investor Pitch Deck</dc:title>
  <dc:subject>PptxGenJS Presentation</dc:subject>
  <dc:creator>Sachin Kumar</dc:creator>
  <cp:lastModifiedBy>Sachin Kumar</cp:lastModifiedBy>
  <cp:revision>1</cp:revision>
  <dcterms:created xsi:type="dcterms:W3CDTF">2026-03-26T10:23:59Z</dcterms:created>
  <dcterms:modified xsi:type="dcterms:W3CDTF">2026-03-26T10:23:59Z</dcterms:modified>
</cp:coreProperties>
</file>